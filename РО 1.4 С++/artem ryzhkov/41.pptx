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453" r:id="rId6"/>
    <p:sldId id="455" r:id="rId7"/>
    <p:sldId id="456" r:id="rId8"/>
    <p:sldId id="458" r:id="rId9"/>
    <p:sldId id="517" r:id="rId10"/>
    <p:sldId id="516" r:id="rId11"/>
    <p:sldId id="457" r:id="rId12"/>
    <p:sldId id="511" r:id="rId13"/>
    <p:sldId id="512" r:id="rId14"/>
    <p:sldId id="513" r:id="rId15"/>
    <p:sldId id="514" r:id="rId16"/>
    <p:sldId id="459" r:id="rId17"/>
    <p:sldId id="515" r:id="rId18"/>
    <p:sldId id="460" r:id="rId19"/>
    <p:sldId id="461" r:id="rId20"/>
    <p:sldId id="518" r:id="rId21"/>
    <p:sldId id="462" r:id="rId22"/>
    <p:sldId id="519" r:id="rId23"/>
    <p:sldId id="5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B9349-8462-4EE3-B756-D26709A1F6BC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785CB-E25D-4D05-9855-95BBDC14A9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</a:t>
            </a:r>
            <a:endParaRPr lang="ru-RU" altLang="ru-RU"/>
          </a:p>
        </p:txBody>
      </p:sp>
      <p:sp>
        <p:nvSpPr>
          <p:cNvPr id="46083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AA8D59-27EC-497E-BD06-92D025FA8D65}" type="slidenum">
              <a:rPr lang="ru-RU" altLang="ru-RU" sz="1400"/>
            </a:fld>
            <a:endParaRPr lang="ru-RU" altLang="ru-RU" sz="1400"/>
          </a:p>
        </p:txBody>
      </p:sp>
      <p:sp>
        <p:nvSpPr>
          <p:cNvPr id="46084" name="Прямоугольник 6"/>
          <p:cNvSpPr>
            <a:spLocks noChangeArrowheads="1"/>
          </p:cNvSpPr>
          <p:nvPr/>
        </p:nvSpPr>
        <p:spPr bwMode="auto">
          <a:xfrm>
            <a:off x="1906588" y="806451"/>
            <a:ext cx="84566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680" indent="-36068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Задача: </a:t>
            </a:r>
            <a:r>
              <a:rPr lang="ru-RU" altLang="ru-RU" sz="2400" b="1">
                <a:solidFill>
                  <a:srgbClr val="333399"/>
                </a:solidFill>
              </a:rPr>
              <a:t>изменить порядок действий</a:t>
            </a:r>
            <a:r>
              <a:rPr lang="ru-RU" altLang="ru-RU" sz="2400"/>
              <a:t> в зависимости от выполнения некоторого условия.</a:t>
            </a:r>
            <a:endParaRPr lang="ru-RU" altLang="ru-RU" sz="2400"/>
          </a:p>
        </p:txBody>
      </p:sp>
      <p:grpSp>
        <p:nvGrpSpPr>
          <p:cNvPr id="2" name="Group 30"/>
          <p:cNvGrpSpPr/>
          <p:nvPr/>
        </p:nvGrpSpPr>
        <p:grpSpPr bwMode="auto">
          <a:xfrm>
            <a:off x="2058989" y="1927225"/>
            <a:ext cx="5324475" cy="3594100"/>
            <a:chOff x="471" y="1261"/>
            <a:chExt cx="3354" cy="2264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71" y="2075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anose="02070609020205020404" pitchFamily="49" charset="0"/>
                </a:rPr>
                <a:t>M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=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a;</a:t>
              </a:r>
              <a:endParaRPr lang="ru-RU" sz="2200" b="1" dirty="0">
                <a:latin typeface="Courier New" panose="02070609020205020404" pitchFamily="49" charset="0"/>
              </a:endParaRPr>
            </a:p>
          </p:txBody>
        </p:sp>
        <p:sp>
          <p:nvSpPr>
            <p:cNvPr id="12" name="AutoShape 16"/>
            <p:cNvSpPr>
              <a:spLocks noChangeArrowheads="1"/>
            </p:cNvSpPr>
            <p:nvPr/>
          </p:nvSpPr>
          <p:spPr bwMode="auto">
            <a:xfrm>
              <a:off x="1576" y="1460"/>
              <a:ext cx="1112" cy="530"/>
            </a:xfrm>
            <a:prstGeom prst="flowChartDecision">
              <a:avLst/>
            </a:prstGeom>
            <a:solidFill>
              <a:srgbClr val="FFFF99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>
                  <a:latin typeface="Courier New" panose="02070609020205020404" pitchFamily="49" charset="0"/>
                </a:rPr>
                <a:t>a &gt; b?</a:t>
              </a:r>
              <a:endParaRPr lang="ru-RU" sz="2200" b="1">
                <a:latin typeface="Courier New" panose="02070609020205020404" pitchFamily="49" charset="0"/>
              </a:endParaRPr>
            </a:p>
          </p:txBody>
        </p:sp>
        <p:sp>
          <p:nvSpPr>
            <p:cNvPr id="46094" name="Line 17"/>
            <p:cNvSpPr>
              <a:spLocks noChangeShapeType="1"/>
            </p:cNvSpPr>
            <p:nvPr/>
          </p:nvSpPr>
          <p:spPr bwMode="auto">
            <a:xfrm>
              <a:off x="2132" y="1261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>
              <a:off x="2827" y="2083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anose="02070609020205020404" pitchFamily="49" charset="0"/>
                </a:rPr>
                <a:t>M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=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b;</a:t>
              </a:r>
              <a:endParaRPr lang="ru-RU" sz="2200" b="1" dirty="0">
                <a:latin typeface="Courier New" panose="02070609020205020404" pitchFamily="49" charset="0"/>
              </a:endParaRPr>
            </a:p>
          </p:txBody>
        </p:sp>
        <p:sp>
          <p:nvSpPr>
            <p:cNvPr id="46096" name="Line 20"/>
            <p:cNvSpPr>
              <a:spLocks noChangeShapeType="1"/>
            </p:cNvSpPr>
            <p:nvPr/>
          </p:nvSpPr>
          <p:spPr bwMode="auto">
            <a:xfrm>
              <a:off x="2126" y="3323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097" name="Freeform 21"/>
            <p:cNvSpPr/>
            <p:nvPr/>
          </p:nvSpPr>
          <p:spPr bwMode="auto">
            <a:xfrm>
              <a:off x="2682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098" name="Freeform 22"/>
            <p:cNvSpPr/>
            <p:nvPr/>
          </p:nvSpPr>
          <p:spPr bwMode="auto">
            <a:xfrm flipH="1">
              <a:off x="954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099" name="Freeform 23"/>
            <p:cNvSpPr/>
            <p:nvPr/>
          </p:nvSpPr>
          <p:spPr bwMode="auto">
            <a:xfrm>
              <a:off x="960" y="2444"/>
              <a:ext cx="2361" cy="343"/>
            </a:xfrm>
            <a:custGeom>
              <a:avLst/>
              <a:gdLst>
                <a:gd name="T0" fmla="*/ 0 w 2409"/>
                <a:gd name="T1" fmla="*/ 0 h 343"/>
                <a:gd name="T2" fmla="*/ 0 w 2409"/>
                <a:gd name="T3" fmla="*/ 343 h 343"/>
                <a:gd name="T4" fmla="*/ 219 w 2409"/>
                <a:gd name="T5" fmla="*/ 343 h 343"/>
                <a:gd name="T6" fmla="*/ 219 w 2409"/>
                <a:gd name="T7" fmla="*/ 5 h 3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9"/>
                <a:gd name="T13" fmla="*/ 0 h 343"/>
                <a:gd name="T14" fmla="*/ 2409 w 2409"/>
                <a:gd name="T15" fmla="*/ 343 h 3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9" h="343">
                  <a:moveTo>
                    <a:pt x="0" y="0"/>
                  </a:moveTo>
                  <a:lnTo>
                    <a:pt x="0" y="343"/>
                  </a:lnTo>
                  <a:lnTo>
                    <a:pt x="2409" y="343"/>
                  </a:lnTo>
                  <a:lnTo>
                    <a:pt x="2409" y="5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100" name="Line 24"/>
            <p:cNvSpPr>
              <a:spLocks noChangeShapeType="1"/>
            </p:cNvSpPr>
            <p:nvPr/>
          </p:nvSpPr>
          <p:spPr bwMode="auto">
            <a:xfrm>
              <a:off x="959" y="255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101" name="Line 25"/>
            <p:cNvSpPr>
              <a:spLocks noChangeShapeType="1"/>
            </p:cNvSpPr>
            <p:nvPr/>
          </p:nvSpPr>
          <p:spPr bwMode="auto">
            <a:xfrm>
              <a:off x="3320" y="257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102" name="Line 26"/>
            <p:cNvSpPr>
              <a:spLocks noChangeShapeType="1"/>
            </p:cNvSpPr>
            <p:nvPr/>
          </p:nvSpPr>
          <p:spPr bwMode="auto">
            <a:xfrm>
              <a:off x="2114" y="2794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103" name="Oval 27"/>
            <p:cNvSpPr>
              <a:spLocks noChangeArrowheads="1"/>
            </p:cNvSpPr>
            <p:nvPr/>
          </p:nvSpPr>
          <p:spPr bwMode="auto">
            <a:xfrm>
              <a:off x="2097" y="2772"/>
              <a:ext cx="34" cy="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6104" name="Text Box 28"/>
            <p:cNvSpPr txBox="1">
              <a:spLocks noChangeArrowheads="1"/>
            </p:cNvSpPr>
            <p:nvPr/>
          </p:nvSpPr>
          <p:spPr bwMode="auto">
            <a:xfrm>
              <a:off x="960" y="1443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да</a:t>
              </a:r>
              <a:endParaRPr lang="ru-RU" altLang="ru-RU" sz="1800"/>
            </a:p>
          </p:txBody>
        </p:sp>
        <p:sp>
          <p:nvSpPr>
            <p:cNvPr id="46105" name="Text Box 29"/>
            <p:cNvSpPr txBox="1">
              <a:spLocks noChangeArrowheads="1"/>
            </p:cNvSpPr>
            <p:nvPr/>
          </p:nvSpPr>
          <p:spPr bwMode="auto">
            <a:xfrm>
              <a:off x="2880" y="1455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нет</a:t>
              </a:r>
              <a:endParaRPr lang="ru-RU" altLang="ru-RU" sz="1800"/>
            </a:p>
          </p:txBody>
        </p:sp>
        <p:sp>
          <p:nvSpPr>
            <p:cNvPr id="26" name="AutoShape 9"/>
            <p:cNvSpPr>
              <a:spLocks noChangeArrowheads="1"/>
            </p:cNvSpPr>
            <p:nvPr/>
          </p:nvSpPr>
          <p:spPr bwMode="auto">
            <a:xfrm>
              <a:off x="1456" y="2990"/>
              <a:ext cx="1320" cy="336"/>
            </a:xfrm>
            <a:prstGeom prst="flowChartInputOutpu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ru-RU" sz="2200" b="1">
                  <a:latin typeface="Courier New" panose="02070609020205020404" pitchFamily="49" charset="0"/>
                  <a:cs typeface="Courier New" panose="02070609020205020404" pitchFamily="49" charset="0"/>
                </a:rPr>
                <a:t>вывод </a:t>
              </a:r>
              <a:r>
                <a:rPr lang="en-US" sz="2200" b="1">
                  <a:latin typeface="Courier New" panose="02070609020205020404" pitchFamily="49" charset="0"/>
                  <a:cs typeface="Courier New" panose="02070609020205020404" pitchFamily="49" charset="0"/>
                </a:rPr>
                <a:t>M</a:t>
              </a:r>
              <a:endParaRPr lang="ru-RU" sz="2200" b="1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</p:grp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1928814" y="2101850"/>
            <a:ext cx="5597525" cy="240188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" name="AutoShape 53"/>
          <p:cNvSpPr>
            <a:spLocks noChangeArrowheads="1"/>
          </p:cNvSpPr>
          <p:nvPr/>
        </p:nvSpPr>
        <p:spPr bwMode="auto">
          <a:xfrm>
            <a:off x="7907338" y="1346200"/>
            <a:ext cx="1935162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>
                <a:latin typeface="Arial" panose="020B0704020202020204" pitchFamily="34" charset="0"/>
              </a:rPr>
              <a:t>полная форма ветвления</a:t>
            </a:r>
            <a:endParaRPr lang="ru-RU" sz="2400">
              <a:latin typeface="Arial" panose="020B0704020202020204" pitchFamily="34" charset="0"/>
            </a:endParaRPr>
          </a:p>
        </p:txBody>
      </p:sp>
      <p:grpSp>
        <p:nvGrpSpPr>
          <p:cNvPr id="3" name="Group 55"/>
          <p:cNvGrpSpPr/>
          <p:nvPr/>
        </p:nvGrpSpPr>
        <p:grpSpPr bwMode="auto">
          <a:xfrm>
            <a:off x="7689850" y="3141664"/>
            <a:ext cx="2584450" cy="663575"/>
            <a:chOff x="433" y="3902"/>
            <a:chExt cx="1628" cy="418"/>
          </a:xfrm>
        </p:grpSpPr>
        <p:sp>
          <p:nvSpPr>
            <p:cNvPr id="31" name="Text Box 56"/>
            <p:cNvSpPr txBox="1">
              <a:spLocks noChangeArrowheads="1"/>
            </p:cNvSpPr>
            <p:nvPr/>
          </p:nvSpPr>
          <p:spPr bwMode="auto">
            <a:xfrm>
              <a:off x="727" y="3969"/>
              <a:ext cx="1334" cy="296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panose="020B0704020202020204" pitchFamily="34" charset="0"/>
                </a:rPr>
                <a:t>  Если  </a:t>
              </a:r>
              <a:r>
                <a:rPr lang="en-US" sz="2400" dirty="0">
                  <a:latin typeface="Arial" panose="020B0704020202020204" pitchFamily="34" charset="0"/>
                </a:rPr>
                <a:t>a = b?</a:t>
              </a:r>
              <a:endParaRPr lang="ru-RU" sz="2400" dirty="0">
                <a:latin typeface="Arial" panose="020B0704020202020204" pitchFamily="34" charset="0"/>
              </a:endParaRPr>
            </a:p>
          </p:txBody>
        </p:sp>
        <p:sp>
          <p:nvSpPr>
            <p:cNvPr id="46091" name="Oval 57"/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9" name="Прямоугольник 28"/>
          <p:cNvSpPr/>
          <p:nvPr/>
        </p:nvSpPr>
        <p:spPr>
          <a:xfrm>
            <a:off x="7286626" y="4267201"/>
            <a:ext cx="2911475" cy="20097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anose="02070609020205020404" pitchFamily="49" charset="0"/>
              </a:rPr>
              <a:t>if</a:t>
            </a:r>
            <a:r>
              <a:rPr lang="en-US" sz="2800" b="1" dirty="0">
                <a:latin typeface="Courier New" panose="02070609020205020404" pitchFamily="49" charset="0"/>
              </a:rPr>
              <a:t> ( a &gt; b )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M = a;   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anose="02070609020205020404" pitchFamily="49" charset="0"/>
              </a:rPr>
              <a:t>else</a:t>
            </a:r>
            <a:endParaRPr lang="en-US" sz="2800" b="1" dirty="0">
              <a:solidFill>
                <a:srgbClr val="0000FF"/>
              </a:solidFill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M = b;</a:t>
            </a:r>
            <a:endParaRPr lang="ru-RU" sz="2800" b="1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оператор: неполная форма</a:t>
            </a:r>
            <a:endParaRPr lang="ru-RU" altLang="ru-RU"/>
          </a:p>
        </p:txBody>
      </p:sp>
      <p:sp>
        <p:nvSpPr>
          <p:cNvPr id="47107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FDC3F5-E191-4E2D-A195-C291875A055D}" type="slidenum">
              <a:rPr lang="ru-RU" altLang="ru-RU" sz="1400"/>
            </a:fld>
            <a:endParaRPr lang="ru-RU" altLang="ru-RU" sz="1400"/>
          </a:p>
        </p:txBody>
      </p:sp>
      <p:grpSp>
        <p:nvGrpSpPr>
          <p:cNvPr id="47108" name="Group 30"/>
          <p:cNvGrpSpPr/>
          <p:nvPr/>
        </p:nvGrpSpPr>
        <p:grpSpPr bwMode="auto">
          <a:xfrm>
            <a:off x="2058988" y="896938"/>
            <a:ext cx="4127500" cy="4500562"/>
            <a:chOff x="471" y="690"/>
            <a:chExt cx="2600" cy="2835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471" y="2075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anose="02070609020205020404" pitchFamily="49" charset="0"/>
                </a:rPr>
                <a:t>M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=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b;</a:t>
              </a:r>
              <a:endParaRPr lang="ru-RU" sz="2200" b="1" dirty="0">
                <a:latin typeface="Courier New" panose="02070609020205020404" pitchFamily="49" charset="0"/>
              </a:endParaRPr>
            </a:p>
          </p:txBody>
        </p:sp>
        <p:sp>
          <p:nvSpPr>
            <p:cNvPr id="6" name="AutoShape 16"/>
            <p:cNvSpPr>
              <a:spLocks noChangeArrowheads="1"/>
            </p:cNvSpPr>
            <p:nvPr/>
          </p:nvSpPr>
          <p:spPr bwMode="auto">
            <a:xfrm>
              <a:off x="1576" y="1460"/>
              <a:ext cx="1112" cy="530"/>
            </a:xfrm>
            <a:prstGeom prst="flowChartDecision">
              <a:avLst/>
            </a:prstGeom>
            <a:solidFill>
              <a:srgbClr val="FFFF99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anose="02070609020205020404" pitchFamily="49" charset="0"/>
                </a:rPr>
                <a:t>b &gt; a?</a:t>
              </a:r>
              <a:endParaRPr lang="ru-RU" sz="2200" b="1" dirty="0">
                <a:latin typeface="Courier New" panose="02070609020205020404" pitchFamily="49" charset="0"/>
              </a:endParaRPr>
            </a:p>
          </p:txBody>
        </p:sp>
        <p:sp>
          <p:nvSpPr>
            <p:cNvPr id="47114" name="Line 17"/>
            <p:cNvSpPr>
              <a:spLocks noChangeShapeType="1"/>
            </p:cNvSpPr>
            <p:nvPr/>
          </p:nvSpPr>
          <p:spPr bwMode="auto">
            <a:xfrm>
              <a:off x="2138" y="1261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15" name="Line 20"/>
            <p:cNvSpPr>
              <a:spLocks noChangeShapeType="1"/>
            </p:cNvSpPr>
            <p:nvPr/>
          </p:nvSpPr>
          <p:spPr bwMode="auto">
            <a:xfrm>
              <a:off x="2126" y="3323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16" name="Freeform 21"/>
            <p:cNvSpPr/>
            <p:nvPr/>
          </p:nvSpPr>
          <p:spPr bwMode="auto">
            <a:xfrm>
              <a:off x="2682" y="1722"/>
              <a:ext cx="246" cy="942"/>
            </a:xfrm>
            <a:custGeom>
              <a:avLst/>
              <a:gdLst>
                <a:gd name="T0" fmla="*/ 0 w 623"/>
                <a:gd name="T1" fmla="*/ 0 h 524"/>
                <a:gd name="T2" fmla="*/ 0 w 623"/>
                <a:gd name="T3" fmla="*/ 0 h 524"/>
                <a:gd name="T4" fmla="*/ 0 w 623"/>
                <a:gd name="T5" fmla="*/ 2147483646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17" name="Freeform 22"/>
            <p:cNvSpPr/>
            <p:nvPr/>
          </p:nvSpPr>
          <p:spPr bwMode="auto">
            <a:xfrm flipH="1">
              <a:off x="954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18" name="Freeform 23"/>
            <p:cNvSpPr/>
            <p:nvPr/>
          </p:nvSpPr>
          <p:spPr bwMode="auto">
            <a:xfrm>
              <a:off x="960" y="2444"/>
              <a:ext cx="1968" cy="343"/>
            </a:xfrm>
            <a:custGeom>
              <a:avLst/>
              <a:gdLst>
                <a:gd name="T0" fmla="*/ 0 w 2409"/>
                <a:gd name="T1" fmla="*/ 0 h 343"/>
                <a:gd name="T2" fmla="*/ 0 w 2409"/>
                <a:gd name="T3" fmla="*/ 343 h 343"/>
                <a:gd name="T4" fmla="*/ 2 w 2409"/>
                <a:gd name="T5" fmla="*/ 343 h 343"/>
                <a:gd name="T6" fmla="*/ 2 w 2409"/>
                <a:gd name="T7" fmla="*/ 5 h 3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9"/>
                <a:gd name="T13" fmla="*/ 0 h 343"/>
                <a:gd name="T14" fmla="*/ 2409 w 2409"/>
                <a:gd name="T15" fmla="*/ 343 h 3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9" h="343">
                  <a:moveTo>
                    <a:pt x="0" y="0"/>
                  </a:moveTo>
                  <a:lnTo>
                    <a:pt x="0" y="343"/>
                  </a:lnTo>
                  <a:lnTo>
                    <a:pt x="2409" y="343"/>
                  </a:lnTo>
                  <a:lnTo>
                    <a:pt x="2409" y="5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19" name="Line 24"/>
            <p:cNvSpPr>
              <a:spLocks noChangeShapeType="1"/>
            </p:cNvSpPr>
            <p:nvPr/>
          </p:nvSpPr>
          <p:spPr bwMode="auto">
            <a:xfrm>
              <a:off x="959" y="255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20" name="Line 26"/>
            <p:cNvSpPr>
              <a:spLocks noChangeShapeType="1"/>
            </p:cNvSpPr>
            <p:nvPr/>
          </p:nvSpPr>
          <p:spPr bwMode="auto">
            <a:xfrm>
              <a:off x="2114" y="2794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121" name="Oval 27"/>
            <p:cNvSpPr>
              <a:spLocks noChangeArrowheads="1"/>
            </p:cNvSpPr>
            <p:nvPr/>
          </p:nvSpPr>
          <p:spPr bwMode="auto">
            <a:xfrm>
              <a:off x="2097" y="2772"/>
              <a:ext cx="34" cy="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7122" name="Text Box 28"/>
            <p:cNvSpPr txBox="1">
              <a:spLocks noChangeArrowheads="1"/>
            </p:cNvSpPr>
            <p:nvPr/>
          </p:nvSpPr>
          <p:spPr bwMode="auto">
            <a:xfrm>
              <a:off x="960" y="1443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да</a:t>
              </a:r>
              <a:endParaRPr lang="ru-RU" altLang="ru-RU" sz="1800"/>
            </a:p>
          </p:txBody>
        </p:sp>
        <p:sp>
          <p:nvSpPr>
            <p:cNvPr id="47123" name="Text Box 29"/>
            <p:cNvSpPr txBox="1">
              <a:spLocks noChangeArrowheads="1"/>
            </p:cNvSpPr>
            <p:nvPr/>
          </p:nvSpPr>
          <p:spPr bwMode="auto">
            <a:xfrm>
              <a:off x="2640" y="1455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нет</a:t>
              </a:r>
              <a:endParaRPr lang="ru-RU" altLang="ru-RU" sz="1800"/>
            </a:p>
          </p:txBody>
        </p:sp>
        <p:sp>
          <p:nvSpPr>
            <p:cNvPr id="19" name="AutoShape 9"/>
            <p:cNvSpPr>
              <a:spLocks noChangeArrowheads="1"/>
            </p:cNvSpPr>
            <p:nvPr/>
          </p:nvSpPr>
          <p:spPr bwMode="auto">
            <a:xfrm>
              <a:off x="1456" y="2990"/>
              <a:ext cx="1320" cy="336"/>
            </a:xfrm>
            <a:prstGeom prst="flowChartInputOutpu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ru-RU" sz="2200" b="1">
                  <a:latin typeface="Courier New" panose="02070609020205020404" pitchFamily="49" charset="0"/>
                  <a:cs typeface="Courier New" panose="02070609020205020404" pitchFamily="49" charset="0"/>
                </a:rPr>
                <a:t>вывод </a:t>
              </a:r>
              <a:r>
                <a:rPr lang="en-US" sz="2200" b="1">
                  <a:latin typeface="Courier New" panose="02070609020205020404" pitchFamily="49" charset="0"/>
                  <a:cs typeface="Courier New" panose="02070609020205020404" pitchFamily="49" charset="0"/>
                </a:rPr>
                <a:t>M</a:t>
              </a:r>
              <a:endParaRPr lang="ru-RU" sz="2200" b="1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1639" y="889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anose="02070609020205020404" pitchFamily="49" charset="0"/>
                </a:rPr>
                <a:t>M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=</a:t>
              </a:r>
              <a:r>
                <a:rPr lang="en-US" sz="2200" b="1" dirty="0">
                  <a:latin typeface="Arial" panose="020B0704020202020204" pitchFamily="34" charset="0"/>
                </a:rPr>
                <a:t> </a:t>
              </a:r>
              <a:r>
                <a:rPr lang="en-US" sz="2200" b="1" dirty="0">
                  <a:latin typeface="Courier New" panose="02070609020205020404" pitchFamily="49" charset="0"/>
                </a:rPr>
                <a:t>a;</a:t>
              </a:r>
              <a:endParaRPr lang="ru-RU" sz="2200" b="1" dirty="0">
                <a:latin typeface="Courier New" panose="02070609020205020404" pitchFamily="49" charset="0"/>
              </a:endParaRPr>
            </a:p>
          </p:txBody>
        </p:sp>
        <p:sp>
          <p:nvSpPr>
            <p:cNvPr id="47126" name="Line 17"/>
            <p:cNvSpPr>
              <a:spLocks noChangeShapeType="1"/>
            </p:cNvSpPr>
            <p:nvPr/>
          </p:nvSpPr>
          <p:spPr bwMode="auto">
            <a:xfrm>
              <a:off x="2138" y="690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20" name="Rectangle 31"/>
          <p:cNvSpPr>
            <a:spLocks noChangeArrowheads="1"/>
          </p:cNvSpPr>
          <p:nvPr/>
        </p:nvSpPr>
        <p:spPr bwMode="auto">
          <a:xfrm>
            <a:off x="1928813" y="1978025"/>
            <a:ext cx="4616450" cy="240188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1" name="AutoShape 53"/>
          <p:cNvSpPr>
            <a:spLocks noChangeArrowheads="1"/>
          </p:cNvSpPr>
          <p:nvPr/>
        </p:nvSpPr>
        <p:spPr bwMode="auto">
          <a:xfrm>
            <a:off x="7043738" y="3384550"/>
            <a:ext cx="1935162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 dirty="0">
                <a:latin typeface="Arial" panose="020B0704020202020204" pitchFamily="34" charset="0"/>
              </a:rPr>
              <a:t>неполная форма ветвления</a:t>
            </a:r>
            <a:endParaRPr lang="ru-RU" sz="2400" dirty="0">
              <a:latin typeface="Arial" panose="020B0704020202020204" pitchFamily="34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6948489" y="1038226"/>
            <a:ext cx="2720975" cy="13112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latin typeface="Courier New" panose="02070609020205020404" pitchFamily="49" charset="0"/>
              </a:rPr>
              <a:t>M = a;   </a:t>
            </a:r>
            <a:endParaRPr lang="en-US" sz="24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</a:rPr>
              <a:t> ( b &gt; a ) </a:t>
            </a:r>
            <a:endParaRPr lang="en-US" sz="24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latin typeface="Courier New" panose="02070609020205020404" pitchFamily="49" charset="0"/>
              </a:rPr>
              <a:t>  M = b;</a:t>
            </a:r>
            <a:endParaRPr lang="ru-RU" sz="2400" b="1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</a:t>
            </a:r>
            <a:endParaRPr lang="ru-RU" altLang="ru-RU"/>
          </a:p>
        </p:txBody>
      </p:sp>
      <p:sp>
        <p:nvSpPr>
          <p:cNvPr id="48131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1F3BC-0C2F-48BB-BCDC-E708C4A523B3}" type="slidenum">
              <a:rPr lang="ru-RU" altLang="ru-RU" sz="1400"/>
            </a:fld>
            <a:endParaRPr lang="ru-RU" altLang="ru-RU" sz="1400"/>
          </a:p>
        </p:txBody>
      </p:sp>
      <p:sp>
        <p:nvSpPr>
          <p:cNvPr id="4" name="Прямоугольник 3"/>
          <p:cNvSpPr/>
          <p:nvPr/>
        </p:nvSpPr>
        <p:spPr>
          <a:xfrm>
            <a:off x="2012951" y="971551"/>
            <a:ext cx="3368675" cy="30003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anose="02070609020205020404" pitchFamily="49" charset="0"/>
              </a:rPr>
              <a:t>if</a:t>
            </a:r>
            <a:r>
              <a:rPr lang="en-US" sz="2800" b="1" dirty="0">
                <a:latin typeface="Courier New" panose="02070609020205020404" pitchFamily="49" charset="0"/>
              </a:rPr>
              <a:t> ( a &lt; b ) 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{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</a:t>
            </a:r>
            <a:r>
              <a:rPr lang="ru-RU" sz="2800" b="1" dirty="0">
                <a:latin typeface="Courier New" panose="02070609020205020404" pitchFamily="49" charset="0"/>
              </a:rPr>
              <a:t>с</a:t>
            </a:r>
            <a:r>
              <a:rPr lang="en-US" sz="2800" b="1" dirty="0">
                <a:latin typeface="Courier New" panose="02070609020205020404" pitchFamily="49" charset="0"/>
              </a:rPr>
              <a:t> = a;   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ru-RU" sz="2800" b="1" dirty="0">
                <a:latin typeface="Courier New" panose="02070609020205020404" pitchFamily="49" charset="0"/>
              </a:rPr>
              <a:t>  </a:t>
            </a:r>
            <a:r>
              <a:rPr lang="en-US" sz="2800" b="1" dirty="0">
                <a:latin typeface="Courier New" panose="02070609020205020404" pitchFamily="49" charset="0"/>
              </a:rPr>
              <a:t>a = b;</a:t>
            </a:r>
            <a:endParaRPr lang="en-US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b = c; </a:t>
            </a:r>
            <a:endParaRPr lang="ru-RU" sz="2800" b="1" dirty="0"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anose="02070609020205020404" pitchFamily="49" charset="0"/>
              </a:rPr>
              <a:t>  }</a:t>
            </a:r>
            <a:endParaRPr lang="ru-RU" sz="2800" b="1" dirty="0">
              <a:latin typeface="Arial" panose="020B0704020202020204" pitchFamily="34" charset="0"/>
            </a:endParaRPr>
          </a:p>
        </p:txBody>
      </p:sp>
      <p:grpSp>
        <p:nvGrpSpPr>
          <p:cNvPr id="2" name="Group 55"/>
          <p:cNvGrpSpPr/>
          <p:nvPr/>
        </p:nvGrpSpPr>
        <p:grpSpPr bwMode="auto">
          <a:xfrm>
            <a:off x="5683250" y="998539"/>
            <a:ext cx="2711450" cy="663575"/>
            <a:chOff x="433" y="3902"/>
            <a:chExt cx="1708" cy="418"/>
          </a:xfrm>
        </p:grpSpPr>
        <p:sp>
          <p:nvSpPr>
            <p:cNvPr id="6" name="Text Box 56"/>
            <p:cNvSpPr txBox="1">
              <a:spLocks noChangeArrowheads="1"/>
            </p:cNvSpPr>
            <p:nvPr/>
          </p:nvSpPr>
          <p:spPr bwMode="auto">
            <a:xfrm>
              <a:off x="727" y="3969"/>
              <a:ext cx="1414" cy="296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panose="020B0704020202020204" pitchFamily="34" charset="0"/>
                </a:rPr>
                <a:t>  Что делает</a:t>
              </a:r>
              <a:r>
                <a:rPr lang="en-US" sz="2400" dirty="0">
                  <a:latin typeface="Arial" panose="020B0704020202020204" pitchFamily="34" charset="0"/>
                </a:rPr>
                <a:t>?</a:t>
              </a:r>
              <a:endParaRPr lang="ru-RU" sz="2400" dirty="0">
                <a:latin typeface="Arial" panose="020B0704020202020204" pitchFamily="34" charset="0"/>
              </a:endParaRPr>
            </a:p>
          </p:txBody>
        </p:sp>
        <p:sp>
          <p:nvSpPr>
            <p:cNvPr id="48152" name="Oval 57"/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7051676" y="24844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chemeClr val="bg1"/>
                </a:solidFill>
              </a:rPr>
              <a:t>4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9404351" y="2471738"/>
            <a:ext cx="860425" cy="57785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chemeClr val="bg1"/>
                </a:solidFill>
              </a:rPr>
              <a:t>6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8394701" y="4059238"/>
            <a:ext cx="860425" cy="577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tailEnd type="none" w="lg" len="lg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0000" tIns="46800" rIns="90000" bIns="46800" anchor="ctr"/>
          <a:lstStyle/>
          <a:p>
            <a:pPr algn="ctr" eaLnBrk="1" hangingPunct="1">
              <a:defRPr/>
            </a:pPr>
            <a:r>
              <a:rPr lang="en-US" sz="2800" b="1">
                <a:solidFill>
                  <a:schemeClr val="bg1"/>
                </a:solidFill>
                <a:latin typeface="Arial" panose="020B0704020202020204" pitchFamily="34" charset="0"/>
              </a:rPr>
              <a:t>?</a:t>
            </a:r>
            <a:endParaRPr lang="ru-RU" sz="2800" b="1">
              <a:solidFill>
                <a:schemeClr val="bg1"/>
              </a:solidFill>
              <a:latin typeface="Arial" panose="020B0704020202020204" pitchFamily="34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8394701" y="40592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4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7051676" y="2484438"/>
            <a:ext cx="860425" cy="57785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6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9404351" y="24717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4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4" name="Rectangle 33"/>
          <p:cNvSpPr>
            <a:spLocks noChangeArrowheads="1"/>
          </p:cNvSpPr>
          <p:nvPr/>
        </p:nvSpPr>
        <p:spPr bwMode="auto">
          <a:xfrm>
            <a:off x="7196139" y="1949451"/>
            <a:ext cx="4794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endParaRPr lang="ru-RU" altLang="ru-RU" sz="28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5" name="Rectangle 34"/>
          <p:cNvSpPr>
            <a:spLocks noChangeArrowheads="1"/>
          </p:cNvSpPr>
          <p:nvPr/>
        </p:nvSpPr>
        <p:spPr bwMode="auto">
          <a:xfrm>
            <a:off x="9502776" y="1916113"/>
            <a:ext cx="4794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ru-RU" altLang="ru-RU" sz="28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6" name="AutoShape 39"/>
          <p:cNvSpPr>
            <a:spLocks noChangeArrowheads="1"/>
          </p:cNvSpPr>
          <p:nvPr/>
        </p:nvSpPr>
        <p:spPr bwMode="auto">
          <a:xfrm rot="7473148" flipH="1">
            <a:off x="9048750" y="3232150"/>
            <a:ext cx="979488" cy="668338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panose="020B0704020202020204" pitchFamily="34" charset="0"/>
              </a:rPr>
              <a:t>3</a:t>
            </a:r>
            <a:endParaRPr lang="ru-RU" sz="2000">
              <a:latin typeface="Arial" panose="020B0704020202020204" pitchFamily="34" charset="0"/>
            </a:endParaRPr>
          </a:p>
        </p:txBody>
      </p:sp>
      <p:sp>
        <p:nvSpPr>
          <p:cNvPr id="17" name="AutoShape 40"/>
          <p:cNvSpPr>
            <a:spLocks noChangeArrowheads="1"/>
          </p:cNvSpPr>
          <p:nvPr/>
        </p:nvSpPr>
        <p:spPr bwMode="auto">
          <a:xfrm rot="10800000">
            <a:off x="8178800" y="2444750"/>
            <a:ext cx="979488" cy="668338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panose="020B0704020202020204" pitchFamily="34" charset="0"/>
              </a:rPr>
              <a:t>2</a:t>
            </a:r>
            <a:endParaRPr lang="ru-RU" sz="2000">
              <a:latin typeface="Arial" panose="020B0704020202020204" pitchFamily="34" charset="0"/>
            </a:endParaRPr>
          </a:p>
        </p:txBody>
      </p:sp>
      <p:sp>
        <p:nvSpPr>
          <p:cNvPr id="18" name="AutoShape 41"/>
          <p:cNvSpPr>
            <a:spLocks noChangeArrowheads="1"/>
          </p:cNvSpPr>
          <p:nvPr/>
        </p:nvSpPr>
        <p:spPr bwMode="auto">
          <a:xfrm rot="13718115" flipH="1">
            <a:off x="7554914" y="3313114"/>
            <a:ext cx="979487" cy="668337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panose="020B0704020202020204" pitchFamily="34" charset="0"/>
              </a:rPr>
              <a:t>1</a:t>
            </a:r>
            <a:endParaRPr lang="ru-RU" sz="2000">
              <a:latin typeface="Arial" panose="020B0704020202020204" pitchFamily="34" charset="0"/>
            </a:endParaRPr>
          </a:p>
        </p:txBody>
      </p:sp>
      <p:grpSp>
        <p:nvGrpSpPr>
          <p:cNvPr id="3" name="Group 45"/>
          <p:cNvGrpSpPr/>
          <p:nvPr/>
        </p:nvGrpSpPr>
        <p:grpSpPr bwMode="auto">
          <a:xfrm>
            <a:off x="2025650" y="4708526"/>
            <a:ext cx="3765550" cy="969963"/>
            <a:chOff x="363" y="3702"/>
            <a:chExt cx="2372" cy="611"/>
          </a:xfrm>
        </p:grpSpPr>
        <p:sp>
          <p:nvSpPr>
            <p:cNvPr id="20" name="Text Box 43"/>
            <p:cNvSpPr txBox="1">
              <a:spLocks noChangeArrowheads="1"/>
            </p:cNvSpPr>
            <p:nvPr/>
          </p:nvSpPr>
          <p:spPr bwMode="auto">
            <a:xfrm>
              <a:off x="657" y="3751"/>
              <a:ext cx="2078" cy="562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panose="020B0704020202020204" pitchFamily="34" charset="0"/>
                </a:rPr>
                <a:t>  Можно ли обойтись </a:t>
              </a:r>
              <a:endParaRPr lang="en-US" sz="2400" dirty="0">
                <a:latin typeface="Arial" panose="020B0704020202020204" pitchFamily="34" charset="0"/>
              </a:endParaRPr>
            </a:p>
            <a:p>
              <a:pPr>
                <a:defRPr/>
              </a:pPr>
              <a:r>
                <a:rPr lang="en-US" sz="2400" dirty="0">
                  <a:latin typeface="Arial" panose="020B0704020202020204" pitchFamily="34" charset="0"/>
                </a:rPr>
                <a:t>  </a:t>
              </a:r>
              <a:r>
                <a:rPr lang="ru-RU" sz="2400" dirty="0">
                  <a:latin typeface="Arial" panose="020B0704020202020204" pitchFamily="34" charset="0"/>
                </a:rPr>
                <a:t>без переменной </a:t>
              </a:r>
              <a:r>
                <a:rPr lang="en-US" sz="2800" b="1" dirty="0">
                  <a:latin typeface="Courier New" panose="02070609020205020404" pitchFamily="49" charset="0"/>
                </a:rPr>
                <a:t>c</a:t>
              </a:r>
              <a:r>
                <a:rPr lang="en-US" sz="2400" dirty="0">
                  <a:latin typeface="Arial" panose="020B0704020202020204" pitchFamily="34" charset="0"/>
                </a:rPr>
                <a:t>?</a:t>
              </a:r>
              <a:endParaRPr lang="ru-RU" sz="2400" dirty="0">
                <a:latin typeface="Arial" panose="020B0704020202020204" pitchFamily="34" charset="0"/>
              </a:endParaRPr>
            </a:p>
          </p:txBody>
        </p:sp>
        <p:sp>
          <p:nvSpPr>
            <p:cNvPr id="48150" name="Oval 44"/>
            <p:cNvSpPr>
              <a:spLocks noChangeArrowheads="1"/>
            </p:cNvSpPr>
            <p:nvPr/>
          </p:nvSpPr>
          <p:spPr bwMode="auto">
            <a:xfrm>
              <a:off x="363" y="37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2" name="Rectangle 34"/>
          <p:cNvSpPr>
            <a:spLocks noChangeArrowheads="1"/>
          </p:cNvSpPr>
          <p:nvPr/>
        </p:nvSpPr>
        <p:spPr bwMode="auto">
          <a:xfrm>
            <a:off x="8597901" y="4640263"/>
            <a:ext cx="4794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609020205020404" pitchFamily="49" charset="0"/>
                <a:cs typeface="Courier New" panose="02070609020205020404" pitchFamily="49" charset="0"/>
              </a:rPr>
              <a:t>c</a:t>
            </a:r>
            <a:endParaRPr lang="ru-RU" altLang="ru-RU" sz="28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4" name="Прямоугольник 23"/>
          <p:cNvSpPr>
            <a:spLocks noChangeArrowheads="1"/>
          </p:cNvSpPr>
          <p:nvPr/>
        </p:nvSpPr>
        <p:spPr bwMode="auto">
          <a:xfrm>
            <a:off x="2447925" y="1458914"/>
            <a:ext cx="1601788" cy="25050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{</a:t>
            </a:r>
            <a:endParaRPr lang="en-US" altLang="ru-RU" sz="2800" b="1">
              <a:solidFill>
                <a:srgbClr val="000000"/>
              </a:solidFill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с</a:t>
            </a:r>
            <a:r>
              <a:rPr lang="en-US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 = a;   </a:t>
            </a:r>
            <a:endParaRPr lang="en-US" altLang="ru-RU" sz="2800" b="1">
              <a:solidFill>
                <a:srgbClr val="000000"/>
              </a:solidFill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a = b;</a:t>
            </a:r>
            <a:endParaRPr lang="en-US" altLang="ru-RU" sz="2800" b="1">
              <a:solidFill>
                <a:srgbClr val="000000"/>
              </a:solidFill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b = c; </a:t>
            </a:r>
            <a:endParaRPr lang="ru-RU" altLang="ru-RU" sz="2800" b="1">
              <a:solidFill>
                <a:srgbClr val="000000"/>
              </a:solidFill>
              <a:latin typeface="Courier New" panose="02070609020205020404" pitchFamily="49" charset="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609020205020404" pitchFamily="49" charset="0"/>
              </a:rPr>
              <a:t>}</a:t>
            </a:r>
            <a:endParaRPr lang="ru-RU" altLang="ru-RU" sz="2800" b="1">
              <a:solidFill>
                <a:srgbClr val="000000"/>
              </a:solidFill>
            </a:endParaRPr>
          </a:p>
        </p:txBody>
      </p:sp>
      <p:sp>
        <p:nvSpPr>
          <p:cNvPr id="23" name="AutoShape 53"/>
          <p:cNvSpPr>
            <a:spLocks noChangeArrowheads="1"/>
          </p:cNvSpPr>
          <p:nvPr/>
        </p:nvSpPr>
        <p:spPr bwMode="auto">
          <a:xfrm>
            <a:off x="4410076" y="2513013"/>
            <a:ext cx="1935163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 dirty="0">
                <a:latin typeface="Arial" panose="020B0704020202020204" pitchFamily="34" charset="0"/>
              </a:rPr>
              <a:t>блок (составной оператор)</a:t>
            </a:r>
            <a:endParaRPr lang="ru-RU" sz="2400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2" grpId="0"/>
      <p:bldP spid="2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Знаки отношений</a:t>
            </a:r>
            <a:endParaRPr lang="ru-RU" altLang="ru-RU"/>
          </a:p>
        </p:txBody>
      </p:sp>
      <p:sp>
        <p:nvSpPr>
          <p:cNvPr id="49155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694D5E-1C7F-44F8-86DB-43557C231B36}" type="slidenum">
              <a:rPr lang="ru-RU" altLang="ru-RU" sz="1400"/>
            </a:fld>
            <a:endParaRPr lang="ru-RU" altLang="ru-RU" sz="1400"/>
          </a:p>
        </p:txBody>
      </p:sp>
      <p:sp>
        <p:nvSpPr>
          <p:cNvPr id="4" name="Прямоугольник 3"/>
          <p:cNvSpPr/>
          <p:nvPr/>
        </p:nvSpPr>
        <p:spPr>
          <a:xfrm>
            <a:off x="2495550" y="901700"/>
            <a:ext cx="400050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&gt;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006726" y="901700"/>
            <a:ext cx="3984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&lt;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90826" y="1644650"/>
            <a:ext cx="6143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&gt;</a:t>
            </a:r>
            <a:r>
              <a:rPr lang="ru-RU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=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790826" y="2387600"/>
            <a:ext cx="6143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&lt;</a:t>
            </a:r>
            <a:r>
              <a:rPr lang="ru-RU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=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790826" y="3130551"/>
            <a:ext cx="614363" cy="5238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=</a:t>
            </a:r>
            <a:r>
              <a:rPr lang="ru-RU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=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790826" y="3873501"/>
            <a:ext cx="614363" cy="5238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!=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49162" name="Прямоугольник 9"/>
          <p:cNvSpPr>
            <a:spLocks noChangeArrowheads="1"/>
          </p:cNvSpPr>
          <p:nvPr/>
        </p:nvSpPr>
        <p:spPr bwMode="auto">
          <a:xfrm>
            <a:off x="3597275" y="952501"/>
            <a:ext cx="2584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больше, меньше</a:t>
            </a:r>
            <a:endParaRPr lang="ru-RU" altLang="ru-RU" sz="2400"/>
          </a:p>
        </p:txBody>
      </p:sp>
      <p:sp>
        <p:nvSpPr>
          <p:cNvPr id="49163" name="Прямоугольник 10"/>
          <p:cNvSpPr>
            <a:spLocks noChangeArrowheads="1"/>
          </p:cNvSpPr>
          <p:nvPr/>
        </p:nvSpPr>
        <p:spPr bwMode="auto">
          <a:xfrm>
            <a:off x="3597276" y="1685926"/>
            <a:ext cx="28241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больше</a:t>
            </a:r>
            <a:r>
              <a:rPr lang="en-US" altLang="ru-RU" sz="2400"/>
              <a:t> </a:t>
            </a:r>
            <a:r>
              <a:rPr lang="ru-RU" altLang="ru-RU" sz="2400"/>
              <a:t>или равно</a:t>
            </a:r>
            <a:endParaRPr lang="ru-RU" altLang="ru-RU" sz="2400"/>
          </a:p>
        </p:txBody>
      </p:sp>
      <p:sp>
        <p:nvSpPr>
          <p:cNvPr id="49164" name="Прямоугольник 11"/>
          <p:cNvSpPr>
            <a:spLocks noChangeArrowheads="1"/>
          </p:cNvSpPr>
          <p:nvPr/>
        </p:nvSpPr>
        <p:spPr bwMode="auto">
          <a:xfrm>
            <a:off x="3597276" y="2428876"/>
            <a:ext cx="2855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меньше</a:t>
            </a:r>
            <a:r>
              <a:rPr lang="en-US" altLang="ru-RU" sz="2400"/>
              <a:t> </a:t>
            </a:r>
            <a:r>
              <a:rPr lang="ru-RU" altLang="ru-RU" sz="2400"/>
              <a:t>или равно</a:t>
            </a:r>
            <a:endParaRPr lang="ru-RU" altLang="ru-RU" sz="2400"/>
          </a:p>
        </p:txBody>
      </p:sp>
      <p:sp>
        <p:nvSpPr>
          <p:cNvPr id="49165" name="Прямоугольник 12"/>
          <p:cNvSpPr>
            <a:spLocks noChangeArrowheads="1"/>
          </p:cNvSpPr>
          <p:nvPr/>
        </p:nvSpPr>
        <p:spPr bwMode="auto">
          <a:xfrm>
            <a:off x="3597276" y="3171826"/>
            <a:ext cx="1031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равно</a:t>
            </a:r>
            <a:endParaRPr lang="ru-RU" altLang="ru-RU" sz="2400"/>
          </a:p>
        </p:txBody>
      </p:sp>
      <p:sp>
        <p:nvSpPr>
          <p:cNvPr id="49166" name="Прямоугольник 13"/>
          <p:cNvSpPr>
            <a:spLocks noChangeArrowheads="1"/>
          </p:cNvSpPr>
          <p:nvPr/>
        </p:nvSpPr>
        <p:spPr bwMode="auto">
          <a:xfrm>
            <a:off x="3597276" y="3933826"/>
            <a:ext cx="1458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не равно</a:t>
            </a:r>
            <a:endParaRPr lang="ru-RU" altLang="ru-RU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Вложенные условные операторы</a:t>
            </a:r>
            <a:endParaRPr lang="ru-RU" altLang="ru-RU"/>
          </a:p>
        </p:txBody>
      </p:sp>
      <p:sp>
        <p:nvSpPr>
          <p:cNvPr id="50179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1C2A00-31F9-4A74-9FD6-48C6E8F6D553}" type="slidenum">
              <a:rPr lang="ru-RU" altLang="ru-RU" sz="1400"/>
            </a:fld>
            <a:endParaRPr lang="ru-RU" altLang="ru-RU" sz="1400"/>
          </a:p>
        </p:txBody>
      </p:sp>
      <p:sp>
        <p:nvSpPr>
          <p:cNvPr id="4" name="Прямоугольник 3"/>
          <p:cNvSpPr/>
          <p:nvPr/>
        </p:nvSpPr>
        <p:spPr>
          <a:xfrm>
            <a:off x="2009776" y="1733551"/>
            <a:ext cx="6499225" cy="2678113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2400" b="1">
                <a:latin typeface="Courier New" panose="02070609020205020404" pitchFamily="49" charset="0"/>
                <a:cs typeface="Courier New" panose="02070609020205020404" pitchFamily="49" charset="0"/>
              </a:rPr>
              <a:t>==</a:t>
            </a:r>
            <a:r>
              <a:rPr 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b )</a:t>
            </a: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400" b="1" dirty="0" err="1">
                <a:latin typeface="Courier New" panose="02070609020205020404" pitchFamily="49" charset="0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Одного возраста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en-US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r>
              <a:rPr lang="ru-RU" sz="2400" b="1" dirty="0">
                <a:solidFill>
                  <a:srgbClr val="00B0F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solidFill>
                <a:srgbClr val="00B0F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else</a:t>
            </a:r>
            <a:endParaRPr lang="en-US" sz="2400" b="1" dirty="0">
              <a:solidFill>
                <a:srgbClr val="00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0181" name="Прямоугольник 4"/>
          <p:cNvSpPr>
            <a:spLocks noChangeArrowheads="1"/>
          </p:cNvSpPr>
          <p:nvPr/>
        </p:nvSpPr>
        <p:spPr bwMode="auto">
          <a:xfrm>
            <a:off x="2362200" y="2800350"/>
            <a:ext cx="5765800" cy="157003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ru-RU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r>
              <a:rPr lang="ru-RU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&gt;</a:t>
            </a:r>
            <a:r>
              <a:rPr lang="ru-RU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b )</a:t>
            </a:r>
            <a:endParaRPr lang="en-US" altLang="ru-RU" sz="2400" b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ru-RU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cout &lt;&lt; </a:t>
            </a:r>
            <a:r>
              <a:rPr lang="en-US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ru-RU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Андрей старше</a:t>
            </a:r>
            <a:r>
              <a:rPr lang="en-US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ru-RU" altLang="ru-RU" sz="2400" b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else</a:t>
            </a:r>
            <a:endParaRPr lang="en-US" altLang="ru-RU" sz="2400" b="1">
              <a:solidFill>
                <a:srgbClr val="00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 cout &lt;&lt; </a:t>
            </a:r>
            <a:r>
              <a:rPr lang="en-US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ru-RU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Борис старше</a:t>
            </a:r>
            <a:r>
              <a:rPr lang="en-US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r>
              <a:rPr lang="ru-RU" altLang="ru-RU" sz="2400" b="1">
                <a:solidFill>
                  <a:srgbClr val="00B0F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altLang="ru-RU" sz="2400" b="1">
              <a:solidFill>
                <a:srgbClr val="00B0F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AutoShape 53"/>
          <p:cNvSpPr>
            <a:spLocks noChangeArrowheads="1"/>
          </p:cNvSpPr>
          <p:nvPr/>
        </p:nvSpPr>
        <p:spPr bwMode="auto">
          <a:xfrm>
            <a:off x="6916739" y="4514850"/>
            <a:ext cx="3157537" cy="863600"/>
          </a:xfrm>
          <a:prstGeom prst="wedgeRoundRectCallout">
            <a:avLst>
              <a:gd name="adj1" fmla="val -45583"/>
              <a:gd name="adj2" fmla="val -93433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ru-RU" sz="2400" dirty="0">
                <a:latin typeface="Arial" panose="020B0704020202020204" pitchFamily="34" charset="0"/>
              </a:rPr>
              <a:t>вложенный условный оператор</a:t>
            </a:r>
            <a:endParaRPr lang="ru-RU" sz="2400" dirty="0">
              <a:latin typeface="Arial" panose="020B0704020202020204" pitchFamily="34" charset="0"/>
            </a:endParaRPr>
          </a:p>
        </p:txBody>
      </p:sp>
      <p:grpSp>
        <p:nvGrpSpPr>
          <p:cNvPr id="2" name="Group 55"/>
          <p:cNvGrpSpPr/>
          <p:nvPr/>
        </p:nvGrpSpPr>
        <p:grpSpPr bwMode="auto">
          <a:xfrm>
            <a:off x="2133601" y="4633914"/>
            <a:ext cx="2917825" cy="663575"/>
            <a:chOff x="433" y="3902"/>
            <a:chExt cx="1838" cy="418"/>
          </a:xfrm>
        </p:grpSpPr>
        <p:sp>
          <p:nvSpPr>
            <p:cNvPr id="8" name="Text Box 56"/>
            <p:cNvSpPr txBox="1">
              <a:spLocks noChangeArrowheads="1"/>
            </p:cNvSpPr>
            <p:nvPr/>
          </p:nvSpPr>
          <p:spPr bwMode="auto">
            <a:xfrm>
              <a:off x="727" y="3969"/>
              <a:ext cx="1544" cy="291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panose="020B0704020202020204" pitchFamily="34" charset="0"/>
                </a:rPr>
                <a:t>  Зачем нужен</a:t>
              </a:r>
              <a:r>
                <a:rPr lang="en-US" sz="2400" dirty="0">
                  <a:latin typeface="Arial" panose="020B0704020202020204" pitchFamily="34" charset="0"/>
                </a:rPr>
                <a:t>?</a:t>
              </a:r>
              <a:endParaRPr lang="ru-RU" sz="2400" dirty="0">
                <a:latin typeface="Arial" panose="020B0704020202020204" pitchFamily="34" charset="0"/>
              </a:endParaRPr>
            </a:p>
          </p:txBody>
        </p:sp>
        <p:sp>
          <p:nvSpPr>
            <p:cNvPr id="50189" name="Oval 57"/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50184" name="Прямоугольник 6"/>
          <p:cNvSpPr>
            <a:spLocks noChangeArrowheads="1"/>
          </p:cNvSpPr>
          <p:nvPr/>
        </p:nvSpPr>
        <p:spPr bwMode="auto">
          <a:xfrm>
            <a:off x="1906588" y="806451"/>
            <a:ext cx="84566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680" indent="-36068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i="1"/>
              <a:t>Задача</a:t>
            </a:r>
            <a:r>
              <a:rPr lang="ru-RU" altLang="ru-RU" sz="2400"/>
              <a:t>: в переменных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r>
              <a:rPr lang="en-US" altLang="ru-RU" sz="2400"/>
              <a:t> </a:t>
            </a:r>
            <a:r>
              <a:rPr lang="ru-RU" altLang="ru-RU" sz="2400"/>
              <a:t>и </a:t>
            </a:r>
            <a:r>
              <a:rPr lang="en-US" altLang="ru-RU" sz="2400" b="1"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r>
              <a:rPr lang="en-US" altLang="ru-RU" sz="2400"/>
              <a:t> </a:t>
            </a:r>
            <a:r>
              <a:rPr lang="ru-RU" altLang="ru-RU" sz="2400"/>
              <a:t>записаны</a:t>
            </a:r>
            <a:r>
              <a:rPr lang="en-US" altLang="ru-RU" sz="2400"/>
              <a:t> </a:t>
            </a:r>
            <a:r>
              <a:rPr lang="ru-RU" altLang="ru-RU" sz="2400"/>
              <a:t>возрасты Андрея и Бориса. Кто из них старше?</a:t>
            </a:r>
            <a:endParaRPr lang="ru-RU" altLang="ru-RU" sz="2400"/>
          </a:p>
        </p:txBody>
      </p:sp>
      <p:grpSp>
        <p:nvGrpSpPr>
          <p:cNvPr id="3" name="Group 55"/>
          <p:cNvGrpSpPr/>
          <p:nvPr/>
        </p:nvGrpSpPr>
        <p:grpSpPr bwMode="auto">
          <a:xfrm>
            <a:off x="6448425" y="1244601"/>
            <a:ext cx="3841750" cy="663575"/>
            <a:chOff x="433" y="3902"/>
            <a:chExt cx="2420" cy="418"/>
          </a:xfrm>
        </p:grpSpPr>
        <p:sp>
          <p:nvSpPr>
            <p:cNvPr id="12" name="Text Box 56"/>
            <p:cNvSpPr txBox="1">
              <a:spLocks noChangeArrowheads="1"/>
            </p:cNvSpPr>
            <p:nvPr/>
          </p:nvSpPr>
          <p:spPr bwMode="auto">
            <a:xfrm>
              <a:off x="727" y="3969"/>
              <a:ext cx="2126" cy="291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marL="179705" indent="-179705">
                <a:spcBef>
                  <a:spcPct val="50000"/>
                </a:spcBef>
                <a:defRPr/>
              </a:pPr>
              <a:r>
                <a:rPr lang="ru-RU" sz="2400" dirty="0">
                  <a:latin typeface="Arial" panose="020B0704020202020204" pitchFamily="34" charset="0"/>
                </a:rPr>
                <a:t>  Сколько вариантов</a:t>
              </a:r>
              <a:r>
                <a:rPr lang="en-US" sz="2400" dirty="0">
                  <a:latin typeface="Arial" panose="020B0704020202020204" pitchFamily="34" charset="0"/>
                </a:rPr>
                <a:t>?</a:t>
              </a:r>
              <a:endParaRPr lang="ru-RU" sz="2400" dirty="0">
                <a:latin typeface="Arial" panose="020B0704020202020204" pitchFamily="34" charset="0"/>
              </a:endParaRPr>
            </a:p>
          </p:txBody>
        </p:sp>
        <p:sp>
          <p:nvSpPr>
            <p:cNvPr id="50187" name="Oval 57"/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50181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  <a:endParaRPr lang="ru-RU" altLang="ru-RU"/>
          </a:p>
        </p:txBody>
      </p:sp>
      <p:sp>
        <p:nvSpPr>
          <p:cNvPr id="51203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733B02-3D6F-4118-9F4B-050AE4302FA7}" type="slidenum">
              <a:rPr lang="ru-RU" altLang="ru-RU" sz="1400"/>
            </a:fld>
            <a:endParaRPr lang="ru-RU" altLang="ru-RU" sz="140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3888" y="809625"/>
            <a:ext cx="8420100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A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три целых числа, найти максимальное из них.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три целых числа: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1 5 4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Максимальное число 5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93888" y="3068638"/>
            <a:ext cx="8420100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B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пять целых чисел, найти максимальное из них.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пять целых чисел: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1 5 4 3 2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Максимальное число 5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  <a:endParaRPr lang="ru-RU" altLang="ru-RU"/>
          </a:p>
        </p:txBody>
      </p:sp>
      <p:sp>
        <p:nvSpPr>
          <p:cNvPr id="52227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05FCB-6137-4E05-AA40-F0F8F3179C60}" type="slidenum">
              <a:rPr lang="ru-RU" altLang="ru-RU" sz="1400"/>
            </a:fld>
            <a:endParaRPr lang="ru-RU" altLang="ru-RU" sz="140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3888" y="809626"/>
            <a:ext cx="8420100" cy="452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C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последовательно возраст Антона, Бориса и Виктора. Определить, кто из них старше. 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Антона: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Бориса: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17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Виктора: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16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Ответ: Борис старше всех.</a:t>
            </a:r>
            <a:endParaRPr lang="en-US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Антона: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17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Бориса: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17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Возраст Виктора: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16</a:t>
            </a: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Ответ: Антон и Борис старше Виктора.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  <a:endParaRPr lang="ru-RU" altLang="ru-RU"/>
          </a:p>
        </p:txBody>
      </p:sp>
      <p:sp>
        <p:nvSpPr>
          <p:cNvPr id="54275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F7083E-0F00-476A-B12D-3B00581E40AC}" type="slidenum">
              <a:rPr lang="ru-RU" altLang="ru-RU" sz="1400"/>
            </a:fld>
            <a:endParaRPr lang="ru-RU" altLang="ru-RU" sz="140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3888" y="809625"/>
            <a:ext cx="8420100" cy="5632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A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три числа и выводит количество одинаковых чисел в этой цепочке.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три числа: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5 5 5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Все числа одинаковые.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три числа: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5 7 5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Два числа одинаковые.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три числа: 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5 7 8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Нет одинаковых чисел.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  <a:endParaRPr lang="ru-RU" altLang="ru-RU"/>
          </a:p>
        </p:txBody>
      </p:sp>
      <p:sp>
        <p:nvSpPr>
          <p:cNvPr id="55299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6A48D1-BC0F-4BA3-BA73-A5A3E015B5C8}" type="slidenum">
              <a:rPr lang="ru-RU" altLang="ru-RU" sz="1400"/>
            </a:fld>
            <a:endParaRPr lang="ru-RU" altLang="ru-RU" sz="140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3888" y="809625"/>
            <a:ext cx="8420100" cy="4154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B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номер месяца и выводит соответствующее ему время года или сообщение об ошибке.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номер месяца: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5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Весна.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номер месяца: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Неверный номер месяца.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Сложные условия</a:t>
            </a:r>
            <a:endParaRPr lang="ru-RU" altLang="ru-RU"/>
          </a:p>
        </p:txBody>
      </p:sp>
      <p:sp>
        <p:nvSpPr>
          <p:cNvPr id="53251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C29DCD-3BA0-4B64-94DB-B71280EAA8C9}" type="slidenum">
              <a:rPr lang="ru-RU" altLang="ru-RU" sz="1400"/>
            </a:fld>
            <a:endParaRPr lang="ru-RU" altLang="ru-RU" sz="1400"/>
          </a:p>
        </p:txBody>
      </p:sp>
      <p:sp>
        <p:nvSpPr>
          <p:cNvPr id="53252" name="Прямоугольник 3"/>
          <p:cNvSpPr>
            <a:spLocks noChangeArrowheads="1"/>
          </p:cNvSpPr>
          <p:nvPr/>
        </p:nvSpPr>
        <p:spPr bwMode="auto">
          <a:xfrm>
            <a:off x="1911351" y="809626"/>
            <a:ext cx="842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i="1"/>
              <a:t>Задача</a:t>
            </a:r>
            <a:r>
              <a:rPr lang="ru-RU" altLang="ru-RU" sz="2400"/>
              <a:t>: набор сотрудников в возрасте </a:t>
            </a:r>
            <a:r>
              <a:rPr lang="ru-RU" altLang="ru-RU" sz="2400" b="1">
                <a:solidFill>
                  <a:srgbClr val="333399"/>
                </a:solidFill>
              </a:rPr>
              <a:t>25-40 лет </a:t>
            </a:r>
            <a:r>
              <a:rPr lang="ru-RU" altLang="ru-RU" sz="2400"/>
              <a:t>(включительно).</a:t>
            </a:r>
            <a:endParaRPr lang="ru-RU" altLang="ru-RU" sz="2400"/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2249488" y="1912939"/>
            <a:ext cx="5384800" cy="1570037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(                    ) 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algn="just">
              <a:defRPr/>
            </a:pP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 </a:t>
            </a:r>
            <a:r>
              <a:rPr lang="en-US" sz="2400" b="1" dirty="0" err="1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подходит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;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else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 </a:t>
            </a:r>
            <a:r>
              <a:rPr lang="en-US" sz="2400" b="1" dirty="0" err="1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&lt;&lt; 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"не подходит"</a:t>
            </a:r>
            <a:r>
              <a:rPr lang="ru-RU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;</a:t>
            </a:r>
            <a:endParaRPr lang="ru-RU" sz="2400" b="1" dirty="0">
              <a:latin typeface="Courier New" panose="02070609020205020404" pitchFamily="49" charset="0"/>
              <a:ea typeface="Times New Roman" panose="02020603050405020304" pitchFamily="18" charset="0"/>
              <a:cs typeface="Courier New" panose="020706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070851" y="1857376"/>
            <a:ext cx="614363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&amp;&amp;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070851" y="2600326"/>
            <a:ext cx="614363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||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178800" y="3343276"/>
            <a:ext cx="400050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anose="02070609020205020404" pitchFamily="49" charset="0"/>
              </a:rPr>
              <a:t>!</a:t>
            </a:r>
            <a:endParaRPr lang="ru-RU" dirty="0">
              <a:latin typeface="Arial" panose="020B07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11350" y="3914776"/>
            <a:ext cx="6034088" cy="19399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dirty="0">
                <a:solidFill>
                  <a:srgbClr val="333399"/>
                </a:solidFill>
                <a:latin typeface="Arial" panose="020B0704020202020204" pitchFamily="34" charset="0"/>
              </a:rPr>
              <a:t>Приоритет :</a:t>
            </a:r>
            <a:endParaRPr lang="ru-RU" sz="2400" b="1" dirty="0">
              <a:solidFill>
                <a:srgbClr val="333399"/>
              </a:solidFill>
              <a:latin typeface="Arial" panose="020B0704020202020204" pitchFamily="34" charset="0"/>
            </a:endParaRPr>
          </a:p>
          <a:p>
            <a:pPr marL="714375" indent="-357505">
              <a:buClr>
                <a:schemeClr val="tx1"/>
              </a:buClr>
              <a:buFont typeface="+mj-lt"/>
              <a:buAutoNum type="arabicParenR"/>
              <a:defRPr/>
            </a:pPr>
            <a:r>
              <a:rPr lang="ru-RU" sz="2400" dirty="0">
                <a:latin typeface="Arial" panose="020B0704020202020204" pitchFamily="34" charset="0"/>
              </a:rPr>
              <a:t>отношения (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&lt;</a:t>
            </a:r>
            <a:r>
              <a:rPr lang="en-US" sz="2400" dirty="0">
                <a:latin typeface="Arial" panose="020B0704020202020204" pitchFamily="34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&gt;</a:t>
            </a:r>
            <a:r>
              <a:rPr lang="en-US" sz="2400" dirty="0">
                <a:latin typeface="Arial" panose="020B0704020202020204" pitchFamily="34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&lt;=</a:t>
            </a:r>
            <a:r>
              <a:rPr lang="en-US" sz="2400" dirty="0">
                <a:latin typeface="Arial" panose="020B0704020202020204" pitchFamily="34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&gt;=</a:t>
            </a:r>
            <a:r>
              <a:rPr lang="en-US" sz="2400" dirty="0">
                <a:latin typeface="Arial" panose="020B0704020202020204" pitchFamily="34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==</a:t>
            </a:r>
            <a:r>
              <a:rPr lang="en-US" sz="2400" dirty="0">
                <a:latin typeface="Arial" panose="020B0704020202020204" pitchFamily="34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!=</a:t>
            </a:r>
            <a:r>
              <a:rPr lang="ru-RU" sz="2400" dirty="0">
                <a:latin typeface="Arial" panose="020B0704020202020204" pitchFamily="34" charset="0"/>
              </a:rPr>
              <a:t>)</a:t>
            </a:r>
            <a:endParaRPr lang="ru-RU" sz="2400" dirty="0">
              <a:latin typeface="Arial" panose="020B0704020202020204" pitchFamily="34" charset="0"/>
            </a:endParaRPr>
          </a:p>
          <a:p>
            <a:pPr marL="714375" indent="-357505">
              <a:buClr>
                <a:schemeClr val="tx1"/>
              </a:buClr>
              <a:buFont typeface="+mj-lt"/>
              <a:buAutoNum type="arabicParenR"/>
              <a:defRPr/>
            </a:pPr>
            <a:r>
              <a:rPr lang="ru-RU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!</a:t>
            </a:r>
            <a:r>
              <a:rPr lang="ru-RU" sz="2400" dirty="0">
                <a:cs typeface="Courier New" panose="02070609020205020404" pitchFamily="49" charset="0"/>
              </a:rPr>
              <a:t> («НЕ»)</a:t>
            </a:r>
            <a:endParaRPr lang="ru-RU" sz="2400" dirty="0">
              <a:cs typeface="Courier New" panose="02070609020205020404" pitchFamily="49" charset="0"/>
            </a:endParaRPr>
          </a:p>
          <a:p>
            <a:pPr marL="714375" indent="-357505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&amp;&amp;</a:t>
            </a:r>
            <a:r>
              <a:rPr lang="ru-RU" sz="2400" dirty="0">
                <a:latin typeface="Arial" panose="020B0704020202020204" pitchFamily="34" charset="0"/>
                <a:cs typeface="Courier New" panose="02070609020205020404" pitchFamily="49" charset="0"/>
              </a:rPr>
              <a:t> («И»)</a:t>
            </a:r>
            <a:endParaRPr lang="ru-RU" sz="2400" b="1" dirty="0">
              <a:solidFill>
                <a:srgbClr val="00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||</a:t>
            </a:r>
            <a:r>
              <a:rPr lang="ru-RU" sz="2400" dirty="0">
                <a:latin typeface="Arial" panose="020B0704020202020204" pitchFamily="34" charset="0"/>
                <a:cs typeface="Courier New" panose="02070609020205020404" pitchFamily="49" charset="0"/>
              </a:rPr>
              <a:t> («ИЛИ»)</a:t>
            </a:r>
            <a:endParaRPr lang="ru-RU" sz="2400" b="1" dirty="0">
              <a:solidFill>
                <a:srgbClr val="00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3128963" y="1908176"/>
            <a:ext cx="3471862" cy="41592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latin typeface="Courier New" panose="02070609020205020404" pitchFamily="49" charset="0"/>
                <a:ea typeface="Times New Roman" panose="02020603050405020304" pitchFamily="18" charset="0"/>
                <a:cs typeface="Courier New" panose="02070609020205020404" pitchFamily="49" charset="0"/>
              </a:rPr>
              <a:t>v &gt;= </a:t>
            </a:r>
            <a:r>
              <a:rPr lang="en-US" altLang="ru-RU" sz="2400" b="1">
                <a:solidFill>
                  <a:srgbClr val="00B0F0"/>
                </a:solidFill>
                <a:latin typeface="Courier New" panose="02070609020205020404" pitchFamily="49" charset="0"/>
                <a:ea typeface="Times New Roman" panose="02020603050405020304" pitchFamily="18" charset="0"/>
                <a:cs typeface="Courier New" panose="02070609020205020404" pitchFamily="49" charset="0"/>
              </a:rPr>
              <a:t>25</a:t>
            </a:r>
            <a:r>
              <a:rPr lang="en-US" altLang="ru-RU" sz="2400" b="1">
                <a:latin typeface="Courier New" panose="02070609020205020404" pitchFamily="49" charset="0"/>
                <a:ea typeface="Times New Roman" panose="02020603050405020304" pitchFamily="18" charset="0"/>
                <a:cs typeface="Courier New" panose="02070609020205020404" pitchFamily="49" charset="0"/>
              </a:rPr>
              <a:t> &amp;&amp; v &lt;= </a:t>
            </a:r>
            <a:r>
              <a:rPr lang="en-US" altLang="ru-RU" sz="2400" b="1">
                <a:solidFill>
                  <a:srgbClr val="00B0F0"/>
                </a:solidFill>
                <a:latin typeface="Courier New" panose="02070609020205020404" pitchFamily="49" charset="0"/>
                <a:ea typeface="Times New Roman" panose="02020603050405020304" pitchFamily="18" charset="0"/>
                <a:cs typeface="Courier New" panose="02070609020205020404" pitchFamily="49" charset="0"/>
              </a:rPr>
              <a:t>40</a:t>
            </a:r>
            <a:endParaRPr lang="ru-RU" altLang="ru-RU" sz="1800">
              <a:ea typeface="Times New Roman" panose="02020603050405020304" pitchFamily="18" charset="0"/>
              <a:cs typeface="Courier New" panose="02070609020205020404" pitchFamily="49" charset="0"/>
            </a:endParaRPr>
          </a:p>
        </p:txBody>
      </p:sp>
      <p:sp>
        <p:nvSpPr>
          <p:cNvPr id="11" name="AutoShape 53"/>
          <p:cNvSpPr>
            <a:spLocks noChangeArrowheads="1"/>
          </p:cNvSpPr>
          <p:nvPr/>
        </p:nvSpPr>
        <p:spPr bwMode="auto">
          <a:xfrm>
            <a:off x="4886325" y="1355725"/>
            <a:ext cx="2713038" cy="465138"/>
          </a:xfrm>
          <a:prstGeom prst="wedgeRoundRectCallout">
            <a:avLst>
              <a:gd name="adj1" fmla="val -34346"/>
              <a:gd name="adj2" fmla="val 7617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ru-RU" sz="2400" dirty="0">
                <a:latin typeface="Arial" panose="020B0704020202020204" pitchFamily="34" charset="0"/>
              </a:rPr>
              <a:t>сложное условие</a:t>
            </a:r>
            <a:endParaRPr lang="ru-RU" sz="2400" dirty="0">
              <a:latin typeface="Arial" panose="020B0704020202020204" pitchFamily="34" charset="0"/>
            </a:endParaRPr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8736013" y="1889126"/>
            <a:ext cx="74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«И»</a:t>
            </a:r>
            <a:endParaRPr lang="ru-RU" altLang="ru-RU" sz="1800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8736013" y="2620963"/>
            <a:ext cx="1173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«ИЛИ»</a:t>
            </a:r>
            <a:endParaRPr lang="ru-RU" altLang="ru-RU" sz="1800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8736014" y="3362326"/>
            <a:ext cx="955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«НЕ»</a:t>
            </a:r>
            <a:endParaRPr lang="ru-RU" altLang="ru-RU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 animBg="1"/>
      <p:bldP spid="6" grpId="0" animBg="1"/>
      <p:bldP spid="7" grpId="0" animBg="1"/>
      <p:bldP spid="8" grpId="0" animBg="1"/>
      <p:bldP spid="9" grpId="0" build="p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Заголовок 4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  <a:endParaRPr lang="ru-RU" altLang="ru-RU"/>
          </a:p>
        </p:txBody>
      </p:sp>
      <p:sp>
        <p:nvSpPr>
          <p:cNvPr id="56323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7D3E14-D309-47F5-8443-B68735E96E48}" type="slidenum">
              <a:rPr lang="ru-RU" altLang="ru-RU" sz="1400"/>
            </a:fld>
            <a:endParaRPr lang="ru-RU" altLang="ru-RU" sz="140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3888" y="809626"/>
            <a:ext cx="8420100" cy="4894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630555" indent="-630555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C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возраст человека (целое число, не превышающее 120) и выводит этот возраст со словом «год», «года» или «лет». Например, «21 год», «22 года», «25 лет».  </a:t>
            </a:r>
            <a:endParaRPr lang="en-US" sz="2400" dirty="0"/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возраст: 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18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Вам 18 лет.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возраст: </a:t>
            </a:r>
            <a:r>
              <a:rPr lang="en-US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21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Вам 21 год.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 indent="-357505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  <a:endParaRPr lang="ru-RU" sz="2400" b="1" dirty="0"/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Введите возраст: </a:t>
            </a:r>
            <a:r>
              <a:rPr lang="en-US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r>
              <a:rPr lang="ru-RU" sz="24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ru-RU" sz="24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anose="02070609020205020404" pitchFamily="49" charset="0"/>
                <a:cs typeface="Courier New" panose="02070609020205020404" pitchFamily="49" charset="0"/>
              </a:rPr>
              <a:t>Вам 22 года.</a:t>
            </a:r>
            <a:endParaRPr lang="ru-RU" sz="24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  <a:endParaRPr lang="ru-RU" altLang="ru-RU"/>
          </a:p>
        </p:txBody>
      </p:sp>
      <p:sp>
        <p:nvSpPr>
          <p:cNvPr id="59395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6221C1-5C49-4ED0-9C24-004C383028D5}" type="slidenum">
              <a:rPr lang="ru-RU" altLang="ru-RU" sz="1400"/>
            </a:fld>
            <a:endParaRPr lang="ru-RU" altLang="ru-RU" sz="1400"/>
          </a:p>
        </p:txBody>
      </p:sp>
      <p:sp>
        <p:nvSpPr>
          <p:cNvPr id="64513" name="Rectangle 1"/>
          <p:cNvSpPr>
            <a:spLocks noChangeArrowheads="1"/>
          </p:cNvSpPr>
          <p:nvPr/>
        </p:nvSpPr>
        <p:spPr bwMode="auto">
          <a:xfrm>
            <a:off x="1924050" y="895350"/>
            <a:ext cx="6065838" cy="1568450"/>
          </a:xfrm>
          <a:prstGeom prst="rect">
            <a:avLst/>
          </a:prstGeom>
          <a:solidFill>
            <a:srgbClr val="E6E6FF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705" indent="-179705"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1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) </a:t>
            </a:r>
            <a:r>
              <a:rPr lang="en-US" sz="2400" b="1" dirty="0" err="1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январь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;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marL="179705" indent="-179705"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2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) </a:t>
            </a:r>
            <a:r>
              <a:rPr lang="en-US" sz="2400" b="1" dirty="0" err="1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февраль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;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marL="179705" indent="-179705" algn="just">
              <a:defRPr/>
            </a:pP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...</a:t>
            </a:r>
            <a:endParaRPr lang="ru-RU" sz="2400" b="1" dirty="0">
              <a:latin typeface="Courier New" panose="02070609020205020404" pitchFamily="49" charset="0"/>
              <a:ea typeface="Times New Roman" panose="02020603050405020304"/>
              <a:cs typeface="Courier New" panose="02070609020205020404" pitchFamily="49" charset="0"/>
            </a:endParaRPr>
          </a:p>
          <a:p>
            <a:pPr marL="179705" indent="-179705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if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12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) </a:t>
            </a:r>
            <a:r>
              <a:rPr lang="en-US" sz="2400" b="1" dirty="0" err="1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cout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декабрь</a:t>
            </a:r>
            <a:r>
              <a:rPr lang="en-US" sz="2400" b="1" dirty="0">
                <a:solidFill>
                  <a:srgbClr val="C00000"/>
                </a:solidFill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"</a:t>
            </a:r>
            <a:r>
              <a:rPr lang="en-US" sz="2400" b="1" dirty="0">
                <a:latin typeface="Courier New" panose="02070609020205020404" pitchFamily="49" charset="0"/>
                <a:ea typeface="Times New Roman" panose="02020603050405020304"/>
                <a:cs typeface="Courier New" panose="02070609020205020404" pitchFamily="49" charset="0"/>
              </a:rPr>
              <a:t>;</a:t>
            </a:r>
            <a:endParaRPr lang="ru-RU" sz="2400" b="1" dirty="0">
              <a:latin typeface="Courier New" panose="02070609020205020404" pitchFamily="49" charset="0"/>
              <a:ea typeface="Times New Roman" panose="02020603050405020304" pitchFamily="18" charset="0"/>
              <a:cs typeface="Courier New" panose="02070609020205020404" pitchFamily="49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51163" y="2655889"/>
            <a:ext cx="6323012" cy="3786187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705" indent="88900" algn="just">
              <a:defRPr/>
            </a:pP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switch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( m ) {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1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январь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     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break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2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февраль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     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break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   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...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12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декабрь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      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break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default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ошибка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88900">
              <a:defRPr/>
            </a:pPr>
            <a:r>
              <a:rPr lang="en-US" sz="2400">
                <a:latin typeface="Calibri" charset="0"/>
                <a:cs typeface="Times New Roman" panose="02020603050405020304" pitchFamily="18" charset="0"/>
              </a:rPr>
              <a:t>   </a:t>
            </a:r>
            <a:r>
              <a:rPr lang="ru-RU" sz="2400">
                <a:latin typeface="Calibri" charset="0"/>
                <a:cs typeface="Times New Roman" panose="02020603050405020304" pitchFamily="18" charset="0"/>
              </a:rPr>
              <a:t>}</a:t>
            </a:r>
            <a:endParaRPr lang="ru-RU" sz="24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  <a:endParaRPr lang="ru-RU" altLang="ru-RU"/>
          </a:p>
        </p:txBody>
      </p:sp>
      <p:sp>
        <p:nvSpPr>
          <p:cNvPr id="60419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73C29-DC0C-4DF5-9F75-B437F81E86B2}" type="slidenum">
              <a:rPr lang="ru-RU" altLang="ru-RU" sz="1400"/>
            </a:fld>
            <a:endParaRPr lang="ru-RU" altLang="ru-RU" sz="140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30425" y="1246189"/>
            <a:ext cx="6116638" cy="2308225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705" indent="-179705" algn="just">
              <a:defRPr/>
            </a:pP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switch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( m ) {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-179705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1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январь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-179705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2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февраль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-179705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case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3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март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 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-179705" algn="just">
              <a:defRPr/>
            </a:pP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default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:  cout &lt;&lt; 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ошибка</a:t>
            </a:r>
            <a:r>
              <a:rPr lang="en-US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"</a:t>
            </a:r>
            <a:r>
              <a:rPr lang="en-US" sz="2400" b="1">
                <a:latin typeface="Courier New" panose="02070609020205020404" pitchFamily="49" charset="0"/>
                <a:cs typeface="Times New Roman" panose="02020603050405020304" pitchFamily="18" charset="0"/>
              </a:rPr>
              <a:t>;</a:t>
            </a:r>
            <a:endParaRPr lang="ru-RU" sz="2400" b="1">
              <a:latin typeface="Courier New" panose="02070609020205020404" pitchFamily="49" charset="0"/>
              <a:cs typeface="Times New Roman" panose="02020603050405020304" pitchFamily="18" charset="0"/>
            </a:endParaRPr>
          </a:p>
          <a:p>
            <a:pPr marL="179705" indent="-179705">
              <a:defRPr/>
            </a:pPr>
            <a:r>
              <a:rPr lang="en-US" sz="2400">
                <a:latin typeface="Calibri" charset="0"/>
                <a:cs typeface="Times New Roman" panose="02020603050405020304" pitchFamily="18" charset="0"/>
              </a:rPr>
              <a:t>   </a:t>
            </a:r>
            <a:r>
              <a:rPr lang="ru-RU" sz="2400">
                <a:latin typeface="Calibri" charset="0"/>
                <a:cs typeface="Times New Roman" panose="02020603050405020304" pitchFamily="18" charset="0"/>
              </a:rPr>
              <a:t>}</a:t>
            </a:r>
            <a:endParaRPr lang="ru-RU" sz="24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 flipH="1">
            <a:off x="1922464" y="809626"/>
            <a:ext cx="428148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kern="0" dirty="0">
                <a:solidFill>
                  <a:srgbClr val="333399"/>
                </a:solidFill>
                <a:latin typeface="Arial" panose="020B0704020202020204"/>
                <a:ea typeface="+mj-ea"/>
                <a:cs typeface="+mj-cs"/>
              </a:rPr>
              <a:t>Если не ставить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609020205020404" pitchFamily="49" charset="0"/>
                <a:ea typeface="+mj-ea"/>
                <a:cs typeface="Courier New" panose="02070609020205020404" pitchFamily="49" charset="0"/>
              </a:rPr>
              <a:t>break</a:t>
            </a:r>
            <a:r>
              <a:rPr lang="ru-RU" sz="2400" b="1" kern="0" dirty="0">
                <a:solidFill>
                  <a:srgbClr val="000000"/>
                </a:solidFill>
                <a:latin typeface="Arial" panose="020B0704020202020204"/>
                <a:ea typeface="+mj-ea"/>
                <a:cs typeface="+mj-cs"/>
              </a:rPr>
              <a:t>:</a:t>
            </a:r>
            <a:endParaRPr lang="ru-RU" sz="1400" dirty="0">
              <a:latin typeface="Arial" panose="020B0704020202020204" pitchFamily="34" charset="0"/>
            </a:endParaRP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3779839" y="3598863"/>
            <a:ext cx="331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Courier New" panose="02070609020205020404" pitchFamily="49" charset="0"/>
                <a:cs typeface="Times New Roman" panose="02020603050405020304" pitchFamily="18" charset="0"/>
              </a:rPr>
              <a:t>февральмартошибка</a:t>
            </a:r>
            <a:endParaRPr lang="ru-RU" altLang="ru-RU" sz="1800"/>
          </a:p>
        </p:txBody>
      </p:sp>
      <p:sp>
        <p:nvSpPr>
          <p:cNvPr id="9" name="Прямоугольник 8"/>
          <p:cNvSpPr/>
          <p:nvPr/>
        </p:nvSpPr>
        <p:spPr>
          <a:xfrm flipH="1">
            <a:off x="1922464" y="3595688"/>
            <a:ext cx="4281487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kern="0" dirty="0">
                <a:solidFill>
                  <a:srgbClr val="333399"/>
                </a:solidFill>
                <a:latin typeface="Arial" panose="020B0704020202020204"/>
                <a:ea typeface="+mj-ea"/>
                <a:cs typeface="+mj-cs"/>
              </a:rPr>
              <a:t>При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609020205020404" pitchFamily="49" charset="0"/>
                <a:ea typeface="+mj-ea"/>
                <a:cs typeface="Courier New" panose="02070609020205020404" pitchFamily="49" charset="0"/>
              </a:rPr>
              <a:t>m</a:t>
            </a:r>
            <a:r>
              <a:rPr lang="en-US" sz="2400" b="1" kern="0" dirty="0">
                <a:solidFill>
                  <a:srgbClr val="0000FF"/>
                </a:solidFill>
                <a:ea typeface="+mj-ea"/>
                <a:cs typeface="Courier New" panose="02070609020205020404" pitchFamily="49" charset="0"/>
              </a:rPr>
              <a:t>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609020205020404" pitchFamily="49" charset="0"/>
                <a:ea typeface="+mj-ea"/>
                <a:cs typeface="Courier New" panose="02070609020205020404" pitchFamily="49" charset="0"/>
              </a:rPr>
              <a:t>=</a:t>
            </a:r>
            <a:r>
              <a:rPr lang="en-US" sz="2400" b="1" kern="0" dirty="0">
                <a:solidFill>
                  <a:srgbClr val="0000FF"/>
                </a:solidFill>
                <a:ea typeface="+mj-ea"/>
                <a:cs typeface="Courier New" panose="02070609020205020404" pitchFamily="49" charset="0"/>
              </a:rPr>
              <a:t>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609020205020404" pitchFamily="49" charset="0"/>
                <a:ea typeface="+mj-ea"/>
                <a:cs typeface="Courier New" panose="02070609020205020404" pitchFamily="49" charset="0"/>
              </a:rPr>
              <a:t>2</a:t>
            </a:r>
            <a:r>
              <a:rPr lang="ru-RU" sz="2400" b="1" kern="0" dirty="0">
                <a:solidFill>
                  <a:srgbClr val="000000"/>
                </a:solidFill>
                <a:latin typeface="Arial" panose="020B0704020202020204"/>
                <a:ea typeface="+mj-ea"/>
                <a:cs typeface="+mj-cs"/>
              </a:rPr>
              <a:t>:</a:t>
            </a:r>
            <a:endParaRPr lang="ru-RU" sz="1400" dirty="0">
              <a:latin typeface="Arial" panose="020B0704020202020204" pitchFamily="34" charset="0"/>
            </a:endParaRPr>
          </a:p>
        </p:txBody>
      </p:sp>
      <p:sp>
        <p:nvSpPr>
          <p:cNvPr id="10" name="Полилиния 9"/>
          <p:cNvSpPr>
            <a:spLocks noChangeArrowheads="1"/>
          </p:cNvSpPr>
          <p:nvPr/>
        </p:nvSpPr>
        <p:spPr bwMode="auto">
          <a:xfrm>
            <a:off x="2281239" y="1549400"/>
            <a:ext cx="1544637" cy="666750"/>
          </a:xfrm>
          <a:custGeom>
            <a:avLst/>
            <a:gdLst>
              <a:gd name="T0" fmla="*/ 464101 w 1610061"/>
              <a:gd name="T1" fmla="*/ 0 h 580913"/>
              <a:gd name="T2" fmla="*/ 54783 w 1610061"/>
              <a:gd name="T3" fmla="*/ 9409084 h 580913"/>
              <a:gd name="T4" fmla="*/ 135406 w 1610061"/>
              <a:gd name="T5" fmla="*/ 34275937 h 580913"/>
              <a:gd name="T6" fmla="*/ 0 60000 65536"/>
              <a:gd name="T7" fmla="*/ 0 60000 65536"/>
              <a:gd name="T8" fmla="*/ 0 60000 65536"/>
              <a:gd name="T9" fmla="*/ 0 w 1610061"/>
              <a:gd name="T10" fmla="*/ 0 h 580913"/>
              <a:gd name="T11" fmla="*/ 1610061 w 1610061"/>
              <a:gd name="T12" fmla="*/ 580913 h 5809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10061" h="580913">
                <a:moveTo>
                  <a:pt x="1610061" y="0"/>
                </a:moveTo>
                <a:cubicBezTo>
                  <a:pt x="1581411" y="216280"/>
                  <a:pt x="380104" y="59167"/>
                  <a:pt x="190052" y="150607"/>
                </a:cubicBezTo>
                <a:cubicBezTo>
                  <a:pt x="0" y="242047"/>
                  <a:pt x="66340" y="580913"/>
                  <a:pt x="469751" y="54864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Полилиния 10"/>
          <p:cNvSpPr>
            <a:spLocks noChangeArrowheads="1"/>
          </p:cNvSpPr>
          <p:nvPr/>
        </p:nvSpPr>
        <p:spPr bwMode="auto">
          <a:xfrm>
            <a:off x="4051300" y="2238375"/>
            <a:ext cx="463550" cy="0"/>
          </a:xfrm>
          <a:custGeom>
            <a:avLst/>
            <a:gdLst>
              <a:gd name="T0" fmla="*/ 0 w 462579"/>
              <a:gd name="T1" fmla="*/ 491580 w 462579"/>
              <a:gd name="T2" fmla="*/ 0 60000 65536"/>
              <a:gd name="T3" fmla="*/ 0 60000 65536"/>
              <a:gd name="T4" fmla="*/ 0 w 462579"/>
              <a:gd name="T5" fmla="*/ 462579 w 462579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462579">
                <a:moveTo>
                  <a:pt x="0" y="0"/>
                </a:moveTo>
                <a:lnTo>
                  <a:pt x="462579" y="0"/>
                </a:lnTo>
              </a:path>
            </a:pathLst>
          </a:custGeom>
          <a:noFill/>
          <a:ln w="1905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Полилиния 11"/>
          <p:cNvSpPr>
            <a:spLocks noChangeArrowheads="1"/>
          </p:cNvSpPr>
          <p:nvPr/>
        </p:nvSpPr>
        <p:spPr bwMode="auto">
          <a:xfrm>
            <a:off x="4238625" y="2281239"/>
            <a:ext cx="319088" cy="333375"/>
          </a:xfrm>
          <a:custGeom>
            <a:avLst/>
            <a:gdLst>
              <a:gd name="T0" fmla="*/ 306820 w 319144"/>
              <a:gd name="T1" fmla="*/ 0 h 365760"/>
              <a:gd name="T2" fmla="*/ 317520 w 319144"/>
              <a:gd name="T3" fmla="*/ 22670 h 365760"/>
              <a:gd name="T4" fmla="*/ 0 60000 65536"/>
              <a:gd name="T5" fmla="*/ 0 60000 65536"/>
              <a:gd name="T6" fmla="*/ 0 w 319144"/>
              <a:gd name="T7" fmla="*/ 0 h 365760"/>
              <a:gd name="T8" fmla="*/ 319144 w 319144"/>
              <a:gd name="T9" fmla="*/ 365760 h 3657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144" h="365760">
                <a:moveTo>
                  <a:pt x="308386" y="0"/>
                </a:moveTo>
                <a:cubicBezTo>
                  <a:pt x="0" y="154193"/>
                  <a:pt x="89648" y="319144"/>
                  <a:pt x="319144" y="36576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Полилиния 12"/>
          <p:cNvSpPr>
            <a:spLocks noChangeArrowheads="1"/>
          </p:cNvSpPr>
          <p:nvPr/>
        </p:nvSpPr>
        <p:spPr bwMode="auto">
          <a:xfrm>
            <a:off x="4238625" y="2678114"/>
            <a:ext cx="319088" cy="333375"/>
          </a:xfrm>
          <a:custGeom>
            <a:avLst/>
            <a:gdLst>
              <a:gd name="T0" fmla="*/ 306820 w 319144"/>
              <a:gd name="T1" fmla="*/ 0 h 365760"/>
              <a:gd name="T2" fmla="*/ 317520 w 319144"/>
              <a:gd name="T3" fmla="*/ 22670 h 365760"/>
              <a:gd name="T4" fmla="*/ 0 60000 65536"/>
              <a:gd name="T5" fmla="*/ 0 60000 65536"/>
              <a:gd name="T6" fmla="*/ 0 w 319144"/>
              <a:gd name="T7" fmla="*/ 0 h 365760"/>
              <a:gd name="T8" fmla="*/ 319144 w 319144"/>
              <a:gd name="T9" fmla="*/ 365760 h 3657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144" h="365760">
                <a:moveTo>
                  <a:pt x="308386" y="0"/>
                </a:moveTo>
                <a:cubicBezTo>
                  <a:pt x="0" y="154193"/>
                  <a:pt x="89648" y="319144"/>
                  <a:pt x="319144" y="36576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5"/>
          <p:cNvGrpSpPr/>
          <p:nvPr/>
        </p:nvGrpSpPr>
        <p:grpSpPr bwMode="auto">
          <a:xfrm>
            <a:off x="3548064" y="4219576"/>
            <a:ext cx="4484687" cy="663575"/>
            <a:chOff x="433" y="3902"/>
            <a:chExt cx="2825" cy="418"/>
          </a:xfrm>
        </p:grpSpPr>
        <p:sp>
          <p:nvSpPr>
            <p:cNvPr id="15" name="Text Box 56"/>
            <p:cNvSpPr txBox="1">
              <a:spLocks noChangeArrowheads="1"/>
            </p:cNvSpPr>
            <p:nvPr/>
          </p:nvSpPr>
          <p:spPr bwMode="auto">
            <a:xfrm>
              <a:off x="727" y="3969"/>
              <a:ext cx="2531" cy="291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solidFill>
                    <a:schemeClr val="bg1"/>
                  </a:solidFill>
                  <a:latin typeface="Arial" panose="020B0704020202020204" pitchFamily="34" charset="0"/>
                </a:rPr>
                <a:t>  Берегись проваливания!</a:t>
              </a:r>
              <a:endParaRPr lang="ru-RU" sz="2400" dirty="0">
                <a:solidFill>
                  <a:schemeClr val="bg1"/>
                </a:solidFill>
                <a:latin typeface="Arial" panose="020B0704020202020204" pitchFamily="34" charset="0"/>
              </a:endParaRPr>
            </a:p>
          </p:txBody>
        </p:sp>
        <p:sp>
          <p:nvSpPr>
            <p:cNvPr id="60430" name="Oval 57"/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7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ru-RU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!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Заголовок 1"/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  <a:endParaRPr lang="ru-RU" altLang="ru-RU"/>
          </a:p>
        </p:txBody>
      </p:sp>
      <p:sp>
        <p:nvSpPr>
          <p:cNvPr id="61443" name="Номер слайда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633114-62CE-4EFB-ABF6-2CCFE3877787}" type="slidenum">
              <a:rPr lang="ru-RU" altLang="ru-RU" sz="1400"/>
            </a:fld>
            <a:endParaRPr lang="ru-RU" altLang="ru-RU" sz="1400"/>
          </a:p>
        </p:txBody>
      </p:sp>
      <p:pic>
        <p:nvPicPr>
          <p:cNvPr id="2" name="Изображение 1" descr="Снимок экрана — 2026-09-23 в 09.42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20" y="0"/>
            <a:ext cx="83032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Изображение 2" descr="Снимок экрана — 2026-09-23 в 09.40.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0" y="476250"/>
            <a:ext cx="5080000" cy="6540500"/>
          </a:xfrm>
          <a:prstGeom prst="rect">
            <a:avLst/>
          </a:prstGeom>
        </p:spPr>
      </p:pic>
      <p:pic>
        <p:nvPicPr>
          <p:cNvPr id="4" name="Изображение 3" descr="Снимок экрана — 2026-09-23 в 09.44.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" y="772160"/>
            <a:ext cx="59436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Изображение 2" descr="Снимок экрана — 2026-09-23 в 09.28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800" y="-476250"/>
            <a:ext cx="6057900" cy="4406900"/>
          </a:xfrm>
          <a:prstGeom prst="rect">
            <a:avLst/>
          </a:prstGeom>
        </p:spPr>
      </p:pic>
      <p:pic>
        <p:nvPicPr>
          <p:cNvPr id="4" name="Изображение 3" descr="Снимок экрана — 2026-09-23 в 09.28.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0" y="-476250"/>
            <a:ext cx="6311900" cy="4216400"/>
          </a:xfrm>
          <a:prstGeom prst="rect">
            <a:avLst/>
          </a:prstGeom>
        </p:spPr>
      </p:pic>
      <p:pic>
        <p:nvPicPr>
          <p:cNvPr id="5" name="Изображение 4" descr="Снимок экрана — 2026-09-23 в 09.28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2603500"/>
            <a:ext cx="5511800" cy="425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3034</Words>
  <Application>WPS Presentation</Application>
  <PresentationFormat>Широкоэкранный</PresentationFormat>
  <Paragraphs>315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Courier New</vt:lpstr>
      <vt:lpstr>Arial Black</vt:lpstr>
      <vt:lpstr>Aptos Display</vt:lpstr>
      <vt:lpstr>Helvetica Neue</vt:lpstr>
      <vt:lpstr>Aptos</vt:lpstr>
      <vt:lpstr>Microsoft YaHei</vt:lpstr>
      <vt:lpstr>汉仪旗黑</vt:lpstr>
      <vt:lpstr>Arial Unicode MS</vt:lpstr>
      <vt:lpstr>Calibri</vt:lpstr>
      <vt:lpstr>Times New Roman</vt:lpstr>
      <vt:lpstr>Times New Roman</vt:lpstr>
      <vt:lpstr>Arial</vt:lpstr>
      <vt:lpstr>宋体-简</vt:lpstr>
      <vt:lpstr>Тема Office</vt:lpstr>
      <vt:lpstr>PowerPoint 演示文稿</vt:lpstr>
      <vt:lpstr>PowerPoint 演示文稿</vt:lpstr>
      <vt:lpstr>PowerPoint 演示文稿</vt:lpstr>
      <vt:lpstr>Условный оператор</vt:lpstr>
      <vt:lpstr>Условный оператор: неполная форма</vt:lpstr>
      <vt:lpstr>Условный оператор</vt:lpstr>
      <vt:lpstr>Знаки отношений</vt:lpstr>
      <vt:lpstr>PowerPoint 演示文稿</vt:lpstr>
      <vt:lpstr>PowerPoint 演示文稿</vt:lpstr>
      <vt:lpstr>Вложенные условные операторы</vt:lpstr>
      <vt:lpstr>Задачи</vt:lpstr>
      <vt:lpstr>Задачи</vt:lpstr>
      <vt:lpstr>Задачи</vt:lpstr>
      <vt:lpstr>Задачи</vt:lpstr>
      <vt:lpstr>Сложные условия</vt:lpstr>
      <vt:lpstr>Задачи</vt:lpstr>
      <vt:lpstr>Множественный выбор</vt:lpstr>
      <vt:lpstr>Множественный выбор</vt:lpstr>
      <vt:lpstr>PowerPoint 演示文稿</vt:lpstr>
      <vt:lpstr>Множественный выбор</vt:lpstr>
      <vt:lpstr>PowerPoint 演示文稿</vt:lpstr>
      <vt:lpstr>PowerPoint 演示文稿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YueLiang</dc:creator>
  <cp:lastModifiedBy>artem</cp:lastModifiedBy>
  <cp:revision>5</cp:revision>
  <dcterms:created xsi:type="dcterms:W3CDTF">2026-09-23T06:39:19Z</dcterms:created>
  <dcterms:modified xsi:type="dcterms:W3CDTF">2026-09-23T06:39:19Z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1049-12.1.28496.28496</vt:lpwstr>
  </property>
  <property fmtid="{D5CDD505-2E9C-101B-9397-08002B2CF9AE}" pid="3" name="ICV">
    <vt:lpwstr>AB824A8C9D00688FC059B36AF46811F6_43</vt:lpwstr>
  </property>
</Properties>
</file>