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453" r:id="rId5"/>
    <p:sldId id="455" r:id="rId6"/>
    <p:sldId id="456" r:id="rId7"/>
    <p:sldId id="458" r:id="rId8"/>
    <p:sldId id="517" r:id="rId9"/>
    <p:sldId id="516" r:id="rId10"/>
    <p:sldId id="457" r:id="rId11"/>
    <p:sldId id="511" r:id="rId12"/>
    <p:sldId id="512" r:id="rId13"/>
    <p:sldId id="459" r:id="rId14"/>
    <p:sldId id="513" r:id="rId15"/>
    <p:sldId id="514" r:id="rId16"/>
    <p:sldId id="515" r:id="rId17"/>
    <p:sldId id="460" r:id="rId18"/>
    <p:sldId id="461" r:id="rId19"/>
    <p:sldId id="462" r:id="rId20"/>
    <p:sldId id="518" r:id="rId21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AAF63-8142-6806-0085-D4E152521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63F25A-CF69-BC6F-C734-44D66D30C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CB683E-FEA8-9C2B-E5F5-74AA01FB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C18B15-6E98-3010-945A-4426EF63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955BE1-E1B7-14F9-4C9B-A9BC6801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22559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3A885D-13BF-6941-A13F-C23EB01D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4F45BA-38B7-DC56-6E2A-7EDA28116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8BF895-8148-087C-9227-CCFF03ED7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1C8E0B-10EE-6040-6C16-67D43D5A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311B3A-E5CB-21EA-4156-A2231C72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5856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A1EB67-1268-605C-4C4F-CEDEF06F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CC5F4A-4B31-9DD3-A80E-A7AB9544B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A8E6AA-D324-41F7-7A2E-82E860B00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D451EE-D55B-8AD0-A3D9-EFF5CA5D0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85A884-8518-502A-3DA2-D919326D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2598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0A9002-396E-A5D9-F0EC-64046F21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BAEA3A-CA1B-23CE-4F75-6E519318E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C3FC16-ECA8-DD0B-076D-F387A2170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4EAAC5-00AD-35B1-EEC8-2CA2CA4D9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C8FC-1A9C-D939-2684-FE479B7C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BB178E-DAC0-0808-4A4E-3559121B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58846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3AB11-864C-F726-233A-7A1DD9A8E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3C34EA-7F5A-5C90-D73A-78C5D149C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0F8366F-948D-8CD3-DB70-EFCCE2F56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099B67-C2C2-80F8-03E0-9E4AA254C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65E503-22FE-4762-E978-EABB4F8C9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AD163D-B3CE-1C15-38D1-AE8C33260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8AD48F4-2ACC-4C27-7690-ACCBE50C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BE624D-2CE9-EC4E-97B9-28EBE652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7459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80DC0-0E0F-BC4B-DCA3-0128A75F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ED4A14B-573D-301A-8539-0D1514FF7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37ADE0-E39A-EBA8-4DC5-E6A19322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337DA6C-F824-A086-1943-4FF5923A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2187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5B9A5E-0A3D-B3F5-3CAD-5F428C84E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E86B07-CE78-6BC4-A927-0AB4429B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29536D-C5AD-F8A4-45E2-4040E7CA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6389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76A925-E121-BE60-2D28-205FD0C6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1F44E-2545-2190-C512-10710A287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614CD1-3CE6-9BA1-142E-81EBBC73E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F1C36B-A3A6-7CE1-041F-AED3F517C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CC4F48-2694-7E3B-858C-8C7AE1DBA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41CB7A-D329-C79E-211A-E6D285450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50365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A2EF1-2E2D-B8A7-A1C7-9BE93FC8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4CA9F2F-A6C0-82D6-A1E3-618CFCCE9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341A0C-C886-373B-2CB3-C16E39F50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001B762-193A-641A-24A4-45B7284C4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68796D-1361-5538-B666-B18D5914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23EA13-1058-A90A-8390-5920BAC92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4253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26882-F497-4473-59F1-57C46A33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970F09-A507-12CB-E5BC-9CBF8656D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BCF84A-28EE-BDDD-CEC7-C6CA6AE3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3FDBC1-2848-345E-C7E4-BC88A7DE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6A1438-9667-11BC-849A-4599EAC5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0091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FC2DF09-6292-A837-DEB3-D28E73EFB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80D6A9-A4B4-8C4A-73F2-FF6738A05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677D4B-8977-A17A-7DB2-3DA8967A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962933-57A2-C016-7616-F18DA25C1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CED268-3BBA-1388-01C1-18B900AC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63452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29093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36156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28127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36644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27845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9131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910617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53080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38330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32089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457476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469253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581911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6AB3EBFD-B742-7F6B-059F-C72FB012E2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1651" y="795338"/>
            <a:ext cx="11286067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ru-KZ" sz="1800"/>
          </a:p>
        </p:txBody>
      </p:sp>
      <p:sp>
        <p:nvSpPr>
          <p:cNvPr id="11" name="Заголовок 1"/>
          <p:cNvSpPr>
            <a:spLocks noGrp="1"/>
          </p:cNvSpPr>
          <p:nvPr>
            <p:ph type="title"/>
          </p:nvPr>
        </p:nvSpPr>
        <p:spPr>
          <a:xfrm>
            <a:off x="414291" y="301272"/>
            <a:ext cx="11168109" cy="471086"/>
          </a:xfrm>
        </p:spPr>
        <p:txBody>
          <a:bodyPr/>
          <a:lstStyle>
            <a:lvl1pPr algn="l">
              <a:defRPr sz="3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0E162-DA0E-A1B8-DE49-7271D2E921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3DACD-8CA4-78D0-97C9-ABB2E62922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CEBF74-B16E-867F-39FB-7D7E0B582B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38733" y="-20638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07F97453-C5BC-4DA7-A5CB-30AB139D5631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0491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74275-969A-7814-A9E9-321C58144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F30FD9-3E1F-CB33-DDA9-711D337B1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028611-47E8-1C9C-A160-EF653ED7C4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B9349-8462-4EE3-B756-D26709A1F6BC}" type="datetimeFigureOut">
              <a:rPr lang="ru-KZ" smtClean="0"/>
              <a:t>22.09.2026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A9263E-9E70-C064-9F4F-0ED1B1CDC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9656D4-F2EE-2B4A-62AA-929930739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785CB-E25D-4D05-9855-95BBDC14A98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00443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3" r:id="rId23"/>
    <p:sldLayoutId id="2147483674" r:id="rId24"/>
    <p:sldLayoutId id="2147483675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CC3157-4993-513A-D222-EB729C96FD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167B67-910C-1A50-BDA9-8371188D01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1619A4-5804-004F-1597-9BCDB3D7B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66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A5FA2-587C-E993-5D45-E87374E5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45915A-92C4-A1CE-A707-E4DD6551E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34D20C-7CE5-7A3A-F547-B194093A9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74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B9307-AB8F-B82D-1F2C-CAB95873E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D4F7666-F3DA-0AA4-2090-468DA970A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62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Заголовок 4">
            <a:extLst>
              <a:ext uri="{FF2B5EF4-FFF2-40B4-BE49-F238E27FC236}">
                <a16:creationId xmlns:a16="http://schemas.microsoft.com/office/drawing/2014/main" id="{848D7B95-FDCB-B8ED-CF67-C20F8209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Условный оператор</a:t>
            </a:r>
          </a:p>
        </p:txBody>
      </p:sp>
      <p:sp>
        <p:nvSpPr>
          <p:cNvPr id="46083" name="Номер слайда 3">
            <a:extLst>
              <a:ext uri="{FF2B5EF4-FFF2-40B4-BE49-F238E27FC236}">
                <a16:creationId xmlns:a16="http://schemas.microsoft.com/office/drawing/2014/main" id="{B9A16F8A-479B-03CC-CC68-1594A0F3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AA8D59-27EC-497E-BD06-92D025FA8D65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ru-RU" altLang="ru-RU" sz="1400"/>
          </a:p>
        </p:txBody>
      </p:sp>
      <p:sp>
        <p:nvSpPr>
          <p:cNvPr id="46084" name="Прямоугольник 6">
            <a:extLst>
              <a:ext uri="{FF2B5EF4-FFF2-40B4-BE49-F238E27FC236}">
                <a16:creationId xmlns:a16="http://schemas.microsoft.com/office/drawing/2014/main" id="{E32052F6-37D2-095D-6336-275DC4017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806451"/>
            <a:ext cx="84566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0363" indent="-3603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Задача: </a:t>
            </a:r>
            <a:r>
              <a:rPr lang="ru-RU" altLang="ru-RU" sz="2400" b="1">
                <a:solidFill>
                  <a:srgbClr val="333399"/>
                </a:solidFill>
              </a:rPr>
              <a:t>изменить порядок действий</a:t>
            </a:r>
            <a:r>
              <a:rPr lang="ru-RU" altLang="ru-RU" sz="2400"/>
              <a:t> в зависимости от выполнения некоторого условия.</a:t>
            </a:r>
          </a:p>
        </p:txBody>
      </p:sp>
      <p:grpSp>
        <p:nvGrpSpPr>
          <p:cNvPr id="2" name="Group 30">
            <a:extLst>
              <a:ext uri="{FF2B5EF4-FFF2-40B4-BE49-F238E27FC236}">
                <a16:creationId xmlns:a16="http://schemas.microsoft.com/office/drawing/2014/main" id="{A8EA3654-C898-F1A1-C77C-5C4DD47CDD1B}"/>
              </a:ext>
            </a:extLst>
          </p:cNvPr>
          <p:cNvGrpSpPr>
            <a:grpSpLocks/>
          </p:cNvGrpSpPr>
          <p:nvPr/>
        </p:nvGrpSpPr>
        <p:grpSpPr bwMode="auto">
          <a:xfrm>
            <a:off x="2058989" y="1927225"/>
            <a:ext cx="5324475" cy="3594100"/>
            <a:chOff x="471" y="1261"/>
            <a:chExt cx="3354" cy="226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E420A4F-F437-5CB8-BD06-1DB0BDE44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" y="2075"/>
              <a:ext cx="998" cy="370"/>
            </a:xfrm>
            <a:prstGeom prst="rect">
              <a:avLst/>
            </a:prstGeom>
            <a:solidFill>
              <a:srgbClr val="E6E6FF"/>
            </a:solidFill>
            <a:ln w="12700">
              <a:noFill/>
              <a:miter lim="800000"/>
              <a:headEnd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 dirty="0">
                  <a:latin typeface="Courier New" pitchFamily="49" charset="0"/>
                </a:rPr>
                <a:t>M</a:t>
              </a:r>
              <a:r>
                <a:rPr lang="en-US" sz="2200" b="1" dirty="0">
                  <a:latin typeface="Arial" charset="0"/>
                </a:rPr>
                <a:t> </a:t>
              </a:r>
              <a:r>
                <a:rPr lang="en-US" sz="2200" b="1" dirty="0">
                  <a:latin typeface="Courier New" pitchFamily="49" charset="0"/>
                </a:rPr>
                <a:t>=</a:t>
              </a:r>
              <a:r>
                <a:rPr lang="en-US" sz="2200" b="1" dirty="0">
                  <a:latin typeface="Arial" charset="0"/>
                </a:rPr>
                <a:t> </a:t>
              </a:r>
              <a:r>
                <a:rPr lang="en-US" sz="2200" b="1" dirty="0">
                  <a:latin typeface="Courier New" pitchFamily="49" charset="0"/>
                </a:rPr>
                <a:t>a;</a:t>
              </a:r>
              <a:endParaRPr lang="ru-RU" sz="2200" b="1" dirty="0">
                <a:latin typeface="Courier New" pitchFamily="49" charset="0"/>
              </a:endParaRPr>
            </a:p>
          </p:txBody>
        </p:sp>
        <p:sp>
          <p:nvSpPr>
            <p:cNvPr id="12" name="AutoShape 16">
              <a:extLst>
                <a:ext uri="{FF2B5EF4-FFF2-40B4-BE49-F238E27FC236}">
                  <a16:creationId xmlns:a16="http://schemas.microsoft.com/office/drawing/2014/main" id="{6A18F601-C8D4-BDFD-0E2A-BDCC72CB6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6" y="1460"/>
              <a:ext cx="1112" cy="530"/>
            </a:xfrm>
            <a:prstGeom prst="flowChartDecision">
              <a:avLst/>
            </a:prstGeom>
            <a:solidFill>
              <a:srgbClr val="FFFF99"/>
            </a:solidFill>
            <a:ln w="12700">
              <a:noFill/>
              <a:miter lim="800000"/>
              <a:headEnd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>
                  <a:latin typeface="Courier New" pitchFamily="49" charset="0"/>
                </a:rPr>
                <a:t>a &gt; b?</a:t>
              </a:r>
              <a:endParaRPr lang="ru-RU" sz="2200" b="1">
                <a:latin typeface="Courier New" pitchFamily="49" charset="0"/>
              </a:endParaRPr>
            </a:p>
          </p:txBody>
        </p:sp>
        <p:sp>
          <p:nvSpPr>
            <p:cNvPr id="46094" name="Line 17">
              <a:extLst>
                <a:ext uri="{FF2B5EF4-FFF2-40B4-BE49-F238E27FC236}">
                  <a16:creationId xmlns:a16="http://schemas.microsoft.com/office/drawing/2014/main" id="{D70CB524-2D53-43EA-3B40-FCE7740A5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" y="1261"/>
              <a:ext cx="0" cy="2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14" name="Rectangle 18">
              <a:extLst>
                <a:ext uri="{FF2B5EF4-FFF2-40B4-BE49-F238E27FC236}">
                  <a16:creationId xmlns:a16="http://schemas.microsoft.com/office/drawing/2014/main" id="{74D531A9-528D-EF80-8F49-D40725CE3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" y="2083"/>
              <a:ext cx="998" cy="370"/>
            </a:xfrm>
            <a:prstGeom prst="rect">
              <a:avLst/>
            </a:prstGeom>
            <a:solidFill>
              <a:srgbClr val="E6E6FF"/>
            </a:solidFill>
            <a:ln w="12700">
              <a:noFill/>
              <a:miter lim="800000"/>
              <a:headEnd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 dirty="0">
                  <a:latin typeface="Courier New" pitchFamily="49" charset="0"/>
                </a:rPr>
                <a:t>M</a:t>
              </a:r>
              <a:r>
                <a:rPr lang="en-US" sz="2200" b="1" dirty="0">
                  <a:latin typeface="Arial" charset="0"/>
                </a:rPr>
                <a:t> </a:t>
              </a:r>
              <a:r>
                <a:rPr lang="en-US" sz="2200" b="1" dirty="0">
                  <a:latin typeface="Courier New" pitchFamily="49" charset="0"/>
                </a:rPr>
                <a:t>=</a:t>
              </a:r>
              <a:r>
                <a:rPr lang="en-US" sz="2200" b="1" dirty="0">
                  <a:latin typeface="Arial" charset="0"/>
                </a:rPr>
                <a:t> </a:t>
              </a:r>
              <a:r>
                <a:rPr lang="en-US" sz="2200" b="1" dirty="0">
                  <a:latin typeface="Courier New" pitchFamily="49" charset="0"/>
                </a:rPr>
                <a:t>b;</a:t>
              </a:r>
              <a:endParaRPr lang="ru-RU" sz="2200" b="1" dirty="0">
                <a:latin typeface="Courier New" pitchFamily="49" charset="0"/>
              </a:endParaRPr>
            </a:p>
          </p:txBody>
        </p:sp>
        <p:sp>
          <p:nvSpPr>
            <p:cNvPr id="46096" name="Line 20">
              <a:extLst>
                <a:ext uri="{FF2B5EF4-FFF2-40B4-BE49-F238E27FC236}">
                  <a16:creationId xmlns:a16="http://schemas.microsoft.com/office/drawing/2014/main" id="{7DAD7304-CB76-84DC-A1C6-81F73CD97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6" y="3323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6097" name="Freeform 21">
              <a:extLst>
                <a:ext uri="{FF2B5EF4-FFF2-40B4-BE49-F238E27FC236}">
                  <a16:creationId xmlns:a16="http://schemas.microsoft.com/office/drawing/2014/main" id="{1B7807C9-BAF7-7411-5B9B-340EEE40D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1722"/>
              <a:ext cx="623" cy="361"/>
            </a:xfrm>
            <a:custGeom>
              <a:avLst/>
              <a:gdLst>
                <a:gd name="T0" fmla="*/ 0 w 623"/>
                <a:gd name="T1" fmla="*/ 0 h 524"/>
                <a:gd name="T2" fmla="*/ 623 w 623"/>
                <a:gd name="T3" fmla="*/ 0 h 524"/>
                <a:gd name="T4" fmla="*/ 623 w 623"/>
                <a:gd name="T5" fmla="*/ 1 h 524"/>
                <a:gd name="T6" fmla="*/ 0 60000 65536"/>
                <a:gd name="T7" fmla="*/ 0 60000 65536"/>
                <a:gd name="T8" fmla="*/ 0 60000 65536"/>
                <a:gd name="T9" fmla="*/ 0 w 623"/>
                <a:gd name="T10" fmla="*/ 0 h 524"/>
                <a:gd name="T11" fmla="*/ 623 w 623"/>
                <a:gd name="T12" fmla="*/ 524 h 5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3" h="524">
                  <a:moveTo>
                    <a:pt x="0" y="0"/>
                  </a:moveTo>
                  <a:lnTo>
                    <a:pt x="623" y="0"/>
                  </a:lnTo>
                  <a:lnTo>
                    <a:pt x="623" y="52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6098" name="Freeform 22">
              <a:extLst>
                <a:ext uri="{FF2B5EF4-FFF2-40B4-BE49-F238E27FC236}">
                  <a16:creationId xmlns:a16="http://schemas.microsoft.com/office/drawing/2014/main" id="{A1E91011-4C36-934E-5948-505A11AD8A2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54" y="1722"/>
              <a:ext cx="623" cy="361"/>
            </a:xfrm>
            <a:custGeom>
              <a:avLst/>
              <a:gdLst>
                <a:gd name="T0" fmla="*/ 0 w 623"/>
                <a:gd name="T1" fmla="*/ 0 h 524"/>
                <a:gd name="T2" fmla="*/ 623 w 623"/>
                <a:gd name="T3" fmla="*/ 0 h 524"/>
                <a:gd name="T4" fmla="*/ 623 w 623"/>
                <a:gd name="T5" fmla="*/ 1 h 524"/>
                <a:gd name="T6" fmla="*/ 0 60000 65536"/>
                <a:gd name="T7" fmla="*/ 0 60000 65536"/>
                <a:gd name="T8" fmla="*/ 0 60000 65536"/>
                <a:gd name="T9" fmla="*/ 0 w 623"/>
                <a:gd name="T10" fmla="*/ 0 h 524"/>
                <a:gd name="T11" fmla="*/ 623 w 623"/>
                <a:gd name="T12" fmla="*/ 524 h 5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3" h="524">
                  <a:moveTo>
                    <a:pt x="0" y="0"/>
                  </a:moveTo>
                  <a:lnTo>
                    <a:pt x="623" y="0"/>
                  </a:lnTo>
                  <a:lnTo>
                    <a:pt x="623" y="52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6099" name="Freeform 23">
              <a:extLst>
                <a:ext uri="{FF2B5EF4-FFF2-40B4-BE49-F238E27FC236}">
                  <a16:creationId xmlns:a16="http://schemas.microsoft.com/office/drawing/2014/main" id="{43E80EF1-E427-0A1D-7A98-85FBFF4DA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444"/>
              <a:ext cx="2361" cy="343"/>
            </a:xfrm>
            <a:custGeom>
              <a:avLst/>
              <a:gdLst>
                <a:gd name="T0" fmla="*/ 0 w 2409"/>
                <a:gd name="T1" fmla="*/ 0 h 343"/>
                <a:gd name="T2" fmla="*/ 0 w 2409"/>
                <a:gd name="T3" fmla="*/ 343 h 343"/>
                <a:gd name="T4" fmla="*/ 219 w 2409"/>
                <a:gd name="T5" fmla="*/ 343 h 343"/>
                <a:gd name="T6" fmla="*/ 219 w 2409"/>
                <a:gd name="T7" fmla="*/ 5 h 3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9"/>
                <a:gd name="T13" fmla="*/ 0 h 343"/>
                <a:gd name="T14" fmla="*/ 2409 w 2409"/>
                <a:gd name="T15" fmla="*/ 343 h 3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9" h="343">
                  <a:moveTo>
                    <a:pt x="0" y="0"/>
                  </a:moveTo>
                  <a:lnTo>
                    <a:pt x="0" y="343"/>
                  </a:lnTo>
                  <a:lnTo>
                    <a:pt x="2409" y="343"/>
                  </a:lnTo>
                  <a:lnTo>
                    <a:pt x="2409" y="5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6100" name="Line 24">
              <a:extLst>
                <a:ext uri="{FF2B5EF4-FFF2-40B4-BE49-F238E27FC236}">
                  <a16:creationId xmlns:a16="http://schemas.microsoft.com/office/drawing/2014/main" id="{F398166C-E920-A233-B4C4-0ADEBEA79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9" y="2557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6101" name="Line 25">
              <a:extLst>
                <a:ext uri="{FF2B5EF4-FFF2-40B4-BE49-F238E27FC236}">
                  <a16:creationId xmlns:a16="http://schemas.microsoft.com/office/drawing/2014/main" id="{F2EDB611-C8AF-DE15-F1A9-348AB1A6D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0" y="2572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6102" name="Line 26">
              <a:extLst>
                <a:ext uri="{FF2B5EF4-FFF2-40B4-BE49-F238E27FC236}">
                  <a16:creationId xmlns:a16="http://schemas.microsoft.com/office/drawing/2014/main" id="{00D4FE08-8147-498E-1900-3166104B0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2794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6103" name="Oval 27">
              <a:extLst>
                <a:ext uri="{FF2B5EF4-FFF2-40B4-BE49-F238E27FC236}">
                  <a16:creationId xmlns:a16="http://schemas.microsoft.com/office/drawing/2014/main" id="{6C6BA7FB-C329-C338-F33F-F034B93C8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2772"/>
              <a:ext cx="34" cy="34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6104" name="Text Box 28">
              <a:extLst>
                <a:ext uri="{FF2B5EF4-FFF2-40B4-BE49-F238E27FC236}">
                  <a16:creationId xmlns:a16="http://schemas.microsoft.com/office/drawing/2014/main" id="{D5874A43-8DCC-2A9E-B0F3-27964B4F3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443"/>
              <a:ext cx="4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ru-RU" altLang="ru-RU" sz="1800"/>
                <a:t>да</a:t>
              </a:r>
            </a:p>
          </p:txBody>
        </p:sp>
        <p:sp>
          <p:nvSpPr>
            <p:cNvPr id="46105" name="Text Box 29">
              <a:extLst>
                <a:ext uri="{FF2B5EF4-FFF2-40B4-BE49-F238E27FC236}">
                  <a16:creationId xmlns:a16="http://schemas.microsoft.com/office/drawing/2014/main" id="{D647231E-907D-C29C-0A96-9ACE78FCD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455"/>
              <a:ext cx="4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ru-RU" altLang="ru-RU" sz="1800"/>
                <a:t>нет</a:t>
              </a:r>
            </a:p>
          </p:txBody>
        </p:sp>
        <p:sp>
          <p:nvSpPr>
            <p:cNvPr id="26" name="AutoShape 9">
              <a:extLst>
                <a:ext uri="{FF2B5EF4-FFF2-40B4-BE49-F238E27FC236}">
                  <a16:creationId xmlns:a16="http://schemas.microsoft.com/office/drawing/2014/main" id="{E6714AFF-8AA1-8294-5EB0-DE47A210D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6" y="2990"/>
              <a:ext cx="1320" cy="336"/>
            </a:xfrm>
            <a:prstGeom prst="flowChartInputOutput">
              <a:avLst/>
            </a:prstGeom>
            <a:solidFill>
              <a:srgbClr val="E6E6FF"/>
            </a:solidFill>
            <a:ln w="12700">
              <a:noFill/>
              <a:miter lim="800000"/>
              <a:headEnd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ru-RU" sz="2200" b="1">
                  <a:latin typeface="Courier New" pitchFamily="49" charset="0"/>
                  <a:cs typeface="Courier New" pitchFamily="49" charset="0"/>
                </a:rPr>
                <a:t>вывод </a:t>
              </a:r>
              <a:r>
                <a:rPr lang="en-US" sz="2200" b="1">
                  <a:latin typeface="Courier New" pitchFamily="49" charset="0"/>
                  <a:cs typeface="Courier New" pitchFamily="49" charset="0"/>
                </a:rPr>
                <a:t>M</a:t>
              </a:r>
              <a:endParaRPr lang="ru-RU" sz="2200" b="1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27" name="Rectangle 31">
            <a:extLst>
              <a:ext uri="{FF2B5EF4-FFF2-40B4-BE49-F238E27FC236}">
                <a16:creationId xmlns:a16="http://schemas.microsoft.com/office/drawing/2014/main" id="{C7B4B0B7-E787-2F97-2A95-614FBF2C6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4" y="2101850"/>
            <a:ext cx="5597525" cy="2401888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8" name="AutoShape 53">
            <a:extLst>
              <a:ext uri="{FF2B5EF4-FFF2-40B4-BE49-F238E27FC236}">
                <a16:creationId xmlns:a16="http://schemas.microsoft.com/office/drawing/2014/main" id="{1E9208C9-F94F-6A10-2D94-8AE0430CB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7338" y="1346200"/>
            <a:ext cx="1935162" cy="1358900"/>
          </a:xfrm>
          <a:prstGeom prst="wedgeRoundRectCallout">
            <a:avLst>
              <a:gd name="adj1" fmla="val -89918"/>
              <a:gd name="adj2" fmla="val 16948"/>
              <a:gd name="adj3" fmla="val 16667"/>
            </a:avLst>
          </a:prstGeom>
          <a:solidFill>
            <a:srgbClr val="E6E6FF"/>
          </a:solidFill>
          <a:ln w="12700">
            <a:noFill/>
            <a:miter lim="800000"/>
            <a:headEnd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defRPr/>
            </a:pPr>
            <a:r>
              <a:rPr lang="ru-RU" sz="2400">
                <a:latin typeface="Arial" charset="0"/>
              </a:rPr>
              <a:t>полная форма ветвления</a:t>
            </a:r>
          </a:p>
        </p:txBody>
      </p:sp>
      <p:grpSp>
        <p:nvGrpSpPr>
          <p:cNvPr id="3" name="Group 55">
            <a:extLst>
              <a:ext uri="{FF2B5EF4-FFF2-40B4-BE49-F238E27FC236}">
                <a16:creationId xmlns:a16="http://schemas.microsoft.com/office/drawing/2014/main" id="{F1698AA7-3456-2ADF-FC48-F054BBD3821F}"/>
              </a:ext>
            </a:extLst>
          </p:cNvPr>
          <p:cNvGrpSpPr>
            <a:grpSpLocks/>
          </p:cNvGrpSpPr>
          <p:nvPr/>
        </p:nvGrpSpPr>
        <p:grpSpPr bwMode="auto">
          <a:xfrm>
            <a:off x="7689850" y="3141664"/>
            <a:ext cx="2584450" cy="663575"/>
            <a:chOff x="433" y="3902"/>
            <a:chExt cx="1628" cy="418"/>
          </a:xfrm>
        </p:grpSpPr>
        <p:sp>
          <p:nvSpPr>
            <p:cNvPr id="31" name="Text Box 56">
              <a:extLst>
                <a:ext uri="{FF2B5EF4-FFF2-40B4-BE49-F238E27FC236}">
                  <a16:creationId xmlns:a16="http://schemas.microsoft.com/office/drawing/2014/main" id="{8317F5AD-4CA6-5B95-4C61-39BB0E51E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3969"/>
              <a:ext cx="1334" cy="296"/>
            </a:xfrm>
            <a:prstGeom prst="rect">
              <a:avLst/>
            </a:prstGeom>
            <a:solidFill>
              <a:srgbClr val="D1D1FF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ru-RU" sz="2400" dirty="0">
                  <a:latin typeface="Arial" charset="0"/>
                </a:rPr>
                <a:t>  Если  </a:t>
              </a:r>
              <a:r>
                <a:rPr lang="en-US" sz="2400" dirty="0">
                  <a:latin typeface="Arial" charset="0"/>
                </a:rPr>
                <a:t>a = b?</a:t>
              </a:r>
              <a:endParaRPr lang="ru-RU" sz="2400" dirty="0">
                <a:latin typeface="Arial" charset="0"/>
              </a:endParaRPr>
            </a:p>
          </p:txBody>
        </p:sp>
        <p:sp>
          <p:nvSpPr>
            <p:cNvPr id="46091" name="Oval 57">
              <a:extLst>
                <a:ext uri="{FF2B5EF4-FFF2-40B4-BE49-F238E27FC236}">
                  <a16:creationId xmlns:a16="http://schemas.microsoft.com/office/drawing/2014/main" id="{E4B0B0DD-6FC8-E876-F632-5F2F689B3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?</a:t>
              </a:r>
              <a:endParaRPr lang="ru-RU" altLang="ru-RU" sz="440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D6BF220-F0E8-5FEF-EE5C-3F49C146EF3A}"/>
              </a:ext>
            </a:extLst>
          </p:cNvPr>
          <p:cNvSpPr/>
          <p:nvPr/>
        </p:nvSpPr>
        <p:spPr>
          <a:xfrm>
            <a:off x="7286626" y="4267201"/>
            <a:ext cx="2911475" cy="200977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sz="2800" b="1" dirty="0">
                <a:latin typeface="Courier New" pitchFamily="49" charset="0"/>
              </a:rPr>
              <a:t> ( a &gt; b )</a:t>
            </a: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itchFamily="49" charset="0"/>
              </a:rPr>
              <a:t>  M = a;   </a:t>
            </a: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solidFill>
                  <a:srgbClr val="0000FF"/>
                </a:solidFill>
                <a:latin typeface="Courier New" pitchFamily="49" charset="0"/>
              </a:rPr>
              <a:t>else</a:t>
            </a: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itchFamily="49" charset="0"/>
              </a:rPr>
              <a:t>  M = b;</a:t>
            </a:r>
            <a:endParaRPr lang="ru-RU" sz="28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0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Заголовок 1">
            <a:extLst>
              <a:ext uri="{FF2B5EF4-FFF2-40B4-BE49-F238E27FC236}">
                <a16:creationId xmlns:a16="http://schemas.microsoft.com/office/drawing/2014/main" id="{8C9AB6A0-937F-9D13-B322-B2D3C572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Условный оператор: неполная форма</a:t>
            </a:r>
          </a:p>
        </p:txBody>
      </p:sp>
      <p:sp>
        <p:nvSpPr>
          <p:cNvPr id="47107" name="Номер слайда 2">
            <a:extLst>
              <a:ext uri="{FF2B5EF4-FFF2-40B4-BE49-F238E27FC236}">
                <a16:creationId xmlns:a16="http://schemas.microsoft.com/office/drawing/2014/main" id="{55C0813B-9C63-1AF1-DCE0-E94E165F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FDC3F5-E191-4E2D-A195-C291875A055D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ru-RU" altLang="ru-RU" sz="1400"/>
          </a:p>
        </p:txBody>
      </p:sp>
      <p:grpSp>
        <p:nvGrpSpPr>
          <p:cNvPr id="47108" name="Group 30">
            <a:extLst>
              <a:ext uri="{FF2B5EF4-FFF2-40B4-BE49-F238E27FC236}">
                <a16:creationId xmlns:a16="http://schemas.microsoft.com/office/drawing/2014/main" id="{25E87384-8A2C-A383-90D6-C9AB34443F40}"/>
              </a:ext>
            </a:extLst>
          </p:cNvPr>
          <p:cNvGrpSpPr>
            <a:grpSpLocks/>
          </p:cNvGrpSpPr>
          <p:nvPr/>
        </p:nvGrpSpPr>
        <p:grpSpPr bwMode="auto">
          <a:xfrm>
            <a:off x="2058988" y="896938"/>
            <a:ext cx="4127500" cy="4500562"/>
            <a:chOff x="471" y="690"/>
            <a:chExt cx="2600" cy="2835"/>
          </a:xfrm>
        </p:grpSpPr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CC1912E1-1D68-45E8-D63D-C4AD7D63E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" y="2075"/>
              <a:ext cx="998" cy="370"/>
            </a:xfrm>
            <a:prstGeom prst="rect">
              <a:avLst/>
            </a:prstGeom>
            <a:solidFill>
              <a:srgbClr val="E6E6FF"/>
            </a:solidFill>
            <a:ln w="12700">
              <a:noFill/>
              <a:miter lim="800000"/>
              <a:headEnd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 dirty="0">
                  <a:latin typeface="Courier New" pitchFamily="49" charset="0"/>
                </a:rPr>
                <a:t>M</a:t>
              </a:r>
              <a:r>
                <a:rPr lang="en-US" sz="2200" b="1" dirty="0">
                  <a:latin typeface="Arial" charset="0"/>
                </a:rPr>
                <a:t> </a:t>
              </a:r>
              <a:r>
                <a:rPr lang="en-US" sz="2200" b="1" dirty="0">
                  <a:latin typeface="Courier New" pitchFamily="49" charset="0"/>
                </a:rPr>
                <a:t>=</a:t>
              </a:r>
              <a:r>
                <a:rPr lang="en-US" sz="2200" b="1" dirty="0">
                  <a:latin typeface="Arial" charset="0"/>
                </a:rPr>
                <a:t> </a:t>
              </a:r>
              <a:r>
                <a:rPr lang="en-US" sz="2200" b="1" dirty="0">
                  <a:latin typeface="Courier New" pitchFamily="49" charset="0"/>
                </a:rPr>
                <a:t>b;</a:t>
              </a:r>
              <a:endParaRPr lang="ru-RU" sz="2200" b="1" dirty="0">
                <a:latin typeface="Courier New" pitchFamily="49" charset="0"/>
              </a:endParaRPr>
            </a:p>
          </p:txBody>
        </p:sp>
        <p:sp>
          <p:nvSpPr>
            <p:cNvPr id="6" name="AutoShape 16">
              <a:extLst>
                <a:ext uri="{FF2B5EF4-FFF2-40B4-BE49-F238E27FC236}">
                  <a16:creationId xmlns:a16="http://schemas.microsoft.com/office/drawing/2014/main" id="{1C88DFCD-B8A4-1CC2-3071-2519C7C99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6" y="1460"/>
              <a:ext cx="1112" cy="530"/>
            </a:xfrm>
            <a:prstGeom prst="flowChartDecision">
              <a:avLst/>
            </a:prstGeom>
            <a:solidFill>
              <a:srgbClr val="FFFF99"/>
            </a:solidFill>
            <a:ln w="12700">
              <a:noFill/>
              <a:miter lim="800000"/>
              <a:headEnd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 dirty="0">
                  <a:latin typeface="Courier New" pitchFamily="49" charset="0"/>
                </a:rPr>
                <a:t>b &gt; a?</a:t>
              </a:r>
              <a:endParaRPr lang="ru-RU" sz="2200" b="1" dirty="0">
                <a:latin typeface="Courier New" pitchFamily="49" charset="0"/>
              </a:endParaRPr>
            </a:p>
          </p:txBody>
        </p:sp>
        <p:sp>
          <p:nvSpPr>
            <p:cNvPr id="47114" name="Line 17">
              <a:extLst>
                <a:ext uri="{FF2B5EF4-FFF2-40B4-BE49-F238E27FC236}">
                  <a16:creationId xmlns:a16="http://schemas.microsoft.com/office/drawing/2014/main" id="{038741D8-7979-30A5-9F06-8B730D3B4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8" y="1261"/>
              <a:ext cx="0" cy="2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7115" name="Line 20">
              <a:extLst>
                <a:ext uri="{FF2B5EF4-FFF2-40B4-BE49-F238E27FC236}">
                  <a16:creationId xmlns:a16="http://schemas.microsoft.com/office/drawing/2014/main" id="{C58A7C21-2593-1148-D215-01BC82192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6" y="3323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7116" name="Freeform 21">
              <a:extLst>
                <a:ext uri="{FF2B5EF4-FFF2-40B4-BE49-F238E27FC236}">
                  <a16:creationId xmlns:a16="http://schemas.microsoft.com/office/drawing/2014/main" id="{1BF17D47-8F3A-8E27-EBB7-628A89454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1722"/>
              <a:ext cx="246" cy="942"/>
            </a:xfrm>
            <a:custGeom>
              <a:avLst/>
              <a:gdLst>
                <a:gd name="T0" fmla="*/ 0 w 623"/>
                <a:gd name="T1" fmla="*/ 0 h 524"/>
                <a:gd name="T2" fmla="*/ 0 w 623"/>
                <a:gd name="T3" fmla="*/ 0 h 524"/>
                <a:gd name="T4" fmla="*/ 0 w 623"/>
                <a:gd name="T5" fmla="*/ 2147483646 h 524"/>
                <a:gd name="T6" fmla="*/ 0 60000 65536"/>
                <a:gd name="T7" fmla="*/ 0 60000 65536"/>
                <a:gd name="T8" fmla="*/ 0 60000 65536"/>
                <a:gd name="T9" fmla="*/ 0 w 623"/>
                <a:gd name="T10" fmla="*/ 0 h 524"/>
                <a:gd name="T11" fmla="*/ 623 w 623"/>
                <a:gd name="T12" fmla="*/ 524 h 5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3" h="524">
                  <a:moveTo>
                    <a:pt x="0" y="0"/>
                  </a:moveTo>
                  <a:lnTo>
                    <a:pt x="623" y="0"/>
                  </a:lnTo>
                  <a:lnTo>
                    <a:pt x="623" y="52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7117" name="Freeform 22">
              <a:extLst>
                <a:ext uri="{FF2B5EF4-FFF2-40B4-BE49-F238E27FC236}">
                  <a16:creationId xmlns:a16="http://schemas.microsoft.com/office/drawing/2014/main" id="{B4145089-C5D0-4360-2D17-70F4E78CA3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954" y="1722"/>
              <a:ext cx="623" cy="361"/>
            </a:xfrm>
            <a:custGeom>
              <a:avLst/>
              <a:gdLst>
                <a:gd name="T0" fmla="*/ 0 w 623"/>
                <a:gd name="T1" fmla="*/ 0 h 524"/>
                <a:gd name="T2" fmla="*/ 623 w 623"/>
                <a:gd name="T3" fmla="*/ 0 h 524"/>
                <a:gd name="T4" fmla="*/ 623 w 623"/>
                <a:gd name="T5" fmla="*/ 1 h 524"/>
                <a:gd name="T6" fmla="*/ 0 60000 65536"/>
                <a:gd name="T7" fmla="*/ 0 60000 65536"/>
                <a:gd name="T8" fmla="*/ 0 60000 65536"/>
                <a:gd name="T9" fmla="*/ 0 w 623"/>
                <a:gd name="T10" fmla="*/ 0 h 524"/>
                <a:gd name="T11" fmla="*/ 623 w 623"/>
                <a:gd name="T12" fmla="*/ 524 h 5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3" h="524">
                  <a:moveTo>
                    <a:pt x="0" y="0"/>
                  </a:moveTo>
                  <a:lnTo>
                    <a:pt x="623" y="0"/>
                  </a:lnTo>
                  <a:lnTo>
                    <a:pt x="623" y="52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7118" name="Freeform 23">
              <a:extLst>
                <a:ext uri="{FF2B5EF4-FFF2-40B4-BE49-F238E27FC236}">
                  <a16:creationId xmlns:a16="http://schemas.microsoft.com/office/drawing/2014/main" id="{F0422259-6B8E-E973-5286-2243A751A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444"/>
              <a:ext cx="1968" cy="343"/>
            </a:xfrm>
            <a:custGeom>
              <a:avLst/>
              <a:gdLst>
                <a:gd name="T0" fmla="*/ 0 w 2409"/>
                <a:gd name="T1" fmla="*/ 0 h 343"/>
                <a:gd name="T2" fmla="*/ 0 w 2409"/>
                <a:gd name="T3" fmla="*/ 343 h 343"/>
                <a:gd name="T4" fmla="*/ 2 w 2409"/>
                <a:gd name="T5" fmla="*/ 343 h 343"/>
                <a:gd name="T6" fmla="*/ 2 w 2409"/>
                <a:gd name="T7" fmla="*/ 5 h 3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9"/>
                <a:gd name="T13" fmla="*/ 0 h 343"/>
                <a:gd name="T14" fmla="*/ 2409 w 2409"/>
                <a:gd name="T15" fmla="*/ 343 h 3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9" h="343">
                  <a:moveTo>
                    <a:pt x="0" y="0"/>
                  </a:moveTo>
                  <a:lnTo>
                    <a:pt x="0" y="343"/>
                  </a:lnTo>
                  <a:lnTo>
                    <a:pt x="2409" y="343"/>
                  </a:lnTo>
                  <a:lnTo>
                    <a:pt x="2409" y="5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7119" name="Line 24">
              <a:extLst>
                <a:ext uri="{FF2B5EF4-FFF2-40B4-BE49-F238E27FC236}">
                  <a16:creationId xmlns:a16="http://schemas.microsoft.com/office/drawing/2014/main" id="{BDFAB344-26E6-1690-6BBE-D2C82F8D8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9" y="2557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7120" name="Line 26">
              <a:extLst>
                <a:ext uri="{FF2B5EF4-FFF2-40B4-BE49-F238E27FC236}">
                  <a16:creationId xmlns:a16="http://schemas.microsoft.com/office/drawing/2014/main" id="{74AC5141-8C31-29B1-4B65-987FCDA51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4" y="2794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  <p:sp>
          <p:nvSpPr>
            <p:cNvPr id="47121" name="Oval 27">
              <a:extLst>
                <a:ext uri="{FF2B5EF4-FFF2-40B4-BE49-F238E27FC236}">
                  <a16:creationId xmlns:a16="http://schemas.microsoft.com/office/drawing/2014/main" id="{28644E90-28E3-3934-CE56-0A9D0D408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2772"/>
              <a:ext cx="34" cy="34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ru-RU" altLang="ru-RU" sz="1800"/>
            </a:p>
          </p:txBody>
        </p:sp>
        <p:sp>
          <p:nvSpPr>
            <p:cNvPr id="47122" name="Text Box 28">
              <a:extLst>
                <a:ext uri="{FF2B5EF4-FFF2-40B4-BE49-F238E27FC236}">
                  <a16:creationId xmlns:a16="http://schemas.microsoft.com/office/drawing/2014/main" id="{08E823A7-8153-28F3-629C-C599CF2A4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443"/>
              <a:ext cx="4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ru-RU" altLang="ru-RU" sz="1800"/>
                <a:t>да</a:t>
              </a:r>
            </a:p>
          </p:txBody>
        </p:sp>
        <p:sp>
          <p:nvSpPr>
            <p:cNvPr id="47123" name="Text Box 29">
              <a:extLst>
                <a:ext uri="{FF2B5EF4-FFF2-40B4-BE49-F238E27FC236}">
                  <a16:creationId xmlns:a16="http://schemas.microsoft.com/office/drawing/2014/main" id="{3B8C8FCD-59AC-28F9-8A07-0118C2E16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455"/>
              <a:ext cx="43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ru-RU" altLang="ru-RU" sz="1800"/>
                <a:t>нет</a:t>
              </a:r>
            </a:p>
          </p:txBody>
        </p:sp>
        <p:sp>
          <p:nvSpPr>
            <p:cNvPr id="19" name="AutoShape 9">
              <a:extLst>
                <a:ext uri="{FF2B5EF4-FFF2-40B4-BE49-F238E27FC236}">
                  <a16:creationId xmlns:a16="http://schemas.microsoft.com/office/drawing/2014/main" id="{C0B493FA-D14E-95D9-585D-A671DFF2B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6" y="2990"/>
              <a:ext cx="1320" cy="336"/>
            </a:xfrm>
            <a:prstGeom prst="flowChartInputOutput">
              <a:avLst/>
            </a:prstGeom>
            <a:solidFill>
              <a:srgbClr val="E6E6FF"/>
            </a:solidFill>
            <a:ln w="12700">
              <a:noFill/>
              <a:miter lim="800000"/>
              <a:headEnd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ru-RU" sz="2200" b="1">
                  <a:latin typeface="Courier New" pitchFamily="49" charset="0"/>
                  <a:cs typeface="Courier New" pitchFamily="49" charset="0"/>
                </a:rPr>
                <a:t>вывод </a:t>
              </a:r>
              <a:r>
                <a:rPr lang="en-US" sz="2200" b="1">
                  <a:latin typeface="Courier New" pitchFamily="49" charset="0"/>
                  <a:cs typeface="Courier New" pitchFamily="49" charset="0"/>
                </a:rPr>
                <a:t>M</a:t>
              </a:r>
              <a:endParaRPr lang="ru-RU" sz="2200" b="1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5" name="Rectangle 8">
              <a:extLst>
                <a:ext uri="{FF2B5EF4-FFF2-40B4-BE49-F238E27FC236}">
                  <a16:creationId xmlns:a16="http://schemas.microsoft.com/office/drawing/2014/main" id="{9341BA31-0BC9-C784-7F74-0D6F4FC2D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" y="889"/>
              <a:ext cx="998" cy="370"/>
            </a:xfrm>
            <a:prstGeom prst="rect">
              <a:avLst/>
            </a:prstGeom>
            <a:solidFill>
              <a:srgbClr val="E6E6FF"/>
            </a:solidFill>
            <a:ln w="12700">
              <a:noFill/>
              <a:miter lim="800000"/>
              <a:headEnd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en-US" sz="2200" b="1" dirty="0">
                  <a:latin typeface="Courier New" pitchFamily="49" charset="0"/>
                </a:rPr>
                <a:t>M</a:t>
              </a:r>
              <a:r>
                <a:rPr lang="en-US" sz="2200" b="1" dirty="0">
                  <a:latin typeface="Arial" charset="0"/>
                </a:rPr>
                <a:t> </a:t>
              </a:r>
              <a:r>
                <a:rPr lang="en-US" sz="2200" b="1" dirty="0">
                  <a:latin typeface="Courier New" pitchFamily="49" charset="0"/>
                </a:rPr>
                <a:t>=</a:t>
              </a:r>
              <a:r>
                <a:rPr lang="en-US" sz="2200" b="1" dirty="0">
                  <a:latin typeface="Arial" charset="0"/>
                </a:rPr>
                <a:t> </a:t>
              </a:r>
              <a:r>
                <a:rPr lang="en-US" sz="2200" b="1" dirty="0">
                  <a:latin typeface="Courier New" pitchFamily="49" charset="0"/>
                </a:rPr>
                <a:t>a;</a:t>
              </a:r>
              <a:endParaRPr lang="ru-RU" sz="2200" b="1" dirty="0">
                <a:latin typeface="Courier New" pitchFamily="49" charset="0"/>
              </a:endParaRPr>
            </a:p>
          </p:txBody>
        </p:sp>
        <p:sp>
          <p:nvSpPr>
            <p:cNvPr id="47126" name="Line 17">
              <a:extLst>
                <a:ext uri="{FF2B5EF4-FFF2-40B4-BE49-F238E27FC236}">
                  <a16:creationId xmlns:a16="http://schemas.microsoft.com/office/drawing/2014/main" id="{CC72E4CC-E6CB-8700-79D4-95FC85615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8" y="690"/>
              <a:ext cx="0" cy="2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ru-KZ"/>
            </a:p>
          </p:txBody>
        </p:sp>
      </p:grpSp>
      <p:sp>
        <p:nvSpPr>
          <p:cNvPr id="20" name="Rectangle 31">
            <a:extLst>
              <a:ext uri="{FF2B5EF4-FFF2-40B4-BE49-F238E27FC236}">
                <a16:creationId xmlns:a16="http://schemas.microsoft.com/office/drawing/2014/main" id="{1FFAAFEA-9B55-FBF8-0965-DFCA71BB1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1978025"/>
            <a:ext cx="4616450" cy="2401888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21" name="AutoShape 53">
            <a:extLst>
              <a:ext uri="{FF2B5EF4-FFF2-40B4-BE49-F238E27FC236}">
                <a16:creationId xmlns:a16="http://schemas.microsoft.com/office/drawing/2014/main" id="{F7D16B47-1E3D-0DFA-55D2-77279A84C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3384550"/>
            <a:ext cx="1935162" cy="1358900"/>
          </a:xfrm>
          <a:prstGeom prst="wedgeRoundRectCallout">
            <a:avLst>
              <a:gd name="adj1" fmla="val -89918"/>
              <a:gd name="adj2" fmla="val 16948"/>
              <a:gd name="adj3" fmla="val 16667"/>
            </a:avLst>
          </a:prstGeom>
          <a:solidFill>
            <a:srgbClr val="E6E6FF"/>
          </a:solidFill>
          <a:ln w="12700">
            <a:noFill/>
            <a:miter lim="800000"/>
            <a:headEnd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defRPr/>
            </a:pPr>
            <a:r>
              <a:rPr lang="ru-RU" sz="2400" dirty="0">
                <a:latin typeface="Arial" charset="0"/>
              </a:rPr>
              <a:t>неполная форма ветвления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A6B4CF9-FF83-EAFE-DDA6-6953FD88FC78}"/>
              </a:ext>
            </a:extLst>
          </p:cNvPr>
          <p:cNvSpPr/>
          <p:nvPr/>
        </p:nvSpPr>
        <p:spPr>
          <a:xfrm>
            <a:off x="6948489" y="1038226"/>
            <a:ext cx="2720975" cy="131127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15000"/>
              </a:spcBef>
              <a:defRPr/>
            </a:pPr>
            <a:r>
              <a:rPr lang="en-US" sz="2400" b="1" dirty="0">
                <a:latin typeface="Courier New" pitchFamily="49" charset="0"/>
              </a:rPr>
              <a:t>M = a;   </a:t>
            </a: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sz="2400" b="1" dirty="0">
                <a:latin typeface="Courier New" pitchFamily="49" charset="0"/>
              </a:rPr>
              <a:t> ( b &gt; a ) </a:t>
            </a: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400" b="1" dirty="0">
                <a:latin typeface="Courier New" pitchFamily="49" charset="0"/>
              </a:rPr>
              <a:t>  M = b;</a:t>
            </a:r>
            <a:endParaRPr lang="ru-RU" sz="24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17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Заголовок 1">
            <a:extLst>
              <a:ext uri="{FF2B5EF4-FFF2-40B4-BE49-F238E27FC236}">
                <a16:creationId xmlns:a16="http://schemas.microsoft.com/office/drawing/2014/main" id="{661BF2C4-FF92-642D-A456-4DB8A387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Условный оператор</a:t>
            </a:r>
          </a:p>
        </p:txBody>
      </p:sp>
      <p:sp>
        <p:nvSpPr>
          <p:cNvPr id="48131" name="Номер слайда 2">
            <a:extLst>
              <a:ext uri="{FF2B5EF4-FFF2-40B4-BE49-F238E27FC236}">
                <a16:creationId xmlns:a16="http://schemas.microsoft.com/office/drawing/2014/main" id="{45BA402E-5D8E-DE68-5D76-BF946D08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91F3BC-0C2F-48BB-BCDC-E708C4A523B3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40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00C821-51F9-BD89-1A44-2A70043F39C6}"/>
              </a:ext>
            </a:extLst>
          </p:cNvPr>
          <p:cNvSpPr/>
          <p:nvPr/>
        </p:nvSpPr>
        <p:spPr>
          <a:xfrm>
            <a:off x="2012951" y="971551"/>
            <a:ext cx="3368675" cy="300037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sz="2800" b="1" dirty="0">
                <a:latin typeface="Courier New" pitchFamily="49" charset="0"/>
              </a:rPr>
              <a:t> ( a &lt; b ) </a:t>
            </a: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itchFamily="49" charset="0"/>
              </a:rPr>
              <a:t>  {</a:t>
            </a: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itchFamily="49" charset="0"/>
              </a:rPr>
              <a:t>  </a:t>
            </a:r>
            <a:r>
              <a:rPr lang="ru-RU" sz="2800" b="1" dirty="0">
                <a:latin typeface="Courier New" pitchFamily="49" charset="0"/>
              </a:rPr>
              <a:t>с</a:t>
            </a:r>
            <a:r>
              <a:rPr lang="en-US" sz="2800" b="1" dirty="0">
                <a:latin typeface="Courier New" pitchFamily="49" charset="0"/>
              </a:rPr>
              <a:t> = a;   </a:t>
            </a:r>
          </a:p>
          <a:p>
            <a:pPr eaLnBrk="1" hangingPunct="1">
              <a:spcBef>
                <a:spcPct val="15000"/>
              </a:spcBef>
              <a:defRPr/>
            </a:pPr>
            <a:r>
              <a:rPr lang="ru-RU" sz="2800" b="1" dirty="0">
                <a:latin typeface="Courier New" pitchFamily="49" charset="0"/>
              </a:rPr>
              <a:t>  </a:t>
            </a:r>
            <a:r>
              <a:rPr lang="en-US" sz="2800" b="1" dirty="0">
                <a:latin typeface="Courier New" pitchFamily="49" charset="0"/>
              </a:rPr>
              <a:t>a = b;</a:t>
            </a: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itchFamily="49" charset="0"/>
              </a:rPr>
              <a:t>  b = c; </a:t>
            </a:r>
            <a:endParaRPr lang="ru-RU" sz="2800" b="1" dirty="0">
              <a:latin typeface="Courier New" pitchFamily="49" charset="0"/>
            </a:endParaRPr>
          </a:p>
          <a:p>
            <a:pPr eaLnBrk="1" hangingPunct="1">
              <a:spcBef>
                <a:spcPct val="15000"/>
              </a:spcBef>
              <a:defRPr/>
            </a:pPr>
            <a:r>
              <a:rPr lang="en-US" sz="2800" b="1" dirty="0">
                <a:latin typeface="Courier New" pitchFamily="49" charset="0"/>
              </a:rPr>
              <a:t>  }</a:t>
            </a:r>
            <a:endParaRPr lang="ru-RU" sz="2800" b="1" dirty="0">
              <a:latin typeface="Arial" charset="0"/>
            </a:endParaRPr>
          </a:p>
        </p:txBody>
      </p:sp>
      <p:grpSp>
        <p:nvGrpSpPr>
          <p:cNvPr id="2" name="Group 55">
            <a:extLst>
              <a:ext uri="{FF2B5EF4-FFF2-40B4-BE49-F238E27FC236}">
                <a16:creationId xmlns:a16="http://schemas.microsoft.com/office/drawing/2014/main" id="{7CE14707-D6CE-EE41-3B1F-9AC3649E5E6F}"/>
              </a:ext>
            </a:extLst>
          </p:cNvPr>
          <p:cNvGrpSpPr>
            <a:grpSpLocks/>
          </p:cNvGrpSpPr>
          <p:nvPr/>
        </p:nvGrpSpPr>
        <p:grpSpPr bwMode="auto">
          <a:xfrm>
            <a:off x="5683250" y="998539"/>
            <a:ext cx="2711450" cy="663575"/>
            <a:chOff x="433" y="3902"/>
            <a:chExt cx="1708" cy="418"/>
          </a:xfrm>
        </p:grpSpPr>
        <p:sp>
          <p:nvSpPr>
            <p:cNvPr id="6" name="Text Box 56">
              <a:extLst>
                <a:ext uri="{FF2B5EF4-FFF2-40B4-BE49-F238E27FC236}">
                  <a16:creationId xmlns:a16="http://schemas.microsoft.com/office/drawing/2014/main" id="{C8CBE236-7D0E-230A-50D5-046564FA3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3969"/>
              <a:ext cx="1414" cy="296"/>
            </a:xfrm>
            <a:prstGeom prst="rect">
              <a:avLst/>
            </a:prstGeom>
            <a:solidFill>
              <a:srgbClr val="D1D1FF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ru-RU" sz="2400" dirty="0">
                  <a:latin typeface="Arial" charset="0"/>
                </a:rPr>
                <a:t>  Что делает</a:t>
              </a:r>
              <a:r>
                <a:rPr lang="en-US" sz="2400" dirty="0">
                  <a:latin typeface="Arial" charset="0"/>
                </a:rPr>
                <a:t>?</a:t>
              </a:r>
              <a:endParaRPr lang="ru-RU" sz="2400" dirty="0">
                <a:latin typeface="Arial" charset="0"/>
              </a:endParaRPr>
            </a:p>
          </p:txBody>
        </p:sp>
        <p:sp>
          <p:nvSpPr>
            <p:cNvPr id="48152" name="Oval 57">
              <a:extLst>
                <a:ext uri="{FF2B5EF4-FFF2-40B4-BE49-F238E27FC236}">
                  <a16:creationId xmlns:a16="http://schemas.microsoft.com/office/drawing/2014/main" id="{5E910D3F-DFF6-1268-C229-B264F9387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?</a:t>
              </a:r>
              <a:endParaRPr lang="ru-RU" altLang="ru-RU" sz="440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8" name="Rectangle 27">
            <a:extLst>
              <a:ext uri="{FF2B5EF4-FFF2-40B4-BE49-F238E27FC236}">
                <a16:creationId xmlns:a16="http://schemas.microsoft.com/office/drawing/2014/main" id="{F34471AA-BAE0-0CE8-88E9-38419E3A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1676" y="2484438"/>
            <a:ext cx="860425" cy="57785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8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id="{860AF950-2E2F-2E12-5911-6FED6EB4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4351" y="2471738"/>
            <a:ext cx="860425" cy="577850"/>
          </a:xfrm>
          <a:prstGeom prst="rect">
            <a:avLst/>
          </a:prstGeom>
          <a:solidFill>
            <a:srgbClr val="008000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8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Rectangle 29">
            <a:extLst>
              <a:ext uri="{FF2B5EF4-FFF2-40B4-BE49-F238E27FC236}">
                <a16:creationId xmlns:a16="http://schemas.microsoft.com/office/drawing/2014/main" id="{82D5D994-0050-16AD-72B6-677C640A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1" y="4059238"/>
            <a:ext cx="860425" cy="57785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 type="none" w="lg" len="lg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90000" tIns="46800" rIns="90000" bIns="46800" anchor="ctr"/>
          <a:lstStyle/>
          <a:p>
            <a:pPr algn="ctr" eaLnBrk="1" hangingPunct="1">
              <a:defRPr/>
            </a:pPr>
            <a:r>
              <a:rPr lang="en-US" sz="2800" b="1">
                <a:solidFill>
                  <a:schemeClr val="bg1"/>
                </a:solidFill>
                <a:latin typeface="Arial" charset="0"/>
              </a:rPr>
              <a:t>?</a:t>
            </a:r>
            <a:endParaRPr lang="ru-RU" sz="2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49ACAC03-49F5-7218-ABC3-D8A3041D9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701" y="4059238"/>
            <a:ext cx="860425" cy="57785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solidFill>
                  <a:schemeClr val="bg1"/>
                </a:solidFill>
              </a:rPr>
              <a:t>4</a:t>
            </a:r>
            <a:endParaRPr lang="ru-RU" altLang="ru-RU" sz="2800" b="1">
              <a:solidFill>
                <a:schemeClr val="bg1"/>
              </a:solidFill>
            </a:endParaRP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ACE1CCC4-538F-1FB1-AA63-95FB9EE68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1676" y="2484438"/>
            <a:ext cx="860425" cy="577850"/>
          </a:xfrm>
          <a:prstGeom prst="rect">
            <a:avLst/>
          </a:prstGeom>
          <a:solidFill>
            <a:srgbClr val="008000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solidFill>
                  <a:schemeClr val="bg1"/>
                </a:solidFill>
              </a:rPr>
              <a:t>6</a:t>
            </a:r>
            <a:endParaRPr lang="ru-RU" altLang="ru-RU" sz="2800" b="1">
              <a:solidFill>
                <a:schemeClr val="bg1"/>
              </a:solidFill>
            </a:endParaRPr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22287963-BC5B-9A37-201A-AC89474D7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4351" y="2471738"/>
            <a:ext cx="860425" cy="57785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solidFill>
                  <a:schemeClr val="bg1"/>
                </a:solidFill>
              </a:rPr>
              <a:t>4</a:t>
            </a:r>
            <a:endParaRPr lang="ru-RU" altLang="ru-RU" sz="2800" b="1">
              <a:solidFill>
                <a:schemeClr val="bg1"/>
              </a:solidFill>
            </a:endParaRPr>
          </a:p>
        </p:txBody>
      </p:sp>
      <p:sp>
        <p:nvSpPr>
          <p:cNvPr id="14" name="Rectangle 33">
            <a:extLst>
              <a:ext uri="{FF2B5EF4-FFF2-40B4-BE49-F238E27FC236}">
                <a16:creationId xmlns:a16="http://schemas.microsoft.com/office/drawing/2014/main" id="{7F7FAF03-154F-7C1C-4A2E-5107C202C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6139" y="1949451"/>
            <a:ext cx="479425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ru-RU" altLang="ru-RU" sz="2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34">
            <a:extLst>
              <a:ext uri="{FF2B5EF4-FFF2-40B4-BE49-F238E27FC236}">
                <a16:creationId xmlns:a16="http://schemas.microsoft.com/office/drawing/2014/main" id="{8C6BDD0C-2EAB-72B4-BEF0-6C14A0A56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2776" y="1916113"/>
            <a:ext cx="47942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endParaRPr lang="ru-RU" altLang="ru-RU" sz="2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AutoShape 39">
            <a:extLst>
              <a:ext uri="{FF2B5EF4-FFF2-40B4-BE49-F238E27FC236}">
                <a16:creationId xmlns:a16="http://schemas.microsoft.com/office/drawing/2014/main" id="{57933843-1D2E-7B9E-B3D5-076C5647552D}"/>
              </a:ext>
            </a:extLst>
          </p:cNvPr>
          <p:cNvSpPr>
            <a:spLocks noChangeArrowheads="1"/>
          </p:cNvSpPr>
          <p:nvPr/>
        </p:nvSpPr>
        <p:spPr bwMode="auto">
          <a:xfrm rot="7473148" flipH="1">
            <a:off x="9048750" y="3232150"/>
            <a:ext cx="979488" cy="668338"/>
          </a:xfrm>
          <a:prstGeom prst="rightArrow">
            <a:avLst>
              <a:gd name="adj1" fmla="val 50000"/>
              <a:gd name="adj2" fmla="val 36639"/>
            </a:avLst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 type="none" w="lg" len="lg"/>
          </a:ln>
        </p:spPr>
        <p:txBody>
          <a:bodyPr rot="10800000" wrap="none" lIns="90000" tIns="46800" rIns="90000" bIns="46800" anchor="ctr"/>
          <a:lstStyle/>
          <a:p>
            <a:pPr algn="ctr" eaLnBrk="1" hangingPunct="1">
              <a:defRPr/>
            </a:pPr>
            <a:r>
              <a:rPr lang="ru-RU" sz="2000">
                <a:latin typeface="Arial" charset="0"/>
              </a:rPr>
              <a:t>3</a:t>
            </a:r>
          </a:p>
        </p:txBody>
      </p:sp>
      <p:sp>
        <p:nvSpPr>
          <p:cNvPr id="17" name="AutoShape 40">
            <a:extLst>
              <a:ext uri="{FF2B5EF4-FFF2-40B4-BE49-F238E27FC236}">
                <a16:creationId xmlns:a16="http://schemas.microsoft.com/office/drawing/2014/main" id="{FC9236FE-FC98-3873-869A-53BC5B54D2A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178800" y="2444750"/>
            <a:ext cx="979488" cy="668338"/>
          </a:xfrm>
          <a:prstGeom prst="rightArrow">
            <a:avLst>
              <a:gd name="adj1" fmla="val 50000"/>
              <a:gd name="adj2" fmla="val 36639"/>
            </a:avLst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 type="none" w="lg" len="lg"/>
          </a:ln>
        </p:spPr>
        <p:txBody>
          <a:bodyPr rot="10800000" wrap="none" lIns="90000" tIns="46800" rIns="90000" bIns="46800" anchor="ctr"/>
          <a:lstStyle/>
          <a:p>
            <a:pPr algn="ctr" eaLnBrk="1" hangingPunct="1">
              <a:defRPr/>
            </a:pPr>
            <a:r>
              <a:rPr lang="ru-RU" sz="2000">
                <a:latin typeface="Arial" charset="0"/>
              </a:rPr>
              <a:t>2</a:t>
            </a:r>
          </a:p>
        </p:txBody>
      </p:sp>
      <p:sp>
        <p:nvSpPr>
          <p:cNvPr id="18" name="AutoShape 41">
            <a:extLst>
              <a:ext uri="{FF2B5EF4-FFF2-40B4-BE49-F238E27FC236}">
                <a16:creationId xmlns:a16="http://schemas.microsoft.com/office/drawing/2014/main" id="{5C235A2A-6BAA-BF97-6434-DAC6A7C6D8C1}"/>
              </a:ext>
            </a:extLst>
          </p:cNvPr>
          <p:cNvSpPr>
            <a:spLocks noChangeArrowheads="1"/>
          </p:cNvSpPr>
          <p:nvPr/>
        </p:nvSpPr>
        <p:spPr bwMode="auto">
          <a:xfrm rot="13718115" flipH="1">
            <a:off x="7554914" y="3313114"/>
            <a:ext cx="979487" cy="668337"/>
          </a:xfrm>
          <a:prstGeom prst="rightArrow">
            <a:avLst>
              <a:gd name="adj1" fmla="val 50000"/>
              <a:gd name="adj2" fmla="val 36639"/>
            </a:avLst>
          </a:prstGeom>
          <a:solidFill>
            <a:schemeClr val="bg1">
              <a:lumMod val="65000"/>
            </a:schemeClr>
          </a:solidFill>
          <a:ln w="12700">
            <a:noFill/>
            <a:miter lim="800000"/>
            <a:headEnd/>
            <a:tailEnd type="none" w="lg" len="lg"/>
          </a:ln>
        </p:spPr>
        <p:txBody>
          <a:bodyPr rot="10800000" wrap="none" lIns="90000" tIns="46800" rIns="90000" bIns="46800" anchor="ctr"/>
          <a:lstStyle/>
          <a:p>
            <a:pPr algn="ctr" eaLnBrk="1" hangingPunct="1">
              <a:defRPr/>
            </a:pPr>
            <a:r>
              <a:rPr lang="ru-RU" sz="2000">
                <a:latin typeface="Arial" charset="0"/>
              </a:rPr>
              <a:t>1</a:t>
            </a:r>
          </a:p>
        </p:txBody>
      </p:sp>
      <p:grpSp>
        <p:nvGrpSpPr>
          <p:cNvPr id="3" name="Group 45">
            <a:extLst>
              <a:ext uri="{FF2B5EF4-FFF2-40B4-BE49-F238E27FC236}">
                <a16:creationId xmlns:a16="http://schemas.microsoft.com/office/drawing/2014/main" id="{0F4361D8-258D-04DC-1C55-53034A4936BC}"/>
              </a:ext>
            </a:extLst>
          </p:cNvPr>
          <p:cNvGrpSpPr>
            <a:grpSpLocks/>
          </p:cNvGrpSpPr>
          <p:nvPr/>
        </p:nvGrpSpPr>
        <p:grpSpPr bwMode="auto">
          <a:xfrm>
            <a:off x="2025650" y="4708526"/>
            <a:ext cx="3765550" cy="969963"/>
            <a:chOff x="363" y="3702"/>
            <a:chExt cx="2372" cy="611"/>
          </a:xfrm>
        </p:grpSpPr>
        <p:sp>
          <p:nvSpPr>
            <p:cNvPr id="20" name="Text Box 43">
              <a:extLst>
                <a:ext uri="{FF2B5EF4-FFF2-40B4-BE49-F238E27FC236}">
                  <a16:creationId xmlns:a16="http://schemas.microsoft.com/office/drawing/2014/main" id="{F1AC1DA8-5AB7-8AB7-98F8-A6F208331A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" y="3751"/>
              <a:ext cx="2078" cy="562"/>
            </a:xfrm>
            <a:prstGeom prst="rect">
              <a:avLst/>
            </a:prstGeom>
            <a:solidFill>
              <a:srgbClr val="D1D1FF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ru-RU" sz="2400" dirty="0">
                  <a:latin typeface="Arial" charset="0"/>
                </a:rPr>
                <a:t>  Можно ли обойтись </a:t>
              </a:r>
              <a:endParaRPr lang="en-US" sz="2400" dirty="0">
                <a:latin typeface="Arial" charset="0"/>
              </a:endParaRPr>
            </a:p>
            <a:p>
              <a:pPr>
                <a:defRPr/>
              </a:pPr>
              <a:r>
                <a:rPr lang="en-US" sz="2400" dirty="0">
                  <a:latin typeface="Arial" charset="0"/>
                </a:rPr>
                <a:t>  </a:t>
              </a:r>
              <a:r>
                <a:rPr lang="ru-RU" sz="2400" dirty="0">
                  <a:latin typeface="Arial" charset="0"/>
                </a:rPr>
                <a:t>без переменной </a:t>
              </a:r>
              <a:r>
                <a:rPr lang="en-US" sz="2800" b="1" dirty="0">
                  <a:latin typeface="Courier New" pitchFamily="49" charset="0"/>
                </a:rPr>
                <a:t>c</a:t>
              </a:r>
              <a:r>
                <a:rPr lang="en-US" sz="2400" dirty="0">
                  <a:latin typeface="Arial" charset="0"/>
                </a:rPr>
                <a:t>?</a:t>
              </a:r>
              <a:endParaRPr lang="ru-RU" sz="2400" dirty="0">
                <a:latin typeface="Arial" charset="0"/>
              </a:endParaRPr>
            </a:p>
          </p:txBody>
        </p:sp>
        <p:sp>
          <p:nvSpPr>
            <p:cNvPr id="48150" name="Oval 44">
              <a:extLst>
                <a:ext uri="{FF2B5EF4-FFF2-40B4-BE49-F238E27FC236}">
                  <a16:creationId xmlns:a16="http://schemas.microsoft.com/office/drawing/2014/main" id="{B283E4CE-D246-3816-AA30-F806E59CF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" y="37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?</a:t>
              </a:r>
              <a:endParaRPr lang="ru-RU" altLang="ru-RU" sz="440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2" name="Rectangle 34">
            <a:extLst>
              <a:ext uri="{FF2B5EF4-FFF2-40B4-BE49-F238E27FC236}">
                <a16:creationId xmlns:a16="http://schemas.microsoft.com/office/drawing/2014/main" id="{52245103-74FC-264A-E08E-6FC5DBF79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7901" y="4640263"/>
            <a:ext cx="47942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b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ru-RU" altLang="ru-RU" sz="2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5F77376-5CE9-08F5-2908-DAE49853C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1458914"/>
            <a:ext cx="1601788" cy="250507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ru-RU" sz="2800" b="1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ru-RU" altLang="ru-RU" sz="2800" b="1">
                <a:solidFill>
                  <a:srgbClr val="000000"/>
                </a:solidFill>
                <a:latin typeface="Courier New" panose="02070309020205020404" pitchFamily="49" charset="0"/>
              </a:rPr>
              <a:t>с</a:t>
            </a:r>
            <a:r>
              <a:rPr lang="en-US" altLang="ru-RU" sz="2800" b="1">
                <a:solidFill>
                  <a:srgbClr val="000000"/>
                </a:solidFill>
                <a:latin typeface="Courier New" panose="02070309020205020404" pitchFamily="49" charset="0"/>
              </a:rPr>
              <a:t> = a;   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ru-RU" sz="2800" b="1">
                <a:solidFill>
                  <a:srgbClr val="000000"/>
                </a:solidFill>
                <a:latin typeface="Courier New" panose="02070309020205020404" pitchFamily="49" charset="0"/>
              </a:rPr>
              <a:t>a = b;</a:t>
            </a: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ru-RU" sz="2800" b="1">
                <a:solidFill>
                  <a:srgbClr val="000000"/>
                </a:solidFill>
                <a:latin typeface="Courier New" panose="02070309020205020404" pitchFamily="49" charset="0"/>
              </a:rPr>
              <a:t>b = c; </a:t>
            </a:r>
            <a:endParaRPr lang="ru-RU" altLang="ru-RU" sz="2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15000"/>
              </a:spcBef>
              <a:buFontTx/>
              <a:buNone/>
            </a:pPr>
            <a:r>
              <a:rPr lang="en-US" altLang="ru-RU" sz="28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ru-RU" altLang="ru-RU" sz="2800" b="1">
              <a:solidFill>
                <a:srgbClr val="000000"/>
              </a:solidFill>
            </a:endParaRPr>
          </a:p>
        </p:txBody>
      </p:sp>
      <p:sp>
        <p:nvSpPr>
          <p:cNvPr id="23" name="AutoShape 53">
            <a:extLst>
              <a:ext uri="{FF2B5EF4-FFF2-40B4-BE49-F238E27FC236}">
                <a16:creationId xmlns:a16="http://schemas.microsoft.com/office/drawing/2014/main" id="{2A6560A0-9763-049F-9DF9-6DA820756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076" y="2513013"/>
            <a:ext cx="1935163" cy="1358900"/>
          </a:xfrm>
          <a:prstGeom prst="wedgeRoundRectCallout">
            <a:avLst>
              <a:gd name="adj1" fmla="val -89918"/>
              <a:gd name="adj2" fmla="val 16948"/>
              <a:gd name="adj3" fmla="val 16667"/>
            </a:avLst>
          </a:prstGeom>
          <a:solidFill>
            <a:srgbClr val="E6E6FF"/>
          </a:solidFill>
          <a:ln w="12700">
            <a:noFill/>
            <a:miter lim="800000"/>
            <a:headEnd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defRPr/>
            </a:pPr>
            <a:r>
              <a:rPr lang="ru-RU" sz="2400" dirty="0">
                <a:latin typeface="Arial" charset="0"/>
              </a:rPr>
              <a:t>блок (составной оператор)</a:t>
            </a:r>
          </a:p>
        </p:txBody>
      </p:sp>
    </p:spTree>
    <p:extLst>
      <p:ext uri="{BB962C8B-B14F-4D97-AF65-F5344CB8AC3E}">
        <p14:creationId xmlns:p14="http://schemas.microsoft.com/office/powerpoint/2010/main" val="312158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  <p:bldP spid="13" grpId="0" animBg="1"/>
      <p:bldP spid="14" grpId="0"/>
      <p:bldP spid="15" grpId="0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2" grpId="0"/>
      <p:bldP spid="24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Заголовок 1">
            <a:extLst>
              <a:ext uri="{FF2B5EF4-FFF2-40B4-BE49-F238E27FC236}">
                <a16:creationId xmlns:a16="http://schemas.microsoft.com/office/drawing/2014/main" id="{BCA5D60F-E26F-9A84-9246-A060825A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Знаки отношений</a:t>
            </a:r>
          </a:p>
        </p:txBody>
      </p:sp>
      <p:sp>
        <p:nvSpPr>
          <p:cNvPr id="49155" name="Номер слайда 2">
            <a:extLst>
              <a:ext uri="{FF2B5EF4-FFF2-40B4-BE49-F238E27FC236}">
                <a16:creationId xmlns:a16="http://schemas.microsoft.com/office/drawing/2014/main" id="{A19CBCEF-27AD-E42F-575C-88E3193F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694D5E-1C7F-44F8-86DB-43557C231B36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ru-RU" altLang="ru-RU" sz="140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54F76ED-3D15-9F81-5F2E-3787EE81C345}"/>
              </a:ext>
            </a:extLst>
          </p:cNvPr>
          <p:cNvSpPr/>
          <p:nvPr/>
        </p:nvSpPr>
        <p:spPr>
          <a:xfrm>
            <a:off x="2495550" y="901700"/>
            <a:ext cx="400050" cy="522288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ru-RU" dirty="0">
              <a:latin typeface="Arial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322199A-BD64-DB91-3E7D-4BF566D34F22}"/>
              </a:ext>
            </a:extLst>
          </p:cNvPr>
          <p:cNvSpPr/>
          <p:nvPr/>
        </p:nvSpPr>
        <p:spPr>
          <a:xfrm>
            <a:off x="3006726" y="901700"/>
            <a:ext cx="398463" cy="522288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</a:rPr>
              <a:t>&lt;</a:t>
            </a:r>
            <a:endParaRPr lang="ru-RU" dirty="0">
              <a:latin typeface="Arial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F6E0E6-6C8D-894F-9EC6-921DCB9F8217}"/>
              </a:ext>
            </a:extLst>
          </p:cNvPr>
          <p:cNvSpPr/>
          <p:nvPr/>
        </p:nvSpPr>
        <p:spPr>
          <a:xfrm>
            <a:off x="2790826" y="1644650"/>
            <a:ext cx="614363" cy="522288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</a:rPr>
              <a:t>&gt;</a:t>
            </a:r>
            <a:r>
              <a:rPr lang="ru-RU" sz="2800" b="1" dirty="0">
                <a:solidFill>
                  <a:srgbClr val="000000"/>
                </a:solidFill>
                <a:latin typeface="Courier New" pitchFamily="49" charset="0"/>
              </a:rPr>
              <a:t>=</a:t>
            </a:r>
            <a:endParaRPr lang="ru-RU" dirty="0">
              <a:latin typeface="Arial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06D554B-C9FF-6A46-118C-4F7EEAB394EC}"/>
              </a:ext>
            </a:extLst>
          </p:cNvPr>
          <p:cNvSpPr/>
          <p:nvPr/>
        </p:nvSpPr>
        <p:spPr>
          <a:xfrm>
            <a:off x="2790826" y="2387600"/>
            <a:ext cx="614363" cy="522288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ru-RU" sz="2800" b="1" dirty="0">
                <a:solidFill>
                  <a:srgbClr val="000000"/>
                </a:solidFill>
                <a:latin typeface="Courier New" pitchFamily="49" charset="0"/>
              </a:rPr>
              <a:t>=</a:t>
            </a:r>
            <a:endParaRPr lang="ru-RU" dirty="0">
              <a:latin typeface="Arial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BA72813-B832-9E9E-16AA-7E186793A364}"/>
              </a:ext>
            </a:extLst>
          </p:cNvPr>
          <p:cNvSpPr/>
          <p:nvPr/>
        </p:nvSpPr>
        <p:spPr>
          <a:xfrm>
            <a:off x="2790826" y="3130551"/>
            <a:ext cx="614363" cy="52387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</a:rPr>
              <a:t>=</a:t>
            </a:r>
            <a:r>
              <a:rPr lang="ru-RU" sz="2800" b="1" dirty="0">
                <a:solidFill>
                  <a:srgbClr val="000000"/>
                </a:solidFill>
                <a:latin typeface="Courier New" pitchFamily="49" charset="0"/>
              </a:rPr>
              <a:t>=</a:t>
            </a:r>
            <a:endParaRPr lang="ru-RU" dirty="0">
              <a:latin typeface="Arial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F9A8848-0E26-7FFD-4A33-98609456C003}"/>
              </a:ext>
            </a:extLst>
          </p:cNvPr>
          <p:cNvSpPr/>
          <p:nvPr/>
        </p:nvSpPr>
        <p:spPr>
          <a:xfrm>
            <a:off x="2790826" y="3873501"/>
            <a:ext cx="614363" cy="52387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</a:rPr>
              <a:t>!=</a:t>
            </a:r>
            <a:endParaRPr lang="ru-RU" dirty="0">
              <a:latin typeface="Arial" charset="0"/>
            </a:endParaRPr>
          </a:p>
        </p:txBody>
      </p:sp>
      <p:sp>
        <p:nvSpPr>
          <p:cNvPr id="49162" name="Прямоугольник 9">
            <a:extLst>
              <a:ext uri="{FF2B5EF4-FFF2-40B4-BE49-F238E27FC236}">
                <a16:creationId xmlns:a16="http://schemas.microsoft.com/office/drawing/2014/main" id="{930DFD40-6BD0-76A5-5C37-A0F89F0DB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5" y="952501"/>
            <a:ext cx="2584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больше, меньше</a:t>
            </a:r>
          </a:p>
        </p:txBody>
      </p:sp>
      <p:sp>
        <p:nvSpPr>
          <p:cNvPr id="49163" name="Прямоугольник 10">
            <a:extLst>
              <a:ext uri="{FF2B5EF4-FFF2-40B4-BE49-F238E27FC236}">
                <a16:creationId xmlns:a16="http://schemas.microsoft.com/office/drawing/2014/main" id="{1EC0DA93-F601-2952-2F13-B72739D93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6" y="1685926"/>
            <a:ext cx="28241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больше</a:t>
            </a:r>
            <a:r>
              <a:rPr lang="en-US" altLang="ru-RU" sz="2400"/>
              <a:t> </a:t>
            </a:r>
            <a:r>
              <a:rPr lang="ru-RU" altLang="ru-RU" sz="2400"/>
              <a:t>или равно</a:t>
            </a:r>
          </a:p>
        </p:txBody>
      </p:sp>
      <p:sp>
        <p:nvSpPr>
          <p:cNvPr id="49164" name="Прямоугольник 11">
            <a:extLst>
              <a:ext uri="{FF2B5EF4-FFF2-40B4-BE49-F238E27FC236}">
                <a16:creationId xmlns:a16="http://schemas.microsoft.com/office/drawing/2014/main" id="{D36561DC-708D-2439-C2A0-7C242D3ED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6" y="2428876"/>
            <a:ext cx="2855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меньше</a:t>
            </a:r>
            <a:r>
              <a:rPr lang="en-US" altLang="ru-RU" sz="2400"/>
              <a:t> </a:t>
            </a:r>
            <a:r>
              <a:rPr lang="ru-RU" altLang="ru-RU" sz="2400"/>
              <a:t>или равно</a:t>
            </a:r>
          </a:p>
        </p:txBody>
      </p:sp>
      <p:sp>
        <p:nvSpPr>
          <p:cNvPr id="49165" name="Прямоугольник 12">
            <a:extLst>
              <a:ext uri="{FF2B5EF4-FFF2-40B4-BE49-F238E27FC236}">
                <a16:creationId xmlns:a16="http://schemas.microsoft.com/office/drawing/2014/main" id="{D1702934-5574-823D-F415-0938581D3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6" y="3171826"/>
            <a:ext cx="1031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равно</a:t>
            </a:r>
          </a:p>
        </p:txBody>
      </p:sp>
      <p:sp>
        <p:nvSpPr>
          <p:cNvPr id="49166" name="Прямоугольник 13">
            <a:extLst>
              <a:ext uri="{FF2B5EF4-FFF2-40B4-BE49-F238E27FC236}">
                <a16:creationId xmlns:a16="http://schemas.microsoft.com/office/drawing/2014/main" id="{3EDC44C6-750E-1613-31C2-A2D9EC2E6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276" y="3933826"/>
            <a:ext cx="14589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не равно</a:t>
            </a:r>
          </a:p>
        </p:txBody>
      </p:sp>
    </p:spTree>
    <p:extLst>
      <p:ext uri="{BB962C8B-B14F-4D97-AF65-F5344CB8AC3E}">
        <p14:creationId xmlns:p14="http://schemas.microsoft.com/office/powerpoint/2010/main" val="344048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051EA-D877-33FA-3F16-90CBC21E1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38DF63-F806-181F-2957-C9F74C655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9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B0EC4-B882-E587-FABD-2453C4FD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981117-1204-97EB-ED26-F722F4DF8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73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Заголовок 1">
            <a:extLst>
              <a:ext uri="{FF2B5EF4-FFF2-40B4-BE49-F238E27FC236}">
                <a16:creationId xmlns:a16="http://schemas.microsoft.com/office/drawing/2014/main" id="{CA2D21F1-591D-E9AB-159F-60D6B540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Вложенные условные операторы</a:t>
            </a:r>
          </a:p>
        </p:txBody>
      </p:sp>
      <p:sp>
        <p:nvSpPr>
          <p:cNvPr id="50179" name="Номер слайда 2">
            <a:extLst>
              <a:ext uri="{FF2B5EF4-FFF2-40B4-BE49-F238E27FC236}">
                <a16:creationId xmlns:a16="http://schemas.microsoft.com/office/drawing/2014/main" id="{F1A8646B-DEE5-07B1-0734-25C89BBC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1C2A00-31F9-4A74-9FD6-48C6E8F6D553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140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ED7BF1E-3D63-4300-4892-EBB92A887140}"/>
              </a:ext>
            </a:extLst>
          </p:cNvPr>
          <p:cNvSpPr/>
          <p:nvPr/>
        </p:nvSpPr>
        <p:spPr>
          <a:xfrm>
            <a:off x="2009776" y="1733551"/>
            <a:ext cx="6499225" cy="2678113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a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==</a:t>
            </a:r>
            <a:r>
              <a:rPr lang="ru-RU" sz="24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b )</a:t>
            </a:r>
          </a:p>
          <a:p>
            <a:pPr eaLnBrk="1" hangingPunct="1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Одного возраста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  <a:r>
              <a:rPr lang="ru-RU" sz="2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eaLnBrk="1" hangingPunct="1">
              <a:defRPr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pPr eaLnBrk="1" hangingPunct="1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 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0181" name="Прямоугольник 4">
            <a:extLst>
              <a:ext uri="{FF2B5EF4-FFF2-40B4-BE49-F238E27FC236}">
                <a16:creationId xmlns:a16="http://schemas.microsoft.com/office/drawing/2014/main" id="{F7CAC371-D8A5-AF95-9003-BF4AA34EF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800350"/>
            <a:ext cx="5765800" cy="1570038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b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cout &lt;&lt; </a:t>
            </a:r>
            <a:r>
              <a:rPr lang="en-US" altLang="ru-RU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altLang="ru-RU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Андрей старше</a:t>
            </a:r>
            <a:r>
              <a:rPr lang="en-US" altLang="ru-RU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altLang="ru-RU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 cout &lt;&lt; </a:t>
            </a:r>
            <a:r>
              <a:rPr lang="en-US" altLang="ru-RU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ru-RU" altLang="ru-RU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Борис старше</a:t>
            </a:r>
            <a:r>
              <a:rPr lang="en-US" altLang="ru-RU" sz="2400" b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ru-RU" altLang="ru-RU" sz="2400" b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6" name="AutoShape 53">
            <a:extLst>
              <a:ext uri="{FF2B5EF4-FFF2-40B4-BE49-F238E27FC236}">
                <a16:creationId xmlns:a16="http://schemas.microsoft.com/office/drawing/2014/main" id="{AE341412-991C-73FE-437B-8FDDA3558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6739" y="4514850"/>
            <a:ext cx="3157537" cy="863600"/>
          </a:xfrm>
          <a:prstGeom prst="wedgeRoundRectCallout">
            <a:avLst>
              <a:gd name="adj1" fmla="val -45583"/>
              <a:gd name="adj2" fmla="val -93433"/>
              <a:gd name="adj3" fmla="val 16667"/>
            </a:avLst>
          </a:prstGeom>
          <a:solidFill>
            <a:srgbClr val="E6E6FF"/>
          </a:solidFill>
          <a:ln w="12700">
            <a:noFill/>
            <a:miter lim="800000"/>
            <a:headEnd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lnSpc>
                <a:spcPct val="80000"/>
              </a:lnSpc>
              <a:defRPr/>
            </a:pPr>
            <a:r>
              <a:rPr lang="ru-RU" sz="2400" dirty="0">
                <a:latin typeface="Arial" charset="0"/>
              </a:rPr>
              <a:t>вложенный условный оператор</a:t>
            </a:r>
          </a:p>
        </p:txBody>
      </p:sp>
      <p:grpSp>
        <p:nvGrpSpPr>
          <p:cNvPr id="2" name="Group 55">
            <a:extLst>
              <a:ext uri="{FF2B5EF4-FFF2-40B4-BE49-F238E27FC236}">
                <a16:creationId xmlns:a16="http://schemas.microsoft.com/office/drawing/2014/main" id="{4B46045B-757C-B5E7-C1D4-D4805DFAEAE7}"/>
              </a:ext>
            </a:extLst>
          </p:cNvPr>
          <p:cNvGrpSpPr>
            <a:grpSpLocks/>
          </p:cNvGrpSpPr>
          <p:nvPr/>
        </p:nvGrpSpPr>
        <p:grpSpPr bwMode="auto">
          <a:xfrm>
            <a:off x="2133601" y="4633914"/>
            <a:ext cx="2917825" cy="663575"/>
            <a:chOff x="433" y="3902"/>
            <a:chExt cx="1838" cy="418"/>
          </a:xfrm>
        </p:grpSpPr>
        <p:sp>
          <p:nvSpPr>
            <p:cNvPr id="8" name="Text Box 56">
              <a:extLst>
                <a:ext uri="{FF2B5EF4-FFF2-40B4-BE49-F238E27FC236}">
                  <a16:creationId xmlns:a16="http://schemas.microsoft.com/office/drawing/2014/main" id="{ED01E75C-AF9F-AAA1-68F5-D0613F0AD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3969"/>
              <a:ext cx="1544" cy="291"/>
            </a:xfrm>
            <a:prstGeom prst="rect">
              <a:avLst/>
            </a:prstGeom>
            <a:solidFill>
              <a:srgbClr val="D1D1FF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ru-RU" sz="2400" dirty="0">
                  <a:latin typeface="Arial" charset="0"/>
                </a:rPr>
                <a:t>  Зачем нужен</a:t>
              </a:r>
              <a:r>
                <a:rPr lang="en-US" sz="2400" dirty="0">
                  <a:latin typeface="Arial" charset="0"/>
                </a:rPr>
                <a:t>?</a:t>
              </a:r>
              <a:endParaRPr lang="ru-RU" sz="2400" dirty="0">
                <a:latin typeface="Arial" charset="0"/>
              </a:endParaRPr>
            </a:p>
          </p:txBody>
        </p:sp>
        <p:sp>
          <p:nvSpPr>
            <p:cNvPr id="50189" name="Oval 57">
              <a:extLst>
                <a:ext uri="{FF2B5EF4-FFF2-40B4-BE49-F238E27FC236}">
                  <a16:creationId xmlns:a16="http://schemas.microsoft.com/office/drawing/2014/main" id="{115B7EDE-3B12-4A86-A009-F609E922A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?</a:t>
              </a:r>
              <a:endParaRPr lang="ru-RU" altLang="ru-RU" sz="440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50184" name="Прямоугольник 6">
            <a:extLst>
              <a:ext uri="{FF2B5EF4-FFF2-40B4-BE49-F238E27FC236}">
                <a16:creationId xmlns:a16="http://schemas.microsoft.com/office/drawing/2014/main" id="{2E2653CC-A802-F76F-B246-0E9EBBE79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806451"/>
            <a:ext cx="84566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0363" indent="-360363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i="1"/>
              <a:t>Задача</a:t>
            </a:r>
            <a:r>
              <a:rPr lang="ru-RU" altLang="ru-RU" sz="2400"/>
              <a:t>: в переменных </a:t>
            </a:r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ru-RU" sz="2400"/>
              <a:t> </a:t>
            </a:r>
            <a:r>
              <a:rPr lang="ru-RU" altLang="ru-RU" sz="2400"/>
              <a:t>и </a:t>
            </a:r>
            <a:r>
              <a:rPr lang="en-US" altLang="ru-RU" sz="2400" b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ru-RU" sz="2400"/>
              <a:t> </a:t>
            </a:r>
            <a:r>
              <a:rPr lang="ru-RU" altLang="ru-RU" sz="2400"/>
              <a:t>записаны</a:t>
            </a:r>
            <a:r>
              <a:rPr lang="en-US" altLang="ru-RU" sz="2400"/>
              <a:t> </a:t>
            </a:r>
            <a:r>
              <a:rPr lang="ru-RU" altLang="ru-RU" sz="2400"/>
              <a:t>возрасты Андрея и Бориса. Кто из них старше?</a:t>
            </a:r>
          </a:p>
        </p:txBody>
      </p:sp>
      <p:grpSp>
        <p:nvGrpSpPr>
          <p:cNvPr id="3" name="Group 55">
            <a:extLst>
              <a:ext uri="{FF2B5EF4-FFF2-40B4-BE49-F238E27FC236}">
                <a16:creationId xmlns:a16="http://schemas.microsoft.com/office/drawing/2014/main" id="{1DE3A3EF-5882-4777-967F-675A43154028}"/>
              </a:ext>
            </a:extLst>
          </p:cNvPr>
          <p:cNvGrpSpPr>
            <a:grpSpLocks/>
          </p:cNvGrpSpPr>
          <p:nvPr/>
        </p:nvGrpSpPr>
        <p:grpSpPr bwMode="auto">
          <a:xfrm>
            <a:off x="6448425" y="1244601"/>
            <a:ext cx="3841750" cy="663575"/>
            <a:chOff x="433" y="3902"/>
            <a:chExt cx="2420" cy="418"/>
          </a:xfrm>
        </p:grpSpPr>
        <p:sp>
          <p:nvSpPr>
            <p:cNvPr id="12" name="Text Box 56">
              <a:extLst>
                <a:ext uri="{FF2B5EF4-FFF2-40B4-BE49-F238E27FC236}">
                  <a16:creationId xmlns:a16="http://schemas.microsoft.com/office/drawing/2014/main" id="{F00BB65F-7480-728F-6652-8E025B1B7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3969"/>
              <a:ext cx="2126" cy="291"/>
            </a:xfrm>
            <a:prstGeom prst="rect">
              <a:avLst/>
            </a:prstGeom>
            <a:solidFill>
              <a:srgbClr val="D1D1FF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 marL="179388" indent="-179388">
                <a:spcBef>
                  <a:spcPct val="50000"/>
                </a:spcBef>
                <a:defRPr/>
              </a:pPr>
              <a:r>
                <a:rPr lang="ru-RU" sz="2400" dirty="0">
                  <a:latin typeface="Arial" charset="0"/>
                </a:rPr>
                <a:t>  Сколько вариантов</a:t>
              </a:r>
              <a:r>
                <a:rPr lang="en-US" sz="2400" dirty="0">
                  <a:latin typeface="Arial" charset="0"/>
                </a:rPr>
                <a:t>?</a:t>
              </a:r>
              <a:endParaRPr lang="ru-RU" sz="2400" dirty="0">
                <a:latin typeface="Arial" charset="0"/>
              </a:endParaRPr>
            </a:p>
          </p:txBody>
        </p:sp>
        <p:sp>
          <p:nvSpPr>
            <p:cNvPr id="50187" name="Oval 57">
              <a:extLst>
                <a:ext uri="{FF2B5EF4-FFF2-40B4-BE49-F238E27FC236}">
                  <a16:creationId xmlns:a16="http://schemas.microsoft.com/office/drawing/2014/main" id="{466C3099-0CD0-051B-8DDB-339730F81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?</a:t>
              </a:r>
              <a:endParaRPr lang="ru-RU" altLang="ru-RU" sz="440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044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0181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Заголовок 4">
            <a:extLst>
              <a:ext uri="{FF2B5EF4-FFF2-40B4-BE49-F238E27FC236}">
                <a16:creationId xmlns:a16="http://schemas.microsoft.com/office/drawing/2014/main" id="{48B7C3D6-C2B3-69B7-C716-C738CEADC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Задачи</a:t>
            </a:r>
          </a:p>
        </p:txBody>
      </p:sp>
      <p:sp>
        <p:nvSpPr>
          <p:cNvPr id="51203" name="Номер слайда 3">
            <a:extLst>
              <a:ext uri="{FF2B5EF4-FFF2-40B4-BE49-F238E27FC236}">
                <a16:creationId xmlns:a16="http://schemas.microsoft.com/office/drawing/2014/main" id="{34261E1F-C681-B954-AA09-7F1E582B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733B02-3D6F-4118-9F4B-050AE4302FA7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ru-RU" altLang="ru-RU" sz="140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BE5E61AB-8E36-84F4-085C-14DF87132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809625"/>
            <a:ext cx="84201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630238" indent="-630238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A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Ввести три целых числа, найти максимальное из них. </a:t>
            </a:r>
            <a:endParaRPr lang="en-US" sz="2400" dirty="0"/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Введите три целых числа:</a:t>
            </a: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1 5 4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Максимальное число 5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6BA35485-F6E7-F4E6-0E14-93CF71396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3068638"/>
            <a:ext cx="84201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630238" indent="-630238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B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Ввести пять целых чисел, найти максимальное из них. </a:t>
            </a:r>
            <a:endParaRPr lang="en-US" sz="2400" dirty="0"/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Введите пять целых чисел:</a:t>
            </a: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1 5 4 3 2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Максимальное число 5</a:t>
            </a:r>
          </a:p>
        </p:txBody>
      </p:sp>
    </p:spTree>
    <p:extLst>
      <p:ext uri="{BB962C8B-B14F-4D97-AF65-F5344CB8AC3E}">
        <p14:creationId xmlns:p14="http://schemas.microsoft.com/office/powerpoint/2010/main" val="421300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Заголовок 4">
            <a:extLst>
              <a:ext uri="{FF2B5EF4-FFF2-40B4-BE49-F238E27FC236}">
                <a16:creationId xmlns:a16="http://schemas.microsoft.com/office/drawing/2014/main" id="{0106B647-7F54-1508-0472-75E33588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Задачи</a:t>
            </a:r>
          </a:p>
        </p:txBody>
      </p:sp>
      <p:sp>
        <p:nvSpPr>
          <p:cNvPr id="52227" name="Номер слайда 3">
            <a:extLst>
              <a:ext uri="{FF2B5EF4-FFF2-40B4-BE49-F238E27FC236}">
                <a16:creationId xmlns:a16="http://schemas.microsoft.com/office/drawing/2014/main" id="{194DF6B7-8260-4E61-955E-C32799230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405FCB-6137-4E05-AA40-F0F8F3179C60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ru-RU" altLang="ru-RU" sz="140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9B16E601-9972-2621-1B75-99459288D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809626"/>
            <a:ext cx="842010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630238" indent="-630238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C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Ввести последовательно возраст Антона, Бориса и Виктора. Определить, кто из них старше.  </a:t>
            </a:r>
            <a:endParaRPr lang="en-US" sz="2400" dirty="0"/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Возраст Антона: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15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Возраст Бориса: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Возраст Виктора: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16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Ответ: Борис старше всех.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Возраст Антона: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Возраст Бориса: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17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Возраст Виктора: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16</a:t>
            </a:r>
            <a:r>
              <a:rPr lang="ru-RU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Ответ: Антон и Борис старше Виктора.</a:t>
            </a:r>
          </a:p>
        </p:txBody>
      </p:sp>
    </p:spTree>
    <p:extLst>
      <p:ext uri="{BB962C8B-B14F-4D97-AF65-F5344CB8AC3E}">
        <p14:creationId xmlns:p14="http://schemas.microsoft.com/office/powerpoint/2010/main" val="2584642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Заголовок 1">
            <a:extLst>
              <a:ext uri="{FF2B5EF4-FFF2-40B4-BE49-F238E27FC236}">
                <a16:creationId xmlns:a16="http://schemas.microsoft.com/office/drawing/2014/main" id="{B6F509DD-932C-A7E5-D38F-6BF516E5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Сложные условия</a:t>
            </a:r>
          </a:p>
        </p:txBody>
      </p:sp>
      <p:sp>
        <p:nvSpPr>
          <p:cNvPr id="53251" name="Номер слайда 2">
            <a:extLst>
              <a:ext uri="{FF2B5EF4-FFF2-40B4-BE49-F238E27FC236}">
                <a16:creationId xmlns:a16="http://schemas.microsoft.com/office/drawing/2014/main" id="{EC8268B6-52F4-55D5-B9D9-BD128EEE8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C29DCD-3BA0-4B64-94DB-B71280EAA8C9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ru-RU" altLang="ru-RU" sz="1400"/>
          </a:p>
        </p:txBody>
      </p:sp>
      <p:sp>
        <p:nvSpPr>
          <p:cNvPr id="53252" name="Прямоугольник 3">
            <a:extLst>
              <a:ext uri="{FF2B5EF4-FFF2-40B4-BE49-F238E27FC236}">
                <a16:creationId xmlns:a16="http://schemas.microsoft.com/office/drawing/2014/main" id="{3C5621AD-96AB-260D-72AD-9B2859AC3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1" y="809626"/>
            <a:ext cx="84232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i="1"/>
              <a:t>Задача</a:t>
            </a:r>
            <a:r>
              <a:rPr lang="ru-RU" altLang="ru-RU" sz="2400"/>
              <a:t>: набор сотрудников в возрасте </a:t>
            </a:r>
            <a:r>
              <a:rPr lang="ru-RU" altLang="ru-RU" sz="2400" b="1">
                <a:solidFill>
                  <a:srgbClr val="333399"/>
                </a:solidFill>
              </a:rPr>
              <a:t>25-40 лет </a:t>
            </a:r>
            <a:r>
              <a:rPr lang="ru-RU" altLang="ru-RU" sz="2400"/>
              <a:t>(включительно).</a:t>
            </a:r>
          </a:p>
        </p:txBody>
      </p:sp>
      <p:sp>
        <p:nvSpPr>
          <p:cNvPr id="26625" name="Rectangle 1">
            <a:extLst>
              <a:ext uri="{FF2B5EF4-FFF2-40B4-BE49-F238E27FC236}">
                <a16:creationId xmlns:a16="http://schemas.microsoft.com/office/drawing/2014/main" id="{FC3C2A1F-CCEE-E755-668D-577F35BE8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488" y="1912939"/>
            <a:ext cx="5384800" cy="1570037"/>
          </a:xfrm>
          <a:prstGeom prst="rect">
            <a:avLst/>
          </a:prstGeom>
          <a:solidFill>
            <a:srgbClr val="FFFF99"/>
          </a:solidFill>
          <a:ln w="12700" cap="flat" cmpd="sng">
            <a:noFill/>
            <a:prstDash val="solid"/>
            <a:miter lim="800000"/>
            <a:headEnd type="none" w="med" len="med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algn="just">
              <a:defRPr/>
            </a:pPr>
            <a:r>
              <a:rPr lang="en-US" sz="2400" b="1" dirty="0">
                <a:solidFill>
                  <a:srgbClr val="3333FF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if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 (                    ) </a:t>
            </a:r>
            <a:endParaRPr lang="ru-RU" sz="2400" b="1" dirty="0">
              <a:latin typeface="Courier New" pitchFamily="49" charset="0"/>
              <a:ea typeface="Times New Roman"/>
              <a:cs typeface="Courier New" pitchFamily="49" charset="0"/>
            </a:endParaRPr>
          </a:p>
          <a:p>
            <a:pPr algn="just">
              <a:defRPr/>
            </a:pP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  </a:t>
            </a:r>
            <a:r>
              <a:rPr lang="en-US" sz="2400" b="1" dirty="0" err="1">
                <a:latin typeface="Courier New" pitchFamily="49" charset="0"/>
                <a:ea typeface="Times New Roman"/>
                <a:cs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 &lt;&lt;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"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подходит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"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;</a:t>
            </a:r>
            <a:endParaRPr lang="ru-RU" sz="2400" b="1" dirty="0">
              <a:latin typeface="Courier New" pitchFamily="49" charset="0"/>
              <a:ea typeface="Times New Roman"/>
              <a:cs typeface="Courier New" pitchFamily="49" charset="0"/>
            </a:endParaRPr>
          </a:p>
          <a:p>
            <a:pPr algn="just">
              <a:defRPr/>
            </a:pPr>
            <a:r>
              <a:rPr lang="en-US" sz="2400" b="1" dirty="0">
                <a:solidFill>
                  <a:srgbClr val="3333FF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else</a:t>
            </a:r>
            <a:endParaRPr lang="ru-RU" sz="2400" b="1" dirty="0">
              <a:latin typeface="Courier New" pitchFamily="49" charset="0"/>
              <a:ea typeface="Times New Roman"/>
              <a:cs typeface="Courier New" pitchFamily="49" charset="0"/>
            </a:endParaRPr>
          </a:p>
          <a:p>
            <a:pPr eaLnBrk="1" hangingPunct="1">
              <a:defRPr/>
            </a:pP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  </a:t>
            </a:r>
            <a:r>
              <a:rPr lang="en-US" sz="2400" b="1" dirty="0" err="1">
                <a:latin typeface="Courier New" pitchFamily="49" charset="0"/>
                <a:ea typeface="Times New Roman"/>
                <a:cs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 &lt;&lt; 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"не подходит"</a:t>
            </a:r>
            <a:r>
              <a:rPr lang="ru-RU" sz="2400" b="1" dirty="0">
                <a:latin typeface="Courier New" pitchFamily="49" charset="0"/>
                <a:ea typeface="Times New Roman"/>
                <a:cs typeface="Courier New" pitchFamily="49" charset="0"/>
              </a:rPr>
              <a:t>;</a:t>
            </a:r>
            <a:endParaRPr lang="ru-RU" sz="2400" b="1" dirty="0"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05953DD-5236-FC38-2C5A-82E44D3C6280}"/>
              </a:ext>
            </a:extLst>
          </p:cNvPr>
          <p:cNvSpPr/>
          <p:nvPr/>
        </p:nvSpPr>
        <p:spPr>
          <a:xfrm>
            <a:off x="8070851" y="1857376"/>
            <a:ext cx="614363" cy="523875"/>
          </a:xfrm>
          <a:prstGeom prst="rect">
            <a:avLst/>
          </a:prstGeom>
          <a:solidFill>
            <a:srgbClr val="99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</a:rPr>
              <a:t>&amp;&amp;</a:t>
            </a:r>
            <a:endParaRPr lang="ru-RU" dirty="0">
              <a:latin typeface="Arial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CF44ADB-2E3D-8C84-3AB8-BAF36A2C00DA}"/>
              </a:ext>
            </a:extLst>
          </p:cNvPr>
          <p:cNvSpPr/>
          <p:nvPr/>
        </p:nvSpPr>
        <p:spPr>
          <a:xfrm>
            <a:off x="8070851" y="2600326"/>
            <a:ext cx="614363" cy="523875"/>
          </a:xfrm>
          <a:prstGeom prst="rect">
            <a:avLst/>
          </a:prstGeom>
          <a:solidFill>
            <a:srgbClr val="99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</a:rPr>
              <a:t>||</a:t>
            </a:r>
            <a:endParaRPr lang="ru-RU" dirty="0">
              <a:latin typeface="Arial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ABB1438-0A1E-CE53-36BB-35CE96948272}"/>
              </a:ext>
            </a:extLst>
          </p:cNvPr>
          <p:cNvSpPr/>
          <p:nvPr/>
        </p:nvSpPr>
        <p:spPr>
          <a:xfrm>
            <a:off x="8178800" y="3343276"/>
            <a:ext cx="400050" cy="523875"/>
          </a:xfrm>
          <a:prstGeom prst="rect">
            <a:avLst/>
          </a:prstGeom>
          <a:solidFill>
            <a:srgbClr val="99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solidFill>
                  <a:srgbClr val="000000"/>
                </a:solidFill>
                <a:latin typeface="Courier New" pitchFamily="49" charset="0"/>
              </a:rPr>
              <a:t>!</a:t>
            </a:r>
            <a:endParaRPr lang="ru-RU" dirty="0">
              <a:latin typeface="Arial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0D34544-C740-9872-9FE0-BD7BC69E1ABB}"/>
              </a:ext>
            </a:extLst>
          </p:cNvPr>
          <p:cNvSpPr/>
          <p:nvPr/>
        </p:nvSpPr>
        <p:spPr>
          <a:xfrm>
            <a:off x="1911350" y="3914776"/>
            <a:ext cx="6034088" cy="19399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sz="2400" b="1" dirty="0">
                <a:solidFill>
                  <a:srgbClr val="333399"/>
                </a:solidFill>
                <a:latin typeface="Arial" charset="0"/>
              </a:rPr>
              <a:t>Приоритет :</a:t>
            </a:r>
          </a:p>
          <a:p>
            <a:pPr marL="714375" indent="-357188">
              <a:buClr>
                <a:schemeClr val="tx1"/>
              </a:buClr>
              <a:buFont typeface="+mj-lt"/>
              <a:buAutoNum type="arabicParenR"/>
              <a:defRPr/>
            </a:pPr>
            <a:r>
              <a:rPr lang="ru-RU" sz="2400" dirty="0">
                <a:latin typeface="Arial" charset="0"/>
              </a:rPr>
              <a:t>отношения (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dirty="0">
                <a:latin typeface="Arial" charset="0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>
                <a:latin typeface="Arial" charset="0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&lt;=</a:t>
            </a:r>
            <a:r>
              <a:rPr lang="en-US" sz="2400" dirty="0">
                <a:latin typeface="Arial" charset="0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&gt;=</a:t>
            </a:r>
            <a:r>
              <a:rPr lang="en-US" sz="2400" dirty="0">
                <a:latin typeface="Arial" charset="0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==</a:t>
            </a:r>
            <a:r>
              <a:rPr lang="en-US" sz="2400" dirty="0">
                <a:latin typeface="Arial" charset="0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!=</a:t>
            </a:r>
            <a:r>
              <a:rPr lang="ru-RU" sz="2400" dirty="0">
                <a:latin typeface="Arial" charset="0"/>
              </a:rPr>
              <a:t>)</a:t>
            </a:r>
          </a:p>
          <a:p>
            <a:pPr marL="714375" indent="-357188">
              <a:buClr>
                <a:schemeClr val="tx1"/>
              </a:buClr>
              <a:buFont typeface="+mj-lt"/>
              <a:buAutoNum type="arabicParenR"/>
              <a:defRPr/>
            </a:pPr>
            <a:r>
              <a:rPr lang="ru-RU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!</a:t>
            </a:r>
            <a:r>
              <a:rPr lang="ru-RU" sz="2400" dirty="0">
                <a:cs typeface="Courier New" pitchFamily="49" charset="0"/>
              </a:rPr>
              <a:t> («НЕ»)</a:t>
            </a:r>
          </a:p>
          <a:p>
            <a:pPr marL="714375" indent="-357188">
              <a:buClr>
                <a:schemeClr val="tx1"/>
              </a:buClr>
              <a:buFont typeface="+mj-lt"/>
              <a:buAutoNum type="arabicParenR"/>
              <a:defRPr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&amp;&amp;</a:t>
            </a:r>
            <a:r>
              <a:rPr lang="ru-RU" sz="2400" dirty="0">
                <a:latin typeface="Arial" charset="0"/>
                <a:cs typeface="Courier New" pitchFamily="49" charset="0"/>
              </a:rPr>
              <a:t> («И»)</a:t>
            </a:r>
            <a:endParaRPr lang="ru-RU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marL="714375" indent="-357188">
              <a:buClr>
                <a:schemeClr val="tx1"/>
              </a:buClr>
              <a:buFont typeface="+mj-lt"/>
              <a:buAutoNum type="arabicParenR"/>
              <a:defRPr/>
            </a:pP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||</a:t>
            </a:r>
            <a:r>
              <a:rPr lang="ru-RU" sz="2400" dirty="0">
                <a:latin typeface="Arial" charset="0"/>
                <a:cs typeface="Courier New" pitchFamily="49" charset="0"/>
              </a:rPr>
              <a:t> («ИЛИ»)</a:t>
            </a:r>
            <a:endParaRPr lang="ru-RU" sz="2400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DA370A4-3FDB-3337-B6CD-40F8D9579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8963" y="1908176"/>
            <a:ext cx="3471862" cy="41592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400" b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 &gt;= </a:t>
            </a:r>
            <a:r>
              <a:rPr lang="en-US" altLang="ru-RU" sz="2400" b="1">
                <a:solidFill>
                  <a:srgbClr val="00B0F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25</a:t>
            </a:r>
            <a:r>
              <a:rPr lang="en-US" altLang="ru-RU" sz="2400" b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&amp;&amp; v &lt;= </a:t>
            </a:r>
            <a:r>
              <a:rPr lang="en-US" altLang="ru-RU" sz="2400" b="1">
                <a:solidFill>
                  <a:srgbClr val="00B0F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40</a:t>
            </a:r>
            <a:endParaRPr lang="ru-RU" altLang="ru-RU" sz="1800"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11" name="AutoShape 53">
            <a:extLst>
              <a:ext uri="{FF2B5EF4-FFF2-40B4-BE49-F238E27FC236}">
                <a16:creationId xmlns:a16="http://schemas.microsoft.com/office/drawing/2014/main" id="{FF409ECE-42B6-66F0-D4B3-8FB6FFC7A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6325" y="1355725"/>
            <a:ext cx="2713038" cy="465138"/>
          </a:xfrm>
          <a:prstGeom prst="wedgeRoundRectCallout">
            <a:avLst>
              <a:gd name="adj1" fmla="val -34346"/>
              <a:gd name="adj2" fmla="val 76178"/>
              <a:gd name="adj3" fmla="val 16667"/>
            </a:avLst>
          </a:prstGeom>
          <a:solidFill>
            <a:srgbClr val="E6E6FF"/>
          </a:solidFill>
          <a:ln w="12700">
            <a:noFill/>
            <a:miter lim="800000"/>
            <a:headEnd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/>
          <a:p>
            <a:pPr algn="ctr" eaLnBrk="1" hangingPunct="1">
              <a:lnSpc>
                <a:spcPct val="80000"/>
              </a:lnSpc>
              <a:defRPr/>
            </a:pPr>
            <a:r>
              <a:rPr lang="ru-RU" sz="2400" dirty="0">
                <a:latin typeface="Arial" charset="0"/>
              </a:rPr>
              <a:t>сложное условие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F41B42D-335A-F475-C8EF-4C56B0345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6013" y="1889126"/>
            <a:ext cx="749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rgbClr val="000000"/>
                </a:solidFill>
              </a:rPr>
              <a:t>«И»</a:t>
            </a:r>
            <a:endParaRPr lang="ru-RU" altLang="ru-RU" sz="180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5D341CC-56E4-2F55-78E0-8701D7FBD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6013" y="2620963"/>
            <a:ext cx="1173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rgbClr val="000000"/>
                </a:solidFill>
              </a:rPr>
              <a:t>«ИЛИ»</a:t>
            </a:r>
            <a:endParaRPr lang="ru-RU" altLang="ru-RU" sz="180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8A7740B-44DD-6EAE-474E-4259AB467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6014" y="3362326"/>
            <a:ext cx="955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solidFill>
                  <a:srgbClr val="000000"/>
                </a:solidFill>
              </a:rPr>
              <a:t>«НЕ»</a:t>
            </a: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48227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5" grpId="0" animBg="1"/>
      <p:bldP spid="6" grpId="0" animBg="1"/>
      <p:bldP spid="7" grpId="0" animBg="1"/>
      <p:bldP spid="8" grpId="0" animBg="1"/>
      <p:bldP spid="9" grpId="0" build="p"/>
      <p:bldP spid="10" grpId="0" animBg="1"/>
      <p:bldP spid="11" grpId="0" animBg="1"/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Заголовок 4">
            <a:extLst>
              <a:ext uri="{FF2B5EF4-FFF2-40B4-BE49-F238E27FC236}">
                <a16:creationId xmlns:a16="http://schemas.microsoft.com/office/drawing/2014/main" id="{ADFAB39B-F7E8-E0A9-EB40-0190B9698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Задачи</a:t>
            </a:r>
          </a:p>
        </p:txBody>
      </p:sp>
      <p:sp>
        <p:nvSpPr>
          <p:cNvPr id="54275" name="Номер слайда 3">
            <a:extLst>
              <a:ext uri="{FF2B5EF4-FFF2-40B4-BE49-F238E27FC236}">
                <a16:creationId xmlns:a16="http://schemas.microsoft.com/office/drawing/2014/main" id="{CA28C55B-FE8C-2FB3-254C-E1B97DA4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F7083E-0F00-476A-B12D-3B00581E40AC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ru-RU" altLang="ru-RU" sz="140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5053AAFF-DBCB-2EC8-C948-15F2183F9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809625"/>
            <a:ext cx="8420100" cy="563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630238" indent="-630238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A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Напишите программу, которая получает три числа и выводит количество одинаковых чисел в этой цепочке. </a:t>
            </a:r>
            <a:endParaRPr lang="en-US" sz="2400" dirty="0"/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Введите три числа: </a:t>
            </a: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5 5 5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Все числа одинаковые.</a:t>
            </a:r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Введите три числа: </a:t>
            </a: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5 7 5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Два числа одинаковые.</a:t>
            </a:r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Введите три числа: </a:t>
            </a: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5 7 8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Нет одинаковых чисел.</a:t>
            </a:r>
          </a:p>
        </p:txBody>
      </p:sp>
    </p:spTree>
    <p:extLst>
      <p:ext uri="{BB962C8B-B14F-4D97-AF65-F5344CB8AC3E}">
        <p14:creationId xmlns:p14="http://schemas.microsoft.com/office/powerpoint/2010/main" val="1850029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Заголовок 4">
            <a:extLst>
              <a:ext uri="{FF2B5EF4-FFF2-40B4-BE49-F238E27FC236}">
                <a16:creationId xmlns:a16="http://schemas.microsoft.com/office/drawing/2014/main" id="{822B2BA4-6241-1A35-3F7C-896C6C5D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Задачи</a:t>
            </a:r>
          </a:p>
        </p:txBody>
      </p:sp>
      <p:sp>
        <p:nvSpPr>
          <p:cNvPr id="55299" name="Номер слайда 3">
            <a:extLst>
              <a:ext uri="{FF2B5EF4-FFF2-40B4-BE49-F238E27FC236}">
                <a16:creationId xmlns:a16="http://schemas.microsoft.com/office/drawing/2014/main" id="{0045D1B8-62C2-C453-E882-C372E7F3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6A48D1-BC0F-4BA3-BA73-A5A3E015B5C8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ru-RU" altLang="ru-RU" sz="140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E9345967-3B1F-EFFD-675D-987822A0A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809625"/>
            <a:ext cx="8420100" cy="415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630238" indent="-630238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B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Напишите программу, которая получает номер месяца и выводит соответствующее ему время года или сообщение об ошибке. </a:t>
            </a:r>
            <a:endParaRPr lang="en-US" sz="2400" dirty="0"/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Введите номер месяца:</a:t>
            </a: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5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Весна.</a:t>
            </a:r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Введите номер месяца:</a:t>
            </a:r>
          </a:p>
          <a:p>
            <a:pPr marL="714375">
              <a:defRPr/>
            </a:pP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15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Неверный номер месяца.</a:t>
            </a:r>
          </a:p>
        </p:txBody>
      </p:sp>
    </p:spTree>
    <p:extLst>
      <p:ext uri="{BB962C8B-B14F-4D97-AF65-F5344CB8AC3E}">
        <p14:creationId xmlns:p14="http://schemas.microsoft.com/office/powerpoint/2010/main" val="3800770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Заголовок 4">
            <a:extLst>
              <a:ext uri="{FF2B5EF4-FFF2-40B4-BE49-F238E27FC236}">
                <a16:creationId xmlns:a16="http://schemas.microsoft.com/office/drawing/2014/main" id="{14D68A7E-E743-804C-6AFD-9FE66B1F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Задачи</a:t>
            </a:r>
          </a:p>
        </p:txBody>
      </p:sp>
      <p:sp>
        <p:nvSpPr>
          <p:cNvPr id="56323" name="Номер слайда 3">
            <a:extLst>
              <a:ext uri="{FF2B5EF4-FFF2-40B4-BE49-F238E27FC236}">
                <a16:creationId xmlns:a16="http://schemas.microsoft.com/office/drawing/2014/main" id="{9263AFB7-704F-6415-5CA2-CDDB875B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7D3E14-D309-47F5-8443-B68735E96E48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ru-RU" altLang="ru-RU" sz="140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169C57C6-8502-8A4E-D64C-149ACCB5C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888" y="809626"/>
            <a:ext cx="8420100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630238" indent="-630238">
              <a:defRPr/>
            </a:pPr>
            <a:r>
              <a:rPr lang="ru-RU" sz="2400" b="1" dirty="0">
                <a:solidFill>
                  <a:srgbClr val="3333FF"/>
                </a:solidFill>
              </a:rPr>
              <a:t>«</a:t>
            </a:r>
            <a:r>
              <a:rPr lang="en-US" sz="2400" b="1" dirty="0">
                <a:solidFill>
                  <a:srgbClr val="3333FF"/>
                </a:solidFill>
              </a:rPr>
              <a:t>C</a:t>
            </a:r>
            <a:r>
              <a:rPr lang="ru-RU" sz="2400" b="1" dirty="0">
                <a:solidFill>
                  <a:srgbClr val="3333FF"/>
                </a:solidFill>
              </a:rPr>
              <a:t>»: </a:t>
            </a:r>
            <a:r>
              <a:rPr lang="ru-RU" sz="2400" dirty="0"/>
              <a:t>Напишите программу, которая получает возраст человека (целое число, не превышающее 120) и выводит этот возраст со словом «год», «года» или «лет». Например, «21 год», «22 года», «25 лет».  </a:t>
            </a:r>
            <a:endParaRPr lang="en-US" sz="2400" dirty="0"/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Введите возраст: 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18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Вам 18 лет.</a:t>
            </a:r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Введите возраст: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21</a:t>
            </a:r>
            <a:endParaRPr lang="ru-RU" sz="24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Вам 21 год.</a:t>
            </a:r>
          </a:p>
          <a:p>
            <a:pPr marL="714375" indent="-357188">
              <a:defRPr/>
            </a:pPr>
            <a:r>
              <a:rPr lang="ru-RU" sz="2400" b="1" dirty="0">
                <a:solidFill>
                  <a:srgbClr val="333399"/>
                </a:solidFill>
              </a:rPr>
              <a:t>Пример</a:t>
            </a:r>
            <a:r>
              <a:rPr lang="ru-RU" sz="2400" b="1" dirty="0"/>
              <a:t>: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Введите возраст: </a:t>
            </a:r>
            <a:r>
              <a:rPr lang="en-US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ru-RU" sz="24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</a:p>
          <a:p>
            <a:pPr marL="714375">
              <a:defRPr/>
            </a:pPr>
            <a:r>
              <a:rPr lang="ru-RU" sz="2400" b="1" dirty="0">
                <a:latin typeface="Courier New" pitchFamily="49" charset="0"/>
                <a:cs typeface="Courier New" pitchFamily="49" charset="0"/>
              </a:rPr>
              <a:t>Вам 22 года.</a:t>
            </a:r>
          </a:p>
        </p:txBody>
      </p:sp>
    </p:spTree>
    <p:extLst>
      <p:ext uri="{BB962C8B-B14F-4D97-AF65-F5344CB8AC3E}">
        <p14:creationId xmlns:p14="http://schemas.microsoft.com/office/powerpoint/2010/main" val="1293517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Заголовок 1">
            <a:extLst>
              <a:ext uri="{FF2B5EF4-FFF2-40B4-BE49-F238E27FC236}">
                <a16:creationId xmlns:a16="http://schemas.microsoft.com/office/drawing/2014/main" id="{4A97F62A-429A-ABF6-2114-0CC47DEE8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Множественный выбор</a:t>
            </a:r>
          </a:p>
        </p:txBody>
      </p:sp>
      <p:sp>
        <p:nvSpPr>
          <p:cNvPr id="59395" name="Номер слайда 2">
            <a:extLst>
              <a:ext uri="{FF2B5EF4-FFF2-40B4-BE49-F238E27FC236}">
                <a16:creationId xmlns:a16="http://schemas.microsoft.com/office/drawing/2014/main" id="{A3720E83-B117-C53E-D0B0-DC9FB35E5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6221C1-5C49-4ED0-9C24-004C383028D5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ru-RU" altLang="ru-RU" sz="1400"/>
          </a:p>
        </p:txBody>
      </p:sp>
      <p:sp>
        <p:nvSpPr>
          <p:cNvPr id="64513" name="Rectangle 1">
            <a:extLst>
              <a:ext uri="{FF2B5EF4-FFF2-40B4-BE49-F238E27FC236}">
                <a16:creationId xmlns:a16="http://schemas.microsoft.com/office/drawing/2014/main" id="{B344A65E-E93F-8C91-BAED-E699065B1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050" y="895350"/>
            <a:ext cx="6065838" cy="1568450"/>
          </a:xfrm>
          <a:prstGeom prst="rect">
            <a:avLst/>
          </a:prstGeom>
          <a:solidFill>
            <a:srgbClr val="E6E6FF"/>
          </a:solidFill>
          <a:ln w="12700" cap="flat" cmpd="sng">
            <a:noFill/>
            <a:prstDash val="solid"/>
            <a:miter lim="800000"/>
            <a:headEnd type="none" w="med" len="med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179388" indent="-179388" algn="just">
              <a:defRPr/>
            </a:pPr>
            <a:r>
              <a:rPr lang="en-US" sz="2400" b="1" dirty="0">
                <a:solidFill>
                  <a:srgbClr val="3333FF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if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 (m == </a:t>
            </a:r>
            <a:r>
              <a:rPr lang="en-US" sz="2400" b="1" dirty="0">
                <a:solidFill>
                  <a:srgbClr val="00B0F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1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) </a:t>
            </a:r>
            <a:r>
              <a:rPr lang="en-US" sz="2400" b="1" dirty="0" err="1">
                <a:latin typeface="Courier New" pitchFamily="49" charset="0"/>
                <a:ea typeface="Times New Roman"/>
                <a:cs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 &lt;&lt;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"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январь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"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;</a:t>
            </a:r>
            <a:endParaRPr lang="ru-RU" sz="2400" b="1" dirty="0">
              <a:latin typeface="Courier New" pitchFamily="49" charset="0"/>
              <a:ea typeface="Times New Roman"/>
              <a:cs typeface="Courier New" pitchFamily="49" charset="0"/>
            </a:endParaRPr>
          </a:p>
          <a:p>
            <a:pPr marL="179388" indent="-179388" algn="just">
              <a:defRPr/>
            </a:pPr>
            <a:r>
              <a:rPr lang="en-US" sz="2400" b="1" dirty="0">
                <a:solidFill>
                  <a:srgbClr val="3333FF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if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 (m == </a:t>
            </a:r>
            <a:r>
              <a:rPr lang="en-US" sz="2400" b="1" dirty="0">
                <a:solidFill>
                  <a:srgbClr val="00B0F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2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) </a:t>
            </a:r>
            <a:r>
              <a:rPr lang="en-US" sz="2400" b="1" dirty="0" err="1">
                <a:latin typeface="Courier New" pitchFamily="49" charset="0"/>
                <a:ea typeface="Times New Roman"/>
                <a:cs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 &lt;&lt;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"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февраль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"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;</a:t>
            </a:r>
            <a:endParaRPr lang="ru-RU" sz="2400" b="1" dirty="0">
              <a:latin typeface="Courier New" pitchFamily="49" charset="0"/>
              <a:ea typeface="Times New Roman"/>
              <a:cs typeface="Courier New" pitchFamily="49" charset="0"/>
            </a:endParaRPr>
          </a:p>
          <a:p>
            <a:pPr marL="179388" indent="-179388" algn="just">
              <a:defRPr/>
            </a:pP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...</a:t>
            </a:r>
            <a:endParaRPr lang="ru-RU" sz="2400" b="1" dirty="0">
              <a:latin typeface="Courier New" pitchFamily="49" charset="0"/>
              <a:ea typeface="Times New Roman"/>
              <a:cs typeface="Courier New" pitchFamily="49" charset="0"/>
            </a:endParaRPr>
          </a:p>
          <a:p>
            <a:pPr marL="179388" indent="-179388">
              <a:defRPr/>
            </a:pPr>
            <a:r>
              <a:rPr lang="en-US" sz="2400" b="1" dirty="0">
                <a:solidFill>
                  <a:srgbClr val="3333FF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if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 (m == </a:t>
            </a:r>
            <a:r>
              <a:rPr lang="en-US" sz="2400" b="1" dirty="0">
                <a:solidFill>
                  <a:srgbClr val="00B0F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12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) </a:t>
            </a:r>
            <a:r>
              <a:rPr lang="en-US" sz="2400" b="1" dirty="0" err="1">
                <a:latin typeface="Courier New" pitchFamily="49" charset="0"/>
                <a:ea typeface="Times New Roman"/>
                <a:cs typeface="Courier New" pitchFamily="49" charset="0"/>
              </a:rPr>
              <a:t>cout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 &lt;&lt;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"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декабрь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ea typeface="Times New Roman"/>
                <a:cs typeface="Courier New" pitchFamily="49" charset="0"/>
              </a:rPr>
              <a:t>"</a:t>
            </a:r>
            <a:r>
              <a:rPr lang="en-US" sz="2400" b="1" dirty="0">
                <a:latin typeface="Courier New" pitchFamily="49" charset="0"/>
                <a:ea typeface="Times New Roman"/>
                <a:cs typeface="Courier New" pitchFamily="49" charset="0"/>
              </a:rPr>
              <a:t>;</a:t>
            </a:r>
            <a:endParaRPr lang="ru-RU" sz="2400" b="1" dirty="0">
              <a:latin typeface="Courier New" pitchFamily="49" charset="0"/>
              <a:ea typeface="Times New Roman" pitchFamily="18" charset="0"/>
              <a:cs typeface="Courier New" pitchFamily="49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B85DA9-3EB0-495F-DA43-CC0F9BE81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63" y="2655889"/>
            <a:ext cx="6323012" cy="3786187"/>
          </a:xfrm>
          <a:prstGeom prst="rect">
            <a:avLst/>
          </a:prstGeom>
          <a:solidFill>
            <a:srgbClr val="FFFF99"/>
          </a:solidFill>
          <a:ln w="12700" cap="flat" cmpd="sng">
            <a:noFill/>
            <a:prstDash val="solid"/>
            <a:miter lim="800000"/>
            <a:headEnd type="none" w="med" len="med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179388" indent="88900" algn="just">
              <a:defRPr/>
            </a:pP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switch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 ( m ) { 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88900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case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1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: cout &lt;&lt; 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январь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;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88900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        </a:t>
            </a: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break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;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88900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case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2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: cout &lt;&lt; 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февраль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; 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88900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        </a:t>
            </a: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break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;    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88900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...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88900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case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12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: cout &lt;&lt; 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декабрь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;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88900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         </a:t>
            </a: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break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;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88900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default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: cout &lt;&lt; 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ошибка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;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88900">
              <a:defRPr/>
            </a:pPr>
            <a:r>
              <a:rPr lang="en-US" sz="2400">
                <a:latin typeface="Calibri" pitchFamily="34" charset="0"/>
                <a:cs typeface="Times New Roman" pitchFamily="18" charset="0"/>
              </a:rPr>
              <a:t>   </a:t>
            </a:r>
            <a:r>
              <a:rPr lang="ru-RU" sz="2400">
                <a:latin typeface="Calibri" pitchFamily="34" charset="0"/>
                <a:cs typeface="Times New Roman" pitchFamily="18" charset="0"/>
              </a:rPr>
              <a:t>}</a:t>
            </a:r>
            <a:endParaRPr lang="ru-RU" sz="24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50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Заголовок 1">
            <a:extLst>
              <a:ext uri="{FF2B5EF4-FFF2-40B4-BE49-F238E27FC236}">
                <a16:creationId xmlns:a16="http://schemas.microsoft.com/office/drawing/2014/main" id="{0E3CE101-F26A-E877-C23D-8FBA53CC4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Множественный выбор</a:t>
            </a:r>
          </a:p>
        </p:txBody>
      </p:sp>
      <p:sp>
        <p:nvSpPr>
          <p:cNvPr id="60419" name="Номер слайда 2">
            <a:extLst>
              <a:ext uri="{FF2B5EF4-FFF2-40B4-BE49-F238E27FC236}">
                <a16:creationId xmlns:a16="http://schemas.microsoft.com/office/drawing/2014/main" id="{FEC64ACC-8681-B505-3DAE-481D74877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373C29-DC0C-4DF5-9F75-B437F81E86B2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ru-RU" altLang="ru-RU" sz="14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9CC764-1E76-3E38-0405-846A50199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0425" y="1246189"/>
            <a:ext cx="6116638" cy="2308225"/>
          </a:xfrm>
          <a:prstGeom prst="rect">
            <a:avLst/>
          </a:prstGeom>
          <a:solidFill>
            <a:srgbClr val="FFFF99"/>
          </a:solidFill>
          <a:ln w="12700" cap="flat" cmpd="sng">
            <a:noFill/>
            <a:prstDash val="solid"/>
            <a:miter lim="800000"/>
            <a:headEnd type="none" w="med" len="med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179388" indent="-179388" algn="just">
              <a:defRPr/>
            </a:pP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switch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 ( m ) { 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-179388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case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1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:   cout &lt;&lt; 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январь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;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-179388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case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2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:   cout &lt;&lt; 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февраль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; 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-179388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case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00B0F0"/>
                </a:solidFill>
                <a:latin typeface="Courier New" pitchFamily="49" charset="0"/>
                <a:cs typeface="Times New Roman" pitchFamily="18" charset="0"/>
              </a:rPr>
              <a:t>3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:   cout &lt;&lt; 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март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; 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-179388" algn="just">
              <a:defRPr/>
            </a:pPr>
            <a:r>
              <a:rPr lang="en-US" sz="2400" b="1">
                <a:latin typeface="Courier New" pitchFamily="49" charset="0"/>
                <a:cs typeface="Times New Roman" pitchFamily="18" charset="0"/>
              </a:rPr>
              <a:t>   </a:t>
            </a:r>
            <a:r>
              <a:rPr lang="en-US" sz="2400" b="1">
                <a:solidFill>
                  <a:srgbClr val="3333FF"/>
                </a:solidFill>
                <a:latin typeface="Courier New" pitchFamily="49" charset="0"/>
                <a:cs typeface="Times New Roman" pitchFamily="18" charset="0"/>
              </a:rPr>
              <a:t>default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:  cout &lt;&lt; 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ru-RU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ошибка</a:t>
            </a:r>
            <a:r>
              <a:rPr lang="en-US" sz="2400" b="1">
                <a:solidFill>
                  <a:srgbClr val="C00000"/>
                </a:solidFill>
                <a:latin typeface="Courier New" pitchFamily="49" charset="0"/>
                <a:cs typeface="Times New Roman" pitchFamily="18" charset="0"/>
              </a:rPr>
              <a:t>"</a:t>
            </a:r>
            <a:r>
              <a:rPr lang="en-US" sz="2400" b="1">
                <a:latin typeface="Courier New" pitchFamily="49" charset="0"/>
                <a:cs typeface="Times New Roman" pitchFamily="18" charset="0"/>
              </a:rPr>
              <a:t>;</a:t>
            </a:r>
            <a:endParaRPr lang="ru-RU" sz="2400" b="1">
              <a:latin typeface="Courier New" pitchFamily="49" charset="0"/>
              <a:cs typeface="Times New Roman" pitchFamily="18" charset="0"/>
            </a:endParaRPr>
          </a:p>
          <a:p>
            <a:pPr marL="179388" indent="-179388">
              <a:defRPr/>
            </a:pPr>
            <a:r>
              <a:rPr lang="en-US" sz="2400">
                <a:latin typeface="Calibri" pitchFamily="34" charset="0"/>
                <a:cs typeface="Times New Roman" pitchFamily="18" charset="0"/>
              </a:rPr>
              <a:t>   </a:t>
            </a:r>
            <a:r>
              <a:rPr lang="ru-RU" sz="2400">
                <a:latin typeface="Calibri" pitchFamily="34" charset="0"/>
                <a:cs typeface="Times New Roman" pitchFamily="18" charset="0"/>
              </a:rPr>
              <a:t>}</a:t>
            </a:r>
            <a:endParaRPr lang="ru-RU" sz="24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3ECCC98-9996-B0B0-C0AC-46857E8079E1}"/>
              </a:ext>
            </a:extLst>
          </p:cNvPr>
          <p:cNvSpPr/>
          <p:nvPr/>
        </p:nvSpPr>
        <p:spPr>
          <a:xfrm flipH="1">
            <a:off x="1922464" y="809626"/>
            <a:ext cx="4281487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sz="2400" b="1" kern="0" dirty="0">
                <a:solidFill>
                  <a:srgbClr val="333399"/>
                </a:solidFill>
                <a:latin typeface="Arial"/>
                <a:ea typeface="+mj-ea"/>
                <a:cs typeface="+mj-cs"/>
              </a:rPr>
              <a:t>Если не ставить </a:t>
            </a:r>
            <a:r>
              <a:rPr lang="en-US" sz="2400" b="1" kern="0" dirty="0">
                <a:solidFill>
                  <a:srgbClr val="0000FF"/>
                </a:solidFill>
                <a:latin typeface="Courier New" pitchFamily="49" charset="0"/>
                <a:ea typeface="+mj-ea"/>
                <a:cs typeface="Courier New" pitchFamily="49" charset="0"/>
              </a:rPr>
              <a:t>break</a:t>
            </a:r>
            <a:r>
              <a:rPr lang="ru-RU" sz="2400" b="1" kern="0" dirty="0">
                <a:solidFill>
                  <a:srgbClr val="000000"/>
                </a:solidFill>
                <a:latin typeface="Arial"/>
                <a:ea typeface="+mj-ea"/>
                <a:cs typeface="+mj-cs"/>
              </a:rPr>
              <a:t>:</a:t>
            </a:r>
            <a:endParaRPr lang="ru-RU" sz="1400" dirty="0">
              <a:latin typeface="Arial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B6C762B-87C0-46AE-F681-93F889CF3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9" y="3598863"/>
            <a:ext cx="3317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>
                <a:solidFill>
                  <a:srgbClr val="C0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февральмартошибка</a:t>
            </a:r>
            <a:endParaRPr lang="ru-RU" altLang="ru-RU" sz="180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B1DAE6-B2FD-3365-491F-C89355A6E8E5}"/>
              </a:ext>
            </a:extLst>
          </p:cNvPr>
          <p:cNvSpPr/>
          <p:nvPr/>
        </p:nvSpPr>
        <p:spPr>
          <a:xfrm flipH="1">
            <a:off x="1922464" y="3595688"/>
            <a:ext cx="4281487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ru-RU" sz="2400" b="1" kern="0" dirty="0">
                <a:solidFill>
                  <a:srgbClr val="333399"/>
                </a:solidFill>
                <a:latin typeface="Arial"/>
                <a:ea typeface="+mj-ea"/>
                <a:cs typeface="+mj-cs"/>
              </a:rPr>
              <a:t>При </a:t>
            </a:r>
            <a:r>
              <a:rPr lang="en-US" sz="2400" b="1" kern="0" dirty="0">
                <a:solidFill>
                  <a:srgbClr val="0000FF"/>
                </a:solidFill>
                <a:latin typeface="Courier New" pitchFamily="49" charset="0"/>
                <a:ea typeface="+mj-ea"/>
                <a:cs typeface="Courier New" pitchFamily="49" charset="0"/>
              </a:rPr>
              <a:t>m</a:t>
            </a:r>
            <a:r>
              <a:rPr lang="en-US" sz="2400" b="1" kern="0" dirty="0">
                <a:solidFill>
                  <a:srgbClr val="0000FF"/>
                </a:solidFill>
                <a:ea typeface="+mj-ea"/>
                <a:cs typeface="Courier New" pitchFamily="49" charset="0"/>
              </a:rPr>
              <a:t> </a:t>
            </a:r>
            <a:r>
              <a:rPr lang="en-US" sz="2400" b="1" kern="0" dirty="0">
                <a:solidFill>
                  <a:srgbClr val="0000FF"/>
                </a:solidFill>
                <a:latin typeface="Courier New" pitchFamily="49" charset="0"/>
                <a:ea typeface="+mj-ea"/>
                <a:cs typeface="Courier New" pitchFamily="49" charset="0"/>
              </a:rPr>
              <a:t>=</a:t>
            </a:r>
            <a:r>
              <a:rPr lang="en-US" sz="2400" b="1" kern="0" dirty="0">
                <a:solidFill>
                  <a:srgbClr val="0000FF"/>
                </a:solidFill>
                <a:ea typeface="+mj-ea"/>
                <a:cs typeface="Courier New" pitchFamily="49" charset="0"/>
              </a:rPr>
              <a:t> </a:t>
            </a:r>
            <a:r>
              <a:rPr lang="en-US" sz="2400" b="1" kern="0" dirty="0">
                <a:solidFill>
                  <a:srgbClr val="0000FF"/>
                </a:solidFill>
                <a:latin typeface="Courier New" pitchFamily="49" charset="0"/>
                <a:ea typeface="+mj-ea"/>
                <a:cs typeface="Courier New" pitchFamily="49" charset="0"/>
              </a:rPr>
              <a:t>2</a:t>
            </a:r>
            <a:r>
              <a:rPr lang="ru-RU" sz="2400" b="1" kern="0" dirty="0">
                <a:solidFill>
                  <a:srgbClr val="000000"/>
                </a:solidFill>
                <a:latin typeface="Arial"/>
                <a:ea typeface="+mj-ea"/>
                <a:cs typeface="+mj-cs"/>
              </a:rPr>
              <a:t>:</a:t>
            </a:r>
            <a:endParaRPr lang="ru-RU" sz="1400" dirty="0">
              <a:latin typeface="Arial" charset="0"/>
            </a:endParaRPr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6D546BB5-C63F-91C4-8EC9-F97077DC1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9" y="1549400"/>
            <a:ext cx="1544637" cy="666750"/>
          </a:xfrm>
          <a:custGeom>
            <a:avLst/>
            <a:gdLst>
              <a:gd name="T0" fmla="*/ 464101 w 1610061"/>
              <a:gd name="T1" fmla="*/ 0 h 580913"/>
              <a:gd name="T2" fmla="*/ 54783 w 1610061"/>
              <a:gd name="T3" fmla="*/ 9409084 h 580913"/>
              <a:gd name="T4" fmla="*/ 135406 w 1610061"/>
              <a:gd name="T5" fmla="*/ 34275937 h 580913"/>
              <a:gd name="T6" fmla="*/ 0 60000 65536"/>
              <a:gd name="T7" fmla="*/ 0 60000 65536"/>
              <a:gd name="T8" fmla="*/ 0 60000 65536"/>
              <a:gd name="T9" fmla="*/ 0 w 1610061"/>
              <a:gd name="T10" fmla="*/ 0 h 580913"/>
              <a:gd name="T11" fmla="*/ 1610061 w 1610061"/>
              <a:gd name="T12" fmla="*/ 580913 h 5809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10061" h="580913">
                <a:moveTo>
                  <a:pt x="1610061" y="0"/>
                </a:moveTo>
                <a:cubicBezTo>
                  <a:pt x="1581411" y="216280"/>
                  <a:pt x="380104" y="59167"/>
                  <a:pt x="190052" y="150607"/>
                </a:cubicBezTo>
                <a:cubicBezTo>
                  <a:pt x="0" y="242047"/>
                  <a:pt x="66340" y="580913"/>
                  <a:pt x="469751" y="548640"/>
                </a:cubicBezTo>
              </a:path>
            </a:pathLst>
          </a:custGeom>
          <a:noFill/>
          <a:ln w="190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KZ"/>
          </a:p>
        </p:txBody>
      </p:sp>
      <p:sp>
        <p:nvSpPr>
          <p:cNvPr id="11" name="Полилиния 10">
            <a:extLst>
              <a:ext uri="{FF2B5EF4-FFF2-40B4-BE49-F238E27FC236}">
                <a16:creationId xmlns:a16="http://schemas.microsoft.com/office/drawing/2014/main" id="{BAD4A65F-CAE4-AD02-98D1-2B17FE65B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2238375"/>
            <a:ext cx="463550" cy="0"/>
          </a:xfrm>
          <a:custGeom>
            <a:avLst/>
            <a:gdLst>
              <a:gd name="T0" fmla="*/ 0 w 462579"/>
              <a:gd name="T1" fmla="*/ 491580 w 462579"/>
              <a:gd name="T2" fmla="*/ 0 60000 65536"/>
              <a:gd name="T3" fmla="*/ 0 60000 65536"/>
              <a:gd name="T4" fmla="*/ 0 w 462579"/>
              <a:gd name="T5" fmla="*/ 462579 w 462579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462579">
                <a:moveTo>
                  <a:pt x="0" y="0"/>
                </a:moveTo>
                <a:lnTo>
                  <a:pt x="462579" y="0"/>
                </a:lnTo>
              </a:path>
            </a:pathLst>
          </a:custGeom>
          <a:noFill/>
          <a:ln w="190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KZ"/>
          </a:p>
        </p:txBody>
      </p:sp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2ED1082A-26A2-8308-CB76-4A97A14D0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25" y="2281239"/>
            <a:ext cx="319088" cy="333375"/>
          </a:xfrm>
          <a:custGeom>
            <a:avLst/>
            <a:gdLst>
              <a:gd name="T0" fmla="*/ 306820 w 319144"/>
              <a:gd name="T1" fmla="*/ 0 h 365760"/>
              <a:gd name="T2" fmla="*/ 317520 w 319144"/>
              <a:gd name="T3" fmla="*/ 22670 h 365760"/>
              <a:gd name="T4" fmla="*/ 0 60000 65536"/>
              <a:gd name="T5" fmla="*/ 0 60000 65536"/>
              <a:gd name="T6" fmla="*/ 0 w 319144"/>
              <a:gd name="T7" fmla="*/ 0 h 365760"/>
              <a:gd name="T8" fmla="*/ 319144 w 319144"/>
              <a:gd name="T9" fmla="*/ 365760 h 3657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9144" h="365760">
                <a:moveTo>
                  <a:pt x="308386" y="0"/>
                </a:moveTo>
                <a:cubicBezTo>
                  <a:pt x="0" y="154193"/>
                  <a:pt x="89648" y="319144"/>
                  <a:pt x="319144" y="365760"/>
                </a:cubicBezTo>
              </a:path>
            </a:pathLst>
          </a:custGeom>
          <a:noFill/>
          <a:ln w="190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KZ"/>
          </a:p>
        </p:txBody>
      </p:sp>
      <p:sp>
        <p:nvSpPr>
          <p:cNvPr id="13" name="Полилиния 12">
            <a:extLst>
              <a:ext uri="{FF2B5EF4-FFF2-40B4-BE49-F238E27FC236}">
                <a16:creationId xmlns:a16="http://schemas.microsoft.com/office/drawing/2014/main" id="{F6662BCC-9215-87E2-FD5C-B7DB4C405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25" y="2678114"/>
            <a:ext cx="319088" cy="333375"/>
          </a:xfrm>
          <a:custGeom>
            <a:avLst/>
            <a:gdLst>
              <a:gd name="T0" fmla="*/ 306820 w 319144"/>
              <a:gd name="T1" fmla="*/ 0 h 365760"/>
              <a:gd name="T2" fmla="*/ 317520 w 319144"/>
              <a:gd name="T3" fmla="*/ 22670 h 365760"/>
              <a:gd name="T4" fmla="*/ 0 60000 65536"/>
              <a:gd name="T5" fmla="*/ 0 60000 65536"/>
              <a:gd name="T6" fmla="*/ 0 w 319144"/>
              <a:gd name="T7" fmla="*/ 0 h 365760"/>
              <a:gd name="T8" fmla="*/ 319144 w 319144"/>
              <a:gd name="T9" fmla="*/ 365760 h 3657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9144" h="365760">
                <a:moveTo>
                  <a:pt x="308386" y="0"/>
                </a:moveTo>
                <a:cubicBezTo>
                  <a:pt x="0" y="154193"/>
                  <a:pt x="89648" y="319144"/>
                  <a:pt x="319144" y="365760"/>
                </a:cubicBezTo>
              </a:path>
            </a:pathLst>
          </a:custGeom>
          <a:noFill/>
          <a:ln w="19050" algn="ctr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KZ"/>
          </a:p>
        </p:txBody>
      </p:sp>
      <p:grpSp>
        <p:nvGrpSpPr>
          <p:cNvPr id="2" name="Group 55">
            <a:extLst>
              <a:ext uri="{FF2B5EF4-FFF2-40B4-BE49-F238E27FC236}">
                <a16:creationId xmlns:a16="http://schemas.microsoft.com/office/drawing/2014/main" id="{93B35E15-2167-C52D-1540-C39E28F213CC}"/>
              </a:ext>
            </a:extLst>
          </p:cNvPr>
          <p:cNvGrpSpPr>
            <a:grpSpLocks/>
          </p:cNvGrpSpPr>
          <p:nvPr/>
        </p:nvGrpSpPr>
        <p:grpSpPr bwMode="auto">
          <a:xfrm>
            <a:off x="3548064" y="4219576"/>
            <a:ext cx="4484687" cy="663575"/>
            <a:chOff x="433" y="3902"/>
            <a:chExt cx="2825" cy="418"/>
          </a:xfrm>
        </p:grpSpPr>
        <p:sp>
          <p:nvSpPr>
            <p:cNvPr id="15" name="Text Box 56">
              <a:extLst>
                <a:ext uri="{FF2B5EF4-FFF2-40B4-BE49-F238E27FC236}">
                  <a16:creationId xmlns:a16="http://schemas.microsoft.com/office/drawing/2014/main" id="{37B72441-6474-6F23-7F24-32F8546C0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" y="3969"/>
              <a:ext cx="2531" cy="291"/>
            </a:xfrm>
            <a:prstGeom prst="rect">
              <a:avLst/>
            </a:prstGeom>
            <a:solidFill>
              <a:srgbClr val="FF0000"/>
            </a:solidFill>
            <a:ln w="12700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ru-RU" sz="2400" dirty="0">
                  <a:solidFill>
                    <a:schemeClr val="bg1"/>
                  </a:solidFill>
                  <a:latin typeface="Arial" charset="0"/>
                </a:rPr>
                <a:t>  Берегись проваливания!</a:t>
              </a:r>
            </a:p>
          </p:txBody>
        </p:sp>
        <p:sp>
          <p:nvSpPr>
            <p:cNvPr id="60430" name="Oval 57">
              <a:extLst>
                <a:ext uri="{FF2B5EF4-FFF2-40B4-BE49-F238E27FC236}">
                  <a16:creationId xmlns:a16="http://schemas.microsoft.com/office/drawing/2014/main" id="{FB8C9ED9-9EE6-1004-4BCB-F81A595E8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" y="3902"/>
              <a:ext cx="409" cy="418"/>
            </a:xfrm>
            <a:prstGeom prst="ellipse">
              <a:avLst/>
            </a:prstGeom>
            <a:solidFill>
              <a:srgbClr val="00008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ru-RU" altLang="ru-RU" sz="4400">
                  <a:solidFill>
                    <a:schemeClr val="bg1"/>
                  </a:solidFill>
                  <a:latin typeface="Arial Black" panose="020B0A040201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842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Заголовок 1">
            <a:extLst>
              <a:ext uri="{FF2B5EF4-FFF2-40B4-BE49-F238E27FC236}">
                <a16:creationId xmlns:a16="http://schemas.microsoft.com/office/drawing/2014/main" id="{2B890A33-8C33-FCFC-BA78-78E00D43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150" y="301625"/>
            <a:ext cx="8375650" cy="471488"/>
          </a:xfrm>
        </p:spPr>
        <p:txBody>
          <a:bodyPr>
            <a:normAutofit fontScale="90000"/>
          </a:bodyPr>
          <a:lstStyle/>
          <a:p>
            <a:r>
              <a:rPr lang="ru-RU" altLang="ru-RU"/>
              <a:t>Множественный выбор</a:t>
            </a:r>
          </a:p>
        </p:txBody>
      </p:sp>
      <p:sp>
        <p:nvSpPr>
          <p:cNvPr id="61443" name="Номер слайда 2">
            <a:extLst>
              <a:ext uri="{FF2B5EF4-FFF2-40B4-BE49-F238E27FC236}">
                <a16:creationId xmlns:a16="http://schemas.microsoft.com/office/drawing/2014/main" id="{C3833390-8734-BC18-102D-864F553B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633114-62CE-4EFB-ABF6-2CCFE3877787}" type="slidenum">
              <a:rPr lang="ru-RU" altLang="ru-RU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ru-RU" altLang="ru-RU" sz="140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A1A0F6-AA3A-A799-0805-AFFDC2E83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13" y="773113"/>
            <a:ext cx="10364646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1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495D4-49AE-245C-21EB-6D4A6C08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KZ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CB4A3B-1F5F-8536-A932-44DAE758E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867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799</Words>
  <Application>Microsoft Office PowerPoint</Application>
  <PresentationFormat>Широкоэкранный</PresentationFormat>
  <Paragraphs>203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Arial Black</vt:lpstr>
      <vt:lpstr>Calibri</vt:lpstr>
      <vt:lpstr>Courier New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Условный оператор</vt:lpstr>
      <vt:lpstr>Условный оператор: неполная форма</vt:lpstr>
      <vt:lpstr>Условный оператор</vt:lpstr>
      <vt:lpstr>Знаки отношений</vt:lpstr>
      <vt:lpstr>Презентация PowerPoint</vt:lpstr>
      <vt:lpstr>Презентация PowerPoint</vt:lpstr>
      <vt:lpstr>Вложенные условные операторы</vt:lpstr>
      <vt:lpstr>Задачи</vt:lpstr>
      <vt:lpstr>Задачи</vt:lpstr>
      <vt:lpstr>Сложные условия</vt:lpstr>
      <vt:lpstr>Задачи</vt:lpstr>
      <vt:lpstr>Задачи</vt:lpstr>
      <vt:lpstr>Задачи</vt:lpstr>
      <vt:lpstr>Множественный выбор</vt:lpstr>
      <vt:lpstr>Множественный выбор</vt:lpstr>
      <vt:lpstr>Множественный выбор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YueLiang</dc:creator>
  <cp:lastModifiedBy>YueLiang</cp:lastModifiedBy>
  <cp:revision>2</cp:revision>
  <dcterms:created xsi:type="dcterms:W3CDTF">2026-09-22T13:50:00Z</dcterms:created>
  <dcterms:modified xsi:type="dcterms:W3CDTF">2026-09-22T14:36:04Z</dcterms:modified>
</cp:coreProperties>
</file>