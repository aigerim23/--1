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embeddedFontLst>
    <p:embeddedFont>
      <p:font typeface="Play"/>
      <p:regular r:id="rId36"/>
      <p:bold r:id="rId37"/>
    </p:embeddedFont>
    <p:embeddedFont>
      <p:font typeface="Arial Black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io8dgKyOr+YenfZcGhjRwYSwE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lay-bold.fntdata"/><Relationship Id="rId14" Type="http://schemas.openxmlformats.org/officeDocument/2006/relationships/slide" Target="slides/slide10.xml"/><Relationship Id="rId36" Type="http://schemas.openxmlformats.org/officeDocument/2006/relationships/font" Target="fonts/Play-regular.fntdata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font" Target="fonts/ArialBlack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h51d8a7515aa1b6f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h51d8a7515aa1b6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устой слайд">
  <p:cSld name="1_Пустой слайд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34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4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устой слайд">
  <p:cSld name="2_Пустой слайд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35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" name="Google Shape;31;p35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устой слайд">
  <p:cSld name="3_Пустой слайд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36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36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устой слайд">
  <p:cSld name="4_Пустой слайд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37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" name="Google Shape;43;p37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устой слайд">
  <p:cSld name="5_Пустой слайд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38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38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устой слайд">
  <p:cSld name="6_Пустой слайд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39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p39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9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устой слайд">
  <p:cSld name="7_Пустой слайд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40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40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устой слайд">
  <p:cSld name="8_Пустой слайд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41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41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устой слайд">
  <p:cSld name="9_Пустой слайд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42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42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Пустой слайд">
  <p:cSld name="10_Пустой слайд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43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43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Пустой слайд">
  <p:cSld name="11_Пустой слайд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44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44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Пустой слайд">
  <p:cSld name="12_Пустой слайд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45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45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5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Пустой слайд">
  <p:cSld name="13_Пустой слайд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46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46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6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Пустой слайд">
  <p:cSld name="14_Пустой слайд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47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47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7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Пустой слайд">
  <p:cSld name="15_Пустой слайд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48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48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8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Пустой слайд">
  <p:cSld name="16_Пустой слайд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Google Shape;114;p49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49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9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Пустой слайд">
  <p:cSld name="17_Пустой слайд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50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50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0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Пустой слайд">
  <p:cSld name="18_Пустой слайд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51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51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1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Пустой слайд">
  <p:cSld name="19_Пустой слайд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52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52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2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Пустой слайд">
  <p:cSld name="20_Пустой слайд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53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53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3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Пустой слайд">
  <p:cSld name="21_Пустой слайд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54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54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4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Пустой слайд">
  <p:cSld name="22_Пустой слайд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55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55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5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Пустой слайд">
  <p:cSld name="23_Пустой слайд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56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56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6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Пустой слайд">
  <p:cSld name="24_Пустой слайд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57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57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57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Пустой слайд">
  <p:cSld name="25_Пустой слайд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58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58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8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Пустой слайд">
  <p:cSld name="26_Пустой слайд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59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59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59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Пустой слайд">
  <p:cSld name="27_Пустой слайд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60"/>
          <p:cNvCxnSpPr/>
          <p:nvPr/>
        </p:nvCxnSpPr>
        <p:spPr>
          <a:xfrm>
            <a:off x="501651" y="795338"/>
            <a:ext cx="11286067" cy="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60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60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88" name="Google Shape;188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6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6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6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6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6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3" name="Google Shape;203;p6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6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9" name="Google Shape;219;p6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0" name="Google Shape;220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6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6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6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6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13.jpg"/><Relationship Id="rId6" Type="http://schemas.openxmlformats.org/officeDocument/2006/relationships/image" Target="../media/image10.jpg"/><Relationship Id="rId7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47" name="Google Shape;24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48" name="Google Shape;2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"/>
          <p:cNvSpPr/>
          <p:nvPr/>
        </p:nvSpPr>
        <p:spPr>
          <a:xfrm>
            <a:off x="750751" y="1704757"/>
            <a:ext cx="5677481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ПМ-1Проектирование программного обеспечения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РО 1.4. Выбор программных средств для подготовки макетов модулей ПО</a:t>
            </a:r>
            <a:endParaRPr b="1" i="0" sz="2800" u="none" cap="none" strike="noStrike">
              <a:solidFill>
                <a:srgbClr val="FEFEF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255" name="Google Shape;255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55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Переменные</a:t>
            </a:r>
            <a:endParaRPr/>
          </a:p>
        </p:txBody>
      </p:sp>
      <p:sp>
        <p:nvSpPr>
          <p:cNvPr id="261" name="Google Shape;261;p3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"/>
          <p:cNvSpPr txBox="1"/>
          <p:nvPr/>
        </p:nvSpPr>
        <p:spPr>
          <a:xfrm>
            <a:off x="1892300" y="817563"/>
            <a:ext cx="828040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01688" lvl="0" marL="801688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Переменная</a:t>
            </a: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это величина, имеющая имя, тип и значение. Значение переменной можно изменять во время работы программы.</a:t>
            </a:r>
            <a:endParaRPr/>
          </a:p>
        </p:txBody>
      </p:sp>
      <p:pic>
        <p:nvPicPr>
          <p:cNvPr id="263" name="Google Shape;2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113" y="2730501"/>
            <a:ext cx="2386012" cy="27924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"/>
          <p:cNvSpPr/>
          <p:nvPr/>
        </p:nvSpPr>
        <p:spPr>
          <a:xfrm>
            <a:off x="4571997" y="3052090"/>
            <a:ext cx="1110342" cy="544697"/>
          </a:xfrm>
          <a:prstGeom prst="rect">
            <a:avLst/>
          </a:prstGeom>
          <a:solidFill>
            <a:srgbClr val="66FF33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"/>
          <p:cNvSpPr/>
          <p:nvPr/>
        </p:nvSpPr>
        <p:spPr>
          <a:xfrm rot="-2816268">
            <a:off x="3775076" y="3678239"/>
            <a:ext cx="709613" cy="452437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"/>
          <p:cNvSpPr/>
          <p:nvPr/>
        </p:nvSpPr>
        <p:spPr>
          <a:xfrm rot="-394403">
            <a:off x="3646709" y="4423687"/>
            <a:ext cx="729343" cy="6640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"/>
          <p:cNvSpPr/>
          <p:nvPr/>
        </p:nvSpPr>
        <p:spPr>
          <a:xfrm>
            <a:off x="5875339" y="2460626"/>
            <a:ext cx="1755775" cy="646113"/>
          </a:xfrm>
          <a:prstGeom prst="wedgeRoundRectCallout">
            <a:avLst>
              <a:gd fmla="val -76637" name="adj1"/>
              <a:gd fmla="val 48269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Значение</a:t>
            </a:r>
            <a:endParaRPr/>
          </a:p>
        </p:txBody>
      </p:sp>
      <p:sp>
        <p:nvSpPr>
          <p:cNvPr id="268" name="Google Shape;268;p3"/>
          <p:cNvSpPr/>
          <p:nvPr/>
        </p:nvSpPr>
        <p:spPr>
          <a:xfrm>
            <a:off x="2587625" y="5649913"/>
            <a:ext cx="1036638" cy="646112"/>
          </a:xfrm>
          <a:prstGeom prst="wedgeRoundRectCallout">
            <a:avLst>
              <a:gd fmla="val 67051" name="adj1"/>
              <a:gd fmla="val -141981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Имя</a:t>
            </a:r>
            <a:endParaRPr/>
          </a:p>
        </p:txBody>
      </p:sp>
      <p:sp>
        <p:nvSpPr>
          <p:cNvPr id="269" name="Google Shape;269;p3"/>
          <p:cNvSpPr/>
          <p:nvPr/>
        </p:nvSpPr>
        <p:spPr>
          <a:xfrm>
            <a:off x="7859484" y="2964997"/>
            <a:ext cx="2463939" cy="1208727"/>
          </a:xfrm>
          <a:prstGeom prst="rect">
            <a:avLst/>
          </a:prstGeom>
          <a:solidFill>
            <a:srgbClr val="00B0F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" name="Google Shape;270;p3"/>
          <p:cNvGrpSpPr/>
          <p:nvPr/>
        </p:nvGrpSpPr>
        <p:grpSpPr>
          <a:xfrm>
            <a:off x="7396164" y="4662489"/>
            <a:ext cx="2847975" cy="663575"/>
            <a:chOff x="433" y="3902"/>
            <a:chExt cx="1794" cy="418"/>
          </a:xfrm>
        </p:grpSpPr>
        <p:sp>
          <p:nvSpPr>
            <p:cNvPr id="271" name="Google Shape;271;p3"/>
            <p:cNvSpPr txBox="1"/>
            <p:nvPr/>
          </p:nvSpPr>
          <p:spPr>
            <a:xfrm>
              <a:off x="727" y="3969"/>
              <a:ext cx="1500" cy="291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Поместится?</a:t>
              </a: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b="0" i="0" lang="ru-RU" sz="4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?</a:t>
              </a:r>
              <a:endParaRPr b="0" i="0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273" name="Google Shape;273;p3"/>
          <p:cNvSpPr/>
          <p:nvPr/>
        </p:nvSpPr>
        <p:spPr>
          <a:xfrm>
            <a:off x="5214938" y="3770313"/>
            <a:ext cx="2024062" cy="1001712"/>
          </a:xfrm>
          <a:prstGeom prst="wedgeRoundRectCallout">
            <a:avLst>
              <a:gd fmla="val 81717" name="adj1"/>
              <a:gd fmla="val -66344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Другой тип данных</a:t>
            </a:r>
            <a:endParaRPr/>
          </a:p>
        </p:txBody>
      </p:sp>
      <p:grpSp>
        <p:nvGrpSpPr>
          <p:cNvPr id="274" name="Google Shape;274;p3"/>
          <p:cNvGrpSpPr/>
          <p:nvPr/>
        </p:nvGrpSpPr>
        <p:grpSpPr>
          <a:xfrm>
            <a:off x="4510088" y="5337176"/>
            <a:ext cx="5732462" cy="936625"/>
            <a:chOff x="433" y="3902"/>
            <a:chExt cx="3611" cy="590"/>
          </a:xfrm>
        </p:grpSpPr>
        <p:sp>
          <p:nvSpPr>
            <p:cNvPr id="275" name="Google Shape;275;p3"/>
            <p:cNvSpPr txBox="1"/>
            <p:nvPr/>
          </p:nvSpPr>
          <p:spPr>
            <a:xfrm>
              <a:off x="727" y="3969"/>
              <a:ext cx="3317" cy="523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В переменной хранятся данные </a:t>
              </a:r>
              <a:b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определенного типа!</a:t>
              </a: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b="0" i="0" lang="ru-RU" sz="4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!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Имена переменных</a:t>
            </a:r>
            <a:endParaRPr/>
          </a:p>
        </p:txBody>
      </p:sp>
      <p:sp>
        <p:nvSpPr>
          <p:cNvPr id="282" name="Google Shape;282;p4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"/>
          <p:cNvSpPr txBox="1"/>
          <p:nvPr/>
        </p:nvSpPr>
        <p:spPr>
          <a:xfrm>
            <a:off x="1919289" y="817563"/>
            <a:ext cx="8569325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1463" lvl="0" marL="271463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300"/>
              <a:buFont typeface="Arial"/>
              <a:buNone/>
            </a:pPr>
            <a:r>
              <a:rPr b="1" i="0" lang="ru-RU" sz="23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МОЖНО</a:t>
            </a:r>
            <a:r>
              <a:rPr b="0" i="0" lang="ru-RU" sz="23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использовать</a:t>
            </a:r>
            <a:endParaRPr/>
          </a:p>
          <a:p>
            <a:pPr indent="-271463" lvl="1" marL="892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латинские буквы (A-Z, a-z)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413" lvl="1" marL="892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413" lvl="1" marL="892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3" lvl="1" marL="892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цифры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413" lvl="1" marL="892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413" lvl="1" marL="892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3" lvl="1" marL="892175" marR="0" rtl="0" algn="l"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знак подчеркивания _</a:t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2927351" y="1609725"/>
            <a:ext cx="7345363" cy="6477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заглавные и строчные буквы </a:t>
            </a:r>
            <a:r>
              <a:rPr b="1" i="0" lang="ru-RU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различаются</a:t>
            </a:r>
            <a:endParaRPr/>
          </a:p>
        </p:txBody>
      </p:sp>
      <p:sp>
        <p:nvSpPr>
          <p:cNvPr id="285" name="Google Shape;285;p4"/>
          <p:cNvSpPr txBox="1"/>
          <p:nvPr/>
        </p:nvSpPr>
        <p:spPr>
          <a:xfrm>
            <a:off x="1919289" y="3827097"/>
            <a:ext cx="8569325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1463" lvl="0" marL="2714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НЕЛЬЗЯ</a:t>
            </a:r>
            <a:r>
              <a:rPr b="0" i="0" lang="ru-RU" sz="23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использовать</a:t>
            </a:r>
            <a:endParaRPr/>
          </a:p>
          <a:p>
            <a:pPr indent="-271463" lvl="1" marL="892175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Char char="•"/>
            </a:pPr>
            <a:r>
              <a:rPr b="0" i="0" lang="ru-RU" sz="2300" u="none" cap="none" strike="sng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русcкие буквы</a:t>
            </a:r>
            <a:endParaRPr b="0" i="0" sz="2300" u="none" cap="none" strike="sng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3" lvl="1" marL="892175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Char char="•"/>
            </a:pPr>
            <a:r>
              <a:rPr b="0" i="0" lang="ru-RU" sz="2300" u="none" cap="none" strike="sng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скобки </a:t>
            </a:r>
            <a:endParaRPr/>
          </a:p>
          <a:p>
            <a:pPr indent="-271463" lvl="1" marL="892175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Char char="•"/>
            </a:pPr>
            <a:r>
              <a:rPr b="0" i="0" lang="ru-RU" sz="2300" u="none" cap="none" strike="sng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знаки +, =, !, ? и др.</a:t>
            </a: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2927351" y="2689225"/>
            <a:ext cx="7345363" cy="6477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имя не может начинаться с цифры</a:t>
            </a:r>
            <a:endParaRPr/>
          </a:p>
        </p:txBody>
      </p:sp>
      <p:sp>
        <p:nvSpPr>
          <p:cNvPr id="287" name="Google Shape;287;p4"/>
          <p:cNvSpPr txBox="1"/>
          <p:nvPr/>
        </p:nvSpPr>
        <p:spPr>
          <a:xfrm>
            <a:off x="1919289" y="5229225"/>
            <a:ext cx="8569325" cy="129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1463" lvl="0" marL="2714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Какие имена правильные?</a:t>
            </a:r>
            <a:endParaRPr/>
          </a:p>
          <a:p>
            <a:pPr indent="-271463" lvl="0" marL="2714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0" i="0" lang="ru-RU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8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AXby    R&amp;B    4Wheel    Вася    “PesBarbos” TU154    [QuQu]     _ABBA    A+B</a:t>
            </a:r>
            <a:endParaRPr b="1" i="0" sz="2800" u="none" cap="none" strike="noStrike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Объявление  переменных</a:t>
            </a:r>
            <a:endParaRPr/>
          </a:p>
        </p:txBody>
      </p:sp>
      <p:sp>
        <p:nvSpPr>
          <p:cNvPr id="293" name="Google Shape;293;p5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3033714" y="1924050"/>
            <a:ext cx="2967037" cy="522288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a, b, c;</a:t>
            </a:r>
            <a:endParaRPr b="1" i="0" sz="2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6345238" y="2065339"/>
            <a:ext cx="2590800" cy="903287"/>
          </a:xfrm>
          <a:prstGeom prst="wedgeRoundRectCallout">
            <a:avLst>
              <a:gd fmla="val -66720" name="adj1"/>
              <a:gd fmla="val -31106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выделение места в памяти</a:t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1927226" y="912813"/>
            <a:ext cx="2530475" cy="652462"/>
          </a:xfrm>
          <a:prstGeom prst="wedgeRoundRectCallout">
            <a:avLst>
              <a:gd fmla="val 8582" name="adj1"/>
              <a:gd fmla="val 119093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тип – целые </a:t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3921126" y="1957389"/>
            <a:ext cx="1795463" cy="4794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5370514" y="931864"/>
            <a:ext cx="2579687" cy="947737"/>
          </a:xfrm>
          <a:prstGeom prst="wedgeRoundRectCallout">
            <a:avLst>
              <a:gd fmla="val -65840" name="adj1"/>
              <a:gd fmla="val 57612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список имен переменных</a:t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2311401" y="3565526"/>
            <a:ext cx="4233863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a, b</a:t>
            </a: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800" u="none" cap="none" strike="noStrike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c</a:t>
            </a: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800" u="none" cap="none" strike="noStrike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55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5"/>
          <p:cNvSpPr txBox="1"/>
          <p:nvPr/>
        </p:nvSpPr>
        <p:spPr>
          <a:xfrm>
            <a:off x="1884363" y="2917826"/>
            <a:ext cx="8280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Начальные значения:</a:t>
            </a:r>
            <a:endParaRPr/>
          </a:p>
        </p:txBody>
      </p:sp>
      <p:grpSp>
        <p:nvGrpSpPr>
          <p:cNvPr id="301" name="Google Shape;301;p5"/>
          <p:cNvGrpSpPr/>
          <p:nvPr/>
        </p:nvGrpSpPr>
        <p:grpSpPr>
          <a:xfrm>
            <a:off x="2290764" y="4467226"/>
            <a:ext cx="4060825" cy="663575"/>
            <a:chOff x="433" y="3902"/>
            <a:chExt cx="2557" cy="418"/>
          </a:xfrm>
        </p:grpSpPr>
        <p:sp>
          <p:nvSpPr>
            <p:cNvPr id="302" name="Google Shape;302;p5"/>
            <p:cNvSpPr txBox="1"/>
            <p:nvPr/>
          </p:nvSpPr>
          <p:spPr>
            <a:xfrm>
              <a:off x="727" y="3969"/>
              <a:ext cx="2263" cy="291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Что в переменной </a:t>
              </a:r>
              <a:r>
                <a:rPr b="1" i="0" lang="ru-RU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b="0" i="0" lang="ru-RU" sz="4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?</a:t>
              </a:r>
              <a:endParaRPr b="0" i="0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04" name="Google Shape;304;p5"/>
          <p:cNvSpPr/>
          <p:nvPr/>
        </p:nvSpPr>
        <p:spPr>
          <a:xfrm>
            <a:off x="6835775" y="4122739"/>
            <a:ext cx="3005138" cy="903287"/>
          </a:xfrm>
          <a:prstGeom prst="wedgeRoundRectCallout">
            <a:avLst>
              <a:gd fmla="val -80328" name="adj1"/>
              <a:gd fmla="val 26740" name="adj2"/>
              <a:gd fmla="val 16667" name="adj3"/>
            </a:avLst>
          </a:prstGeom>
          <a:solidFill>
            <a:srgbClr val="FF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«мусор»!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не использовать!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Типы данных</a:t>
            </a:r>
            <a:endParaRPr/>
          </a:p>
        </p:txBody>
      </p:sp>
      <p:sp>
        <p:nvSpPr>
          <p:cNvPr id="310" name="Google Shape;310;p6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1920875" y="817563"/>
            <a:ext cx="8553450" cy="3992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8288" lvl="1" marL="2746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	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b="1" i="0" lang="ru-RU" sz="2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целое </a:t>
            </a:r>
            <a:endParaRPr/>
          </a:p>
          <a:p>
            <a:pPr indent="-268288" lvl="1" marL="27463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long int </a:t>
            </a:r>
            <a:r>
              <a:rPr b="1" i="0" lang="ru-RU" sz="2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длинное целое </a:t>
            </a:r>
            <a:endParaRPr b="1" i="0" sz="2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68288" lvl="1" marL="27463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-RU" sz="2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вещественное</a:t>
            </a:r>
            <a:endParaRPr b="1" i="0" sz="2800" u="none" cap="none" strike="noStrike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68288" lvl="1" marL="27463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i="0" lang="ru-RU" sz="2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 // веществ. двойной точности</a:t>
            </a:r>
            <a:endParaRPr b="1" i="0" sz="2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68288" lvl="1" marL="27463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0" lang="ru-RU" sz="2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логические значения</a:t>
            </a:r>
            <a:endParaRPr/>
          </a:p>
          <a:p>
            <a:pPr indent="-268288" lvl="1" marL="27463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  </a:t>
            </a:r>
            <a:r>
              <a:rPr b="1" i="0" lang="ru-RU" sz="2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символ</a:t>
            </a:r>
            <a:endParaRPr/>
          </a:p>
          <a:p>
            <a:pPr indent="-268288" lvl="1" marL="27463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  </a:t>
            </a:r>
            <a:r>
              <a:rPr b="1" i="0" lang="ru-RU" sz="2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символьная строка</a:t>
            </a:r>
            <a:endParaRPr/>
          </a:p>
          <a:p>
            <a:pPr indent="-268288" lvl="1" marL="27463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b="0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 др.</a:t>
            </a:r>
            <a:endParaRPr/>
          </a:p>
        </p:txBody>
      </p:sp>
      <p:pic>
        <p:nvPicPr>
          <p:cNvPr id="312" name="Google Shape;3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7"/>
          <p:cNvSpPr txBox="1"/>
          <p:nvPr>
            <p:ph type="title"/>
          </p:nvPr>
        </p:nvSpPr>
        <p:spPr>
          <a:xfrm>
            <a:off x="414291" y="301272"/>
            <a:ext cx="11168109" cy="471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319" name="Google Shape;3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Как записать значение в переменную?</a:t>
            </a:r>
            <a:endParaRPr/>
          </a:p>
        </p:txBody>
      </p:sp>
      <p:sp>
        <p:nvSpPr>
          <p:cNvPr id="325" name="Google Shape;325;p8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2063750" y="2233614"/>
            <a:ext cx="1608138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b="1" i="0" lang="ru-RU" sz="2800" u="none" cap="none" strike="noStrike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i="0" lang="ru-RU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800" u="none" cap="none" strike="noStrike">
              <a:solidFill>
                <a:srgbClr val="0095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370139" y="1039813"/>
            <a:ext cx="2332037" cy="946150"/>
          </a:xfrm>
          <a:prstGeom prst="wedgeRoundRectCallout">
            <a:avLst>
              <a:gd fmla="val -33982" name="adj1"/>
              <a:gd fmla="val 79813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оператор присваивания</a:t>
            </a:r>
            <a:endParaRPr/>
          </a:p>
        </p:txBody>
      </p:sp>
      <p:grpSp>
        <p:nvGrpSpPr>
          <p:cNvPr id="328" name="Google Shape;328;p8"/>
          <p:cNvGrpSpPr/>
          <p:nvPr/>
        </p:nvGrpSpPr>
        <p:grpSpPr>
          <a:xfrm>
            <a:off x="6731001" y="1268413"/>
            <a:ext cx="3719513" cy="1306512"/>
            <a:chOff x="433" y="3902"/>
            <a:chExt cx="2343" cy="823"/>
          </a:xfrm>
        </p:grpSpPr>
        <p:sp>
          <p:nvSpPr>
            <p:cNvPr id="329" name="Google Shape;329;p8"/>
            <p:cNvSpPr txBox="1"/>
            <p:nvPr/>
          </p:nvSpPr>
          <p:spPr>
            <a:xfrm>
              <a:off x="727" y="3969"/>
              <a:ext cx="2049" cy="756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При записи нового </a:t>
              </a:r>
              <a:b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значения старое </a:t>
              </a:r>
              <a:b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стирается!</a:t>
              </a: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b="0" i="0" lang="ru-RU" sz="4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!</a:t>
              </a:r>
              <a:endParaRPr/>
            </a:p>
          </p:txBody>
        </p:sp>
      </p:grpSp>
      <p:pic>
        <p:nvPicPr>
          <p:cNvPr id="331" name="Google Shape;3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313" y="1752601"/>
            <a:ext cx="102870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/>
          <p:nvPr/>
        </p:nvSpPr>
        <p:spPr>
          <a:xfrm rot="-2816268">
            <a:off x="5637213" y="2033588"/>
            <a:ext cx="431800" cy="276225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943601" y="1550988"/>
            <a:ext cx="468313" cy="468312"/>
          </a:xfrm>
          <a:prstGeom prst="ellipse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2417763" y="2259014"/>
            <a:ext cx="533400" cy="4794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1920876" y="3232150"/>
            <a:ext cx="8613775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36195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Оператор</a:t>
            </a: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это команда языка программирования (инструкция).</a:t>
            </a:r>
            <a:endParaRPr/>
          </a:p>
          <a:p>
            <a:pPr indent="-361950" lvl="0" marL="361950" marR="0" rtl="0" algn="l">
              <a:spcBef>
                <a:spcPts val="140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Оператор присваивания </a:t>
            </a: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это команда для записи нового значения в переменную.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 rot="-394403">
            <a:off x="5648305" y="2521207"/>
            <a:ext cx="237395" cy="216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Ввод значения с клавиатуры</a:t>
            </a:r>
            <a:endParaRPr/>
          </a:p>
        </p:txBody>
      </p:sp>
      <p:sp>
        <p:nvSpPr>
          <p:cNvPr id="342" name="Google Shape;342;p9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9"/>
          <p:cNvGrpSpPr/>
          <p:nvPr/>
        </p:nvGrpSpPr>
        <p:grpSpPr>
          <a:xfrm>
            <a:off x="2224088" y="3167063"/>
            <a:ext cx="7561262" cy="1814512"/>
            <a:chOff x="433" y="3902"/>
            <a:chExt cx="4763" cy="1143"/>
          </a:xfrm>
        </p:grpSpPr>
        <p:sp>
          <p:nvSpPr>
            <p:cNvPr id="344" name="Google Shape;344;p9"/>
            <p:cNvSpPr txBox="1"/>
            <p:nvPr/>
          </p:nvSpPr>
          <p:spPr>
            <a:xfrm>
              <a:off x="727" y="3969"/>
              <a:ext cx="4469" cy="1076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58775" lvl="0" marL="533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AutoNum type="arabicPeriod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Программа ждет, пока пользователь введет значение и нажмет </a:t>
              </a:r>
              <a:r>
                <a:rPr b="0" i="1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Enter</a:t>
              </a: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58775" lvl="0" marL="53340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AutoNum type="arabicPeriod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Введенное значение записывается в переменную </a:t>
              </a:r>
              <a:r>
                <a:rPr b="1" i="0" lang="ru-RU" sz="2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b="0" i="0" lang="ru-RU" sz="4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!</a:t>
              </a:r>
              <a:endParaRPr/>
            </a:p>
          </p:txBody>
        </p:sp>
      </p:grpSp>
      <p:pic>
        <p:nvPicPr>
          <p:cNvPr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100" y="1282701"/>
            <a:ext cx="102870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9"/>
          <p:cNvSpPr/>
          <p:nvPr/>
        </p:nvSpPr>
        <p:spPr>
          <a:xfrm rot="-2816268">
            <a:off x="6350001" y="1565276"/>
            <a:ext cx="431800" cy="276225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9"/>
          <p:cNvPicPr preferRelativeResize="0"/>
          <p:nvPr/>
        </p:nvPicPr>
        <p:blipFill rotWithShape="1">
          <a:blip r:embed="rId4">
            <a:alphaModFix/>
          </a:blip>
          <a:srcRect b="16357" l="0" r="0" t="17070"/>
          <a:stretch/>
        </p:blipFill>
        <p:spPr>
          <a:xfrm>
            <a:off x="8150226" y="1300164"/>
            <a:ext cx="1914525" cy="12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6738939" y="1222376"/>
            <a:ext cx="2555875" cy="303213"/>
          </a:xfrm>
          <a:custGeom>
            <a:rect b="b" l="l" r="r" t="t"/>
            <a:pathLst>
              <a:path extrusionOk="0" h="303842" w="2556294">
                <a:moveTo>
                  <a:pt x="2513162" y="263585"/>
                </a:moveTo>
                <a:cubicBezTo>
                  <a:pt x="2534728" y="263105"/>
                  <a:pt x="2556294" y="262626"/>
                  <a:pt x="2455653" y="223328"/>
                </a:cubicBezTo>
                <a:cubicBezTo>
                  <a:pt x="2355012" y="184030"/>
                  <a:pt x="2187275" y="55592"/>
                  <a:pt x="1909313" y="27796"/>
                </a:cubicBezTo>
                <a:cubicBezTo>
                  <a:pt x="1631351" y="0"/>
                  <a:pt x="1106098" y="10543"/>
                  <a:pt x="787879" y="56551"/>
                </a:cubicBezTo>
                <a:cubicBezTo>
                  <a:pt x="469660" y="102559"/>
                  <a:pt x="234830" y="203200"/>
                  <a:pt x="0" y="303842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7559676" y="962026"/>
            <a:ext cx="468313" cy="468313"/>
          </a:xfrm>
          <a:prstGeom prst="ellipse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/>
          <p:nvPr/>
        </p:nvSpPr>
        <p:spPr>
          <a:xfrm rot="-394403">
            <a:off x="6370157" y="2041675"/>
            <a:ext cx="237395" cy="216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2244726" y="2184401"/>
            <a:ext cx="2225675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cin &gt;&gt; a;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1957388" y="893763"/>
            <a:ext cx="3363912" cy="946150"/>
          </a:xfrm>
          <a:prstGeom prst="wedgeRoundRectCallout">
            <a:avLst>
              <a:gd fmla="val -7960" name="adj1"/>
              <a:gd fmla="val 89481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ввести значение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из входного потока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Ввод значений двух переменных</a:t>
            </a:r>
            <a:endParaRPr/>
          </a:p>
        </p:txBody>
      </p:sp>
      <p:sp>
        <p:nvSpPr>
          <p:cNvPr id="359" name="Google Shape;359;p10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2395539" y="1720851"/>
            <a:ext cx="7794625" cy="294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38488" lvl="0" marL="31384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через пробел: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8488" lvl="0" marL="3138488" marR="0" rtl="0" algn="l">
              <a:spcBef>
                <a:spcPts val="13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25 30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38488" lvl="0" marL="3138488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8488" lvl="0" marL="3138488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через </a:t>
            </a:r>
            <a:r>
              <a:rPr i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8488" lvl="0" marL="313848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25</a:t>
            </a:r>
            <a:endParaRPr/>
          </a:p>
          <a:p>
            <a:pPr indent="-3138488" lvl="0" marL="3138488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30</a:t>
            </a:r>
            <a:endParaRPr b="1" sz="2800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61" name="Google Shape;361;p10"/>
          <p:cNvGrpSpPr/>
          <p:nvPr/>
        </p:nvGrpSpPr>
        <p:grpSpPr>
          <a:xfrm>
            <a:off x="5203825" y="1727201"/>
            <a:ext cx="3462338" cy="1084268"/>
            <a:chOff x="3679635" y="3288751"/>
            <a:chExt cx="3462528" cy="1084817"/>
          </a:xfrm>
        </p:grpSpPr>
        <p:grpSp>
          <p:nvGrpSpPr>
            <p:cNvPr id="362" name="Google Shape;362;p10"/>
            <p:cNvGrpSpPr/>
            <p:nvPr/>
          </p:nvGrpSpPr>
          <p:grpSpPr>
            <a:xfrm>
              <a:off x="6022975" y="3325817"/>
              <a:ext cx="1119188" cy="1047751"/>
              <a:chOff x="3982" y="2375"/>
              <a:chExt cx="705" cy="660"/>
            </a:xfrm>
          </p:grpSpPr>
          <p:sp>
            <p:nvSpPr>
              <p:cNvPr id="363" name="Google Shape;363;p10"/>
              <p:cNvSpPr/>
              <p:nvPr/>
            </p:nvSpPr>
            <p:spPr>
              <a:xfrm>
                <a:off x="4388" y="2375"/>
                <a:ext cx="29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64" name="Google Shape;364;p10"/>
              <p:cNvSpPr/>
              <p:nvPr/>
            </p:nvSpPr>
            <p:spPr>
              <a:xfrm>
                <a:off x="3982" y="2409"/>
                <a:ext cx="356" cy="284"/>
              </a:xfrm>
              <a:prstGeom prst="rect">
                <a:avLst/>
              </a:prstGeom>
              <a:solidFill>
                <a:srgbClr val="FFFF99"/>
              </a:solidFill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25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65" name="Google Shape;365;p10"/>
              <p:cNvSpPr/>
              <p:nvPr/>
            </p:nvSpPr>
            <p:spPr>
              <a:xfrm>
                <a:off x="4395" y="2702"/>
                <a:ext cx="29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66" name="Google Shape;366;p10"/>
              <p:cNvSpPr/>
              <p:nvPr/>
            </p:nvSpPr>
            <p:spPr>
              <a:xfrm>
                <a:off x="3989" y="2751"/>
                <a:ext cx="356" cy="284"/>
              </a:xfrm>
              <a:prstGeom prst="rect">
                <a:avLst/>
              </a:prstGeom>
              <a:solidFill>
                <a:srgbClr val="FFFF99"/>
              </a:solidFill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30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67" name="Google Shape;367;p10"/>
            <p:cNvSpPr/>
            <p:nvPr/>
          </p:nvSpPr>
          <p:spPr>
            <a:xfrm>
              <a:off x="3679635" y="3288751"/>
              <a:ext cx="2280490" cy="622238"/>
            </a:xfrm>
            <a:custGeom>
              <a:rect b="b" l="l" r="r" t="t"/>
              <a:pathLst>
                <a:path extrusionOk="0" h="666948" w="2291671">
                  <a:moveTo>
                    <a:pt x="0" y="666948"/>
                  </a:moveTo>
                  <a:cubicBezTo>
                    <a:pt x="417345" y="144539"/>
                    <a:pt x="1348919" y="0"/>
                    <a:pt x="2291671" y="375035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4472848" y="3694035"/>
              <a:ext cx="1520328" cy="315675"/>
            </a:xfrm>
            <a:custGeom>
              <a:rect b="b" l="l" r="r" t="t"/>
              <a:pathLst>
                <a:path extrusionOk="0" h="595803" w="2451559">
                  <a:moveTo>
                    <a:pt x="0" y="409474"/>
                  </a:moveTo>
                  <a:cubicBezTo>
                    <a:pt x="692835" y="90378"/>
                    <a:pt x="1243546" y="0"/>
                    <a:pt x="2451559" y="595804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10"/>
          <p:cNvGrpSpPr/>
          <p:nvPr/>
        </p:nvGrpSpPr>
        <p:grpSpPr>
          <a:xfrm>
            <a:off x="5203825" y="3070226"/>
            <a:ext cx="3462338" cy="1114425"/>
            <a:chOff x="3679635" y="4632809"/>
            <a:chExt cx="3462528" cy="1114057"/>
          </a:xfrm>
        </p:grpSpPr>
        <p:grpSp>
          <p:nvGrpSpPr>
            <p:cNvPr id="370" name="Google Shape;370;p10"/>
            <p:cNvGrpSpPr/>
            <p:nvPr/>
          </p:nvGrpSpPr>
          <p:grpSpPr>
            <a:xfrm>
              <a:off x="6022975" y="4659317"/>
              <a:ext cx="1119188" cy="1047751"/>
              <a:chOff x="3982" y="2375"/>
              <a:chExt cx="705" cy="660"/>
            </a:xfrm>
          </p:grpSpPr>
          <p:sp>
            <p:nvSpPr>
              <p:cNvPr id="371" name="Google Shape;371;p10"/>
              <p:cNvSpPr/>
              <p:nvPr/>
            </p:nvSpPr>
            <p:spPr>
              <a:xfrm>
                <a:off x="4388" y="2375"/>
                <a:ext cx="29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72" name="Google Shape;372;p10"/>
              <p:cNvSpPr/>
              <p:nvPr/>
            </p:nvSpPr>
            <p:spPr>
              <a:xfrm>
                <a:off x="3982" y="2409"/>
                <a:ext cx="356" cy="284"/>
              </a:xfrm>
              <a:prstGeom prst="rect">
                <a:avLst/>
              </a:prstGeom>
              <a:solidFill>
                <a:srgbClr val="FFFF99"/>
              </a:solidFill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25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73" name="Google Shape;373;p10"/>
              <p:cNvSpPr/>
              <p:nvPr/>
            </p:nvSpPr>
            <p:spPr>
              <a:xfrm>
                <a:off x="4395" y="2702"/>
                <a:ext cx="29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74" name="Google Shape;374;p10"/>
              <p:cNvSpPr/>
              <p:nvPr/>
            </p:nvSpPr>
            <p:spPr>
              <a:xfrm>
                <a:off x="3989" y="2751"/>
                <a:ext cx="356" cy="284"/>
              </a:xfrm>
              <a:prstGeom prst="rect">
                <a:avLst/>
              </a:prstGeom>
              <a:solidFill>
                <a:srgbClr val="FFFF99"/>
              </a:solidFill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ourier New"/>
                  <a:buNone/>
                </a:pPr>
                <a:r>
                  <a:rPr b="1" lang="ru-RU" sz="32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30</a:t>
                </a:r>
                <a:endParaRPr b="1" sz="3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75" name="Google Shape;375;p10"/>
            <p:cNvSpPr/>
            <p:nvPr/>
          </p:nvSpPr>
          <p:spPr>
            <a:xfrm>
              <a:off x="3679635" y="4632809"/>
              <a:ext cx="2280490" cy="622238"/>
            </a:xfrm>
            <a:custGeom>
              <a:rect b="b" l="l" r="r" t="t"/>
              <a:pathLst>
                <a:path extrusionOk="0" h="666948" w="2291671">
                  <a:moveTo>
                    <a:pt x="0" y="666948"/>
                  </a:moveTo>
                  <a:cubicBezTo>
                    <a:pt x="417345" y="144539"/>
                    <a:pt x="1348919" y="0"/>
                    <a:pt x="2291671" y="375035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3915607" y="4866048"/>
              <a:ext cx="2077569" cy="880818"/>
            </a:xfrm>
            <a:custGeom>
              <a:rect b="b" l="l" r="r" t="t"/>
              <a:pathLst>
                <a:path extrusionOk="0" h="508868" w="2451559">
                  <a:moveTo>
                    <a:pt x="0" y="508868"/>
                  </a:moveTo>
                  <a:cubicBezTo>
                    <a:pt x="388158" y="332651"/>
                    <a:pt x="1180072" y="0"/>
                    <a:pt x="2451559" y="359743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10"/>
          <p:cNvSpPr txBox="1"/>
          <p:nvPr/>
        </p:nvSpPr>
        <p:spPr>
          <a:xfrm>
            <a:off x="1979614" y="981076"/>
            <a:ext cx="3354387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cin &gt;&gt; a &gt;&gt; b;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Изменение значений переменной</a:t>
            </a:r>
            <a:endParaRPr/>
          </a:p>
        </p:txBody>
      </p:sp>
      <p:sp>
        <p:nvSpPr>
          <p:cNvPr id="383" name="Google Shape;383;p11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2038351" y="1169989"/>
            <a:ext cx="7104063" cy="25050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a, b;</a:t>
            </a:r>
            <a:endParaRPr/>
          </a:p>
          <a:p>
            <a:pPr indent="-176213" lvl="0" marL="176213" marR="0" rtl="0" algn="l">
              <a:spcBef>
                <a:spcPts val="42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b="1" lang="ru-RU" sz="2800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rgbClr val="0095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6213" lvl="0" marL="176213" marR="0" rtl="0" algn="l">
              <a:spcBef>
                <a:spcPts val="42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= a + </a:t>
            </a:r>
            <a:r>
              <a:rPr b="1" lang="ru-RU" sz="2800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rgbClr val="0095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6213" lvl="0" marL="176213" marR="0" rtl="0" algn="l">
              <a:spcBef>
                <a:spcPts val="42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(a + </a:t>
            </a:r>
            <a:r>
              <a:rPr b="1" lang="ru-RU" sz="2800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)*(b – </a:t>
            </a:r>
            <a:r>
              <a:rPr b="1" lang="ru-RU" sz="2800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6213" lvl="0" marL="176213" marR="0" rtl="0" algn="l">
              <a:spcBef>
                <a:spcPts val="42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= b + </a:t>
            </a:r>
            <a:r>
              <a:rPr b="1" lang="ru-RU" sz="2800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rgbClr val="0095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192839" y="1168400"/>
            <a:ext cx="879475" cy="812800"/>
          </a:xfrm>
          <a:prstGeom prst="wedgeRoundRectCallout">
            <a:avLst>
              <a:gd fmla="val -335921" name="adj1"/>
              <a:gd fmla="val 44924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408739" y="1033463"/>
            <a:ext cx="3968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6394451" y="1471613"/>
            <a:ext cx="442913" cy="34131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7134226" y="1462088"/>
            <a:ext cx="442913" cy="341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11"/>
          <p:cNvCxnSpPr/>
          <p:nvPr/>
        </p:nvCxnSpPr>
        <p:spPr>
          <a:xfrm rot="10800000">
            <a:off x="6754813" y="1639888"/>
            <a:ext cx="4445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11"/>
          <p:cNvSpPr/>
          <p:nvPr/>
        </p:nvSpPr>
        <p:spPr>
          <a:xfrm>
            <a:off x="6394451" y="1471613"/>
            <a:ext cx="442913" cy="34131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 flipH="1">
            <a:off x="6767513" y="2220913"/>
            <a:ext cx="893762" cy="831850"/>
          </a:xfrm>
          <a:prstGeom prst="wedgeRoundRectCallout">
            <a:avLst>
              <a:gd fmla="val 299200" name="adj1"/>
              <a:gd fmla="val -28438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7008814" y="2154238"/>
            <a:ext cx="3968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6985001" y="2570163"/>
            <a:ext cx="442913" cy="34131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7872413" y="2570163"/>
            <a:ext cx="442912" cy="341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ru-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5+2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95" name="Google Shape;395;p11"/>
          <p:cNvCxnSpPr/>
          <p:nvPr/>
        </p:nvCxnSpPr>
        <p:spPr>
          <a:xfrm rot="10800000">
            <a:off x="7345363" y="2738438"/>
            <a:ext cx="4445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11"/>
          <p:cNvSpPr/>
          <p:nvPr/>
        </p:nvSpPr>
        <p:spPr>
          <a:xfrm>
            <a:off x="6985001" y="2570163"/>
            <a:ext cx="442913" cy="34131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11"/>
          <p:cNvCxnSpPr/>
          <p:nvPr/>
        </p:nvCxnSpPr>
        <p:spPr>
          <a:xfrm>
            <a:off x="6829426" y="1822450"/>
            <a:ext cx="1025525" cy="776288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398" name="Google Shape;398;p11"/>
          <p:cNvSpPr/>
          <p:nvPr/>
        </p:nvSpPr>
        <p:spPr>
          <a:xfrm flipH="1">
            <a:off x="7256463" y="3359150"/>
            <a:ext cx="893762" cy="831850"/>
          </a:xfrm>
          <a:prstGeom prst="wedgeRoundRectCallout">
            <a:avLst>
              <a:gd fmla="val 194403" name="adj1"/>
              <a:gd fmla="val -79963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7516814" y="3279776"/>
            <a:ext cx="396875" cy="525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7493001" y="3695701"/>
            <a:ext cx="442913" cy="341313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8370888" y="3695701"/>
            <a:ext cx="442912" cy="34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ru-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7*4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2" name="Google Shape;402;p11"/>
          <p:cNvCxnSpPr/>
          <p:nvPr/>
        </p:nvCxnSpPr>
        <p:spPr>
          <a:xfrm rot="10800000">
            <a:off x="7853363" y="3863975"/>
            <a:ext cx="4445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3" name="Google Shape;403;p11"/>
          <p:cNvSpPr/>
          <p:nvPr/>
        </p:nvSpPr>
        <p:spPr>
          <a:xfrm>
            <a:off x="7493001" y="3695701"/>
            <a:ext cx="442913" cy="341313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 flipH="1">
            <a:off x="5497513" y="3895725"/>
            <a:ext cx="893762" cy="831850"/>
          </a:xfrm>
          <a:prstGeom prst="wedgeRoundRectCallout">
            <a:avLst>
              <a:gd fmla="val 183646" name="adj1"/>
              <a:gd fmla="val -97794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5738814" y="3829051"/>
            <a:ext cx="396875" cy="525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715001" y="4244976"/>
            <a:ext cx="442913" cy="341313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6602413" y="4244976"/>
            <a:ext cx="442912" cy="34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ru-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7+1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8" name="Google Shape;408;p11"/>
          <p:cNvCxnSpPr/>
          <p:nvPr/>
        </p:nvCxnSpPr>
        <p:spPr>
          <a:xfrm rot="10800000">
            <a:off x="6075363" y="4413250"/>
            <a:ext cx="4445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11"/>
          <p:cNvSpPr/>
          <p:nvPr/>
        </p:nvSpPr>
        <p:spPr>
          <a:xfrm>
            <a:off x="5715001" y="4244976"/>
            <a:ext cx="442913" cy="341313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Вывод данных</a:t>
            </a:r>
            <a:endParaRPr/>
          </a:p>
        </p:txBody>
      </p:sp>
      <p:sp>
        <p:nvSpPr>
          <p:cNvPr id="415" name="Google Shape;415;p12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5900738" y="889000"/>
            <a:ext cx="3973512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//вывод значения //переменной a</a:t>
            </a:r>
            <a:endParaRPr b="1" sz="28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6308726" y="1982789"/>
            <a:ext cx="3821113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//...и </a:t>
            </a:r>
            <a:r>
              <a:rPr b="1" lang="ru-RU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переход </a:t>
            </a:r>
            <a:endParaRPr b="1"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2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b="1" lang="ru-RU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на новую строку</a:t>
            </a:r>
            <a:endParaRPr b="1" sz="2800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1965326" y="1087439"/>
            <a:ext cx="3743325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1965325" y="1990726"/>
            <a:ext cx="4184650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 &lt;&lt; endl;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0" name="Google Shape;420;p12"/>
          <p:cNvSpPr txBox="1"/>
          <p:nvPr/>
        </p:nvSpPr>
        <p:spPr>
          <a:xfrm>
            <a:off x="6745289" y="3082925"/>
            <a:ext cx="3513137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28975" lvl="0" marL="3228975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//вывод текста</a:t>
            </a:r>
            <a:endParaRPr/>
          </a:p>
        </p:txBody>
      </p:sp>
      <p:sp>
        <p:nvSpPr>
          <p:cNvPr id="421" name="Google Shape;421;p12"/>
          <p:cNvSpPr txBox="1"/>
          <p:nvPr/>
        </p:nvSpPr>
        <p:spPr>
          <a:xfrm>
            <a:off x="2068513" y="4478339"/>
            <a:ext cx="84582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614488" lvl="0" marL="1614488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//вывод текста и значения переменной c</a:t>
            </a:r>
            <a:endParaRPr b="1" sz="28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1965325" y="3049589"/>
            <a:ext cx="4675188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"Привет!"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423" name="Google Shape;423;p12"/>
          <p:cNvSpPr txBox="1"/>
          <p:nvPr/>
        </p:nvSpPr>
        <p:spPr>
          <a:xfrm>
            <a:off x="1965326" y="3884614"/>
            <a:ext cx="5637213" cy="522287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"Ответ: 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c;</a:t>
            </a:r>
            <a:endParaRPr/>
          </a:p>
        </p:txBody>
      </p:sp>
      <p:sp>
        <p:nvSpPr>
          <p:cNvPr id="424" name="Google Shape;424;p12"/>
          <p:cNvSpPr txBox="1"/>
          <p:nvPr/>
        </p:nvSpPr>
        <p:spPr>
          <a:xfrm>
            <a:off x="1965326" y="5210175"/>
            <a:ext cx="8448675" cy="522288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614488" lvl="0" marL="16144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"+"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b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"="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c;</a:t>
            </a:r>
            <a:endParaRPr b="1" sz="2800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25" name="Google Shape;425;p12"/>
          <p:cNvGrpSpPr/>
          <p:nvPr/>
        </p:nvGrpSpPr>
        <p:grpSpPr>
          <a:xfrm>
            <a:off x="3836989" y="5605463"/>
            <a:ext cx="5121275" cy="863600"/>
            <a:chOff x="2312894" y="5604734"/>
            <a:chExt cx="5120640" cy="864875"/>
          </a:xfrm>
        </p:grpSpPr>
        <p:sp>
          <p:nvSpPr>
            <p:cNvPr id="426" name="Google Shape;426;p12"/>
            <p:cNvSpPr/>
            <p:nvPr/>
          </p:nvSpPr>
          <p:spPr>
            <a:xfrm>
              <a:off x="3883864" y="5823278"/>
              <a:ext cx="15712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ourier New"/>
                <a:buNone/>
              </a:pPr>
              <a:r>
                <a:rPr b="1" lang="ru-RU" sz="36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2+3=5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2"/>
            <p:cNvSpPr/>
            <p:nvPr/>
          </p:nvSpPr>
          <p:spPr>
            <a:xfrm>
              <a:off x="2312894" y="5604734"/>
              <a:ext cx="1699708" cy="423134"/>
            </a:xfrm>
            <a:custGeom>
              <a:rect b="b" l="l" r="r" t="t"/>
              <a:pathLst>
                <a:path extrusionOk="0" h="423134" w="1699708">
                  <a:moveTo>
                    <a:pt x="0" y="0"/>
                  </a:moveTo>
                  <a:cubicBezTo>
                    <a:pt x="155089" y="423134"/>
                    <a:pt x="1430319" y="114748"/>
                    <a:pt x="1699708" y="355002"/>
                  </a:cubicBez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2"/>
            <p:cNvSpPr/>
            <p:nvPr/>
          </p:nvSpPr>
          <p:spPr>
            <a:xfrm flipH="1">
              <a:off x="5217459" y="5615492"/>
              <a:ext cx="2216075" cy="365760"/>
            </a:xfrm>
            <a:custGeom>
              <a:rect b="b" l="l" r="r" t="t"/>
              <a:pathLst>
                <a:path extrusionOk="0" h="355002" w="1699708">
                  <a:moveTo>
                    <a:pt x="0" y="0"/>
                  </a:moveTo>
                  <a:cubicBezTo>
                    <a:pt x="198367" y="288439"/>
                    <a:pt x="1530563" y="96146"/>
                    <a:pt x="1699708" y="355002"/>
                  </a:cubicBez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2"/>
            <p:cNvSpPr/>
            <p:nvPr/>
          </p:nvSpPr>
          <p:spPr>
            <a:xfrm flipH="1">
              <a:off x="4658060" y="5658523"/>
              <a:ext cx="235324" cy="333486"/>
            </a:xfrm>
            <a:custGeom>
              <a:rect b="b" l="l" r="r" t="t"/>
              <a:pathLst>
                <a:path extrusionOk="0" h="355002" w="1956898">
                  <a:moveTo>
                    <a:pt x="257190" y="0"/>
                  </a:moveTo>
                  <a:cubicBezTo>
                    <a:pt x="0" y="142669"/>
                    <a:pt x="1390329" y="236668"/>
                    <a:pt x="1956898" y="355002"/>
                  </a:cubicBez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Сложение чисел: простое решение</a:t>
            </a:r>
            <a:endParaRPr/>
          </a:p>
        </p:txBody>
      </p:sp>
      <p:sp>
        <p:nvSpPr>
          <p:cNvPr id="435" name="Google Shape;435;p13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2019301" y="917575"/>
            <a:ext cx="6734175" cy="3970338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std;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a, b, c;   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cin &gt;&gt; a &gt;&gt; b;   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 = a + b;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c;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37" name="Google Shape;437;p13"/>
          <p:cNvGrpSpPr/>
          <p:nvPr/>
        </p:nvGrpSpPr>
        <p:grpSpPr>
          <a:xfrm>
            <a:off x="6616701" y="4011614"/>
            <a:ext cx="2513013" cy="663575"/>
            <a:chOff x="433" y="3902"/>
            <a:chExt cx="1583" cy="418"/>
          </a:xfrm>
        </p:grpSpPr>
        <p:sp>
          <p:nvSpPr>
            <p:cNvPr id="438" name="Google Shape;438;p13"/>
            <p:cNvSpPr txBox="1"/>
            <p:nvPr/>
          </p:nvSpPr>
          <p:spPr>
            <a:xfrm>
              <a:off x="727" y="3969"/>
              <a:ext cx="1289" cy="291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58775" lvl="0" marL="533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Что плохо?</a:t>
              </a: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lang="ru-RU" sz="4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?</a:t>
              </a:r>
              <a:endParaRPr/>
            </a:p>
          </p:txBody>
        </p:sp>
      </p:grpSp>
      <p:sp>
        <p:nvSpPr>
          <p:cNvPr id="440" name="Google Shape;440;p13"/>
          <p:cNvSpPr/>
          <p:nvPr/>
        </p:nvSpPr>
        <p:spPr>
          <a:xfrm>
            <a:off x="1992314" y="903289"/>
            <a:ext cx="4473575" cy="1806575"/>
          </a:xfrm>
          <a:prstGeom prst="roundRect">
            <a:avLst>
              <a:gd fmla="val 6426" name="adj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6997701" y="1339850"/>
            <a:ext cx="3363913" cy="1174750"/>
          </a:xfrm>
          <a:prstGeom prst="wedgeRoundRectCallout">
            <a:avLst>
              <a:gd fmla="val -66532" name="adj1"/>
              <a:gd fmla="val 13546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далее эта «шапка» в слайдах не повторяется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Сложение чисел: полное решение</a:t>
            </a:r>
            <a:endParaRPr/>
          </a:p>
        </p:txBody>
      </p:sp>
      <p:sp>
        <p:nvSpPr>
          <p:cNvPr id="447" name="Google Shape;447;p14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4"/>
          <p:cNvSpPr txBox="1"/>
          <p:nvPr/>
        </p:nvSpPr>
        <p:spPr>
          <a:xfrm>
            <a:off x="1993900" y="862013"/>
            <a:ext cx="8502650" cy="2246312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a, b, c;</a:t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"Введите два целых числа\n"</a:t>
            </a: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cin &gt;&gt; a &gt;&gt; b;   </a:t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 = a + b;</a:t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"+"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b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"="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c;</a:t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9" name="Google Shape;449;p14"/>
          <p:cNvSpPr txBox="1"/>
          <p:nvPr/>
        </p:nvSpPr>
        <p:spPr>
          <a:xfrm>
            <a:off x="2093913" y="3217864"/>
            <a:ext cx="8280400" cy="199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38488" lvl="0" marL="3138488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Протокол:</a:t>
            </a:r>
            <a:endParaRPr b="1" sz="2400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8488" lvl="0" marL="3138488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Введите два целых числа</a:t>
            </a:r>
            <a:endParaRPr/>
          </a:p>
          <a:p>
            <a:pPr indent="-3138488" lvl="0" marL="3138488" marR="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25 30</a:t>
            </a:r>
            <a:endParaRPr b="1"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38488" lvl="0" marL="3138488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25+30=55</a:t>
            </a:r>
            <a:endParaRPr b="1" sz="2800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6503988" y="3016251"/>
            <a:ext cx="2017712" cy="574675"/>
          </a:xfrm>
          <a:prstGeom prst="wedgeRoundRectCallout">
            <a:avLst>
              <a:gd fmla="val -51810" name="adj1"/>
              <a:gd fmla="val 84806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компьютер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4891088" y="4238625"/>
            <a:ext cx="2513012" cy="642938"/>
          </a:xfrm>
          <a:prstGeom prst="wedgeRoundRectCallout">
            <a:avLst>
              <a:gd fmla="val -91060" name="adj1"/>
              <a:gd fmla="val -23088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пользователь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8472488" y="555626"/>
            <a:ext cx="2017712" cy="574675"/>
          </a:xfrm>
          <a:prstGeom prst="wedgeRoundRectCallout">
            <a:avLst>
              <a:gd fmla="val -51810" name="adj1"/>
              <a:gd fmla="val 84806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подсказка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Снова про оператор вывода</a:t>
            </a:r>
            <a:endParaRPr/>
          </a:p>
        </p:txBody>
      </p:sp>
      <p:sp>
        <p:nvSpPr>
          <p:cNvPr id="458" name="Google Shape;458;p15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2144714" y="2498725"/>
            <a:ext cx="5335587" cy="18161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" lvl="0" marL="3492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&lt;iomanip&gt;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" lvl="0" marL="3492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123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setw(5) &lt;&lt; a;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1901825" y="2022476"/>
            <a:ext cx="3189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Форматный вывод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1901826" y="809626"/>
            <a:ext cx="40671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Вычисление выражений:</a:t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2144714" y="1316039"/>
            <a:ext cx="8231187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"+"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b &lt;&lt;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"="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a+b;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8934451" y="1316039"/>
            <a:ext cx="830263" cy="523875"/>
          </a:xfrm>
          <a:prstGeom prst="rect">
            <a:avLst/>
          </a:prstGeom>
          <a:solidFill>
            <a:srgbClr val="99FF6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a+b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15"/>
          <p:cNvGrpSpPr/>
          <p:nvPr/>
        </p:nvGrpSpPr>
        <p:grpSpPr>
          <a:xfrm>
            <a:off x="4964114" y="3748089"/>
            <a:ext cx="4397375" cy="1125537"/>
            <a:chOff x="1887538" y="2897188"/>
            <a:chExt cx="4397375" cy="1125537"/>
          </a:xfrm>
        </p:grpSpPr>
        <p:sp>
          <p:nvSpPr>
            <p:cNvPr id="465" name="Google Shape;465;p15"/>
            <p:cNvSpPr/>
            <p:nvPr/>
          </p:nvSpPr>
          <p:spPr>
            <a:xfrm>
              <a:off x="4791075" y="3562350"/>
              <a:ext cx="1477963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ts val="2400"/>
                <a:buFont typeface="Arial"/>
                <a:buNone/>
              </a:pPr>
              <a:r>
                <a:rPr b="1" lang="ru-RU" sz="2400">
                  <a:solidFill>
                    <a:srgbClr val="333399"/>
                  </a:solidFill>
                  <a:latin typeface="Arial"/>
                  <a:ea typeface="Arial"/>
                  <a:cs typeface="Arial"/>
                  <a:sym typeface="Arial"/>
                </a:rPr>
                <a:t>5 знаков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4865688" y="3244850"/>
              <a:ext cx="233362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5156200" y="3244850"/>
              <a:ext cx="233363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5359400" y="2897188"/>
              <a:ext cx="925513" cy="5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ourier New"/>
                <a:buNone/>
              </a:pPr>
              <a:r>
                <a:rPr b="1" lang="ru-RU" sz="3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123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 rot="-5400000">
              <a:off x="5422106" y="2832894"/>
              <a:ext cx="185738" cy="1352550"/>
            </a:xfrm>
            <a:prstGeom prst="leftBrace">
              <a:avLst>
                <a:gd fmla="val 46356" name="adj1"/>
                <a:gd fmla="val 5000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2156852" y="3392488"/>
              <a:ext cx="2690812" cy="430212"/>
            </a:xfrm>
            <a:custGeom>
              <a:rect b="b" l="l" r="r" t="t"/>
              <a:pathLst>
                <a:path extrusionOk="0" h="463235" w="1738265">
                  <a:moveTo>
                    <a:pt x="0" y="0"/>
                  </a:moveTo>
                  <a:cubicBezTo>
                    <a:pt x="190122" y="157681"/>
                    <a:pt x="380245" y="315363"/>
                    <a:pt x="669956" y="389299"/>
                  </a:cubicBezTo>
                  <a:cubicBezTo>
                    <a:pt x="959667" y="463235"/>
                    <a:pt x="1348966" y="453427"/>
                    <a:pt x="1738265" y="443619"/>
                  </a:cubicBezTo>
                </a:path>
              </a:pathLst>
            </a:custGeom>
            <a:noFill/>
            <a:ln cap="flat" cmpd="sng" w="28575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1887538" y="2973070"/>
              <a:ext cx="287506" cy="43088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0" lIns="36000" spcFirstLastPara="1" rIns="3600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ts val="2800"/>
                <a:buFont typeface="Courier New"/>
                <a:buNone/>
              </a:pPr>
              <a:r>
                <a:rPr b="1" lang="ru-RU" sz="2800">
                  <a:solidFill>
                    <a:srgbClr val="333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72" name="Google Shape;472;p15"/>
          <p:cNvSpPr/>
          <p:nvPr/>
        </p:nvSpPr>
        <p:spPr>
          <a:xfrm>
            <a:off x="6503988" y="2266950"/>
            <a:ext cx="3668712" cy="895350"/>
          </a:xfrm>
          <a:prstGeom prst="wedgeRoundRectCallout">
            <a:avLst>
              <a:gd fmla="val -60464" name="adj1"/>
              <a:gd fmla="val 3955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манипуляторы для управления потоками</a:t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2427288" y="4816475"/>
            <a:ext cx="3668712" cy="895350"/>
          </a:xfrm>
          <a:prstGeom prst="wedgeRoundRectCallout">
            <a:avLst>
              <a:gd fmla="val -2698" name="adj1"/>
              <a:gd fmla="val -125807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width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установить ширину поля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"/>
          <p:cNvSpPr txBox="1"/>
          <p:nvPr>
            <p:ph type="ctrTitle"/>
          </p:nvPr>
        </p:nvSpPr>
        <p:spPr>
          <a:xfrm>
            <a:off x="1824038" y="1760539"/>
            <a:ext cx="8653462" cy="1487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F2CF"/>
              </a:buClr>
              <a:buSzPct val="100000"/>
              <a:buFont typeface="Play"/>
              <a:buNone/>
            </a:pPr>
            <a:r>
              <a:rPr lang="ru-RU">
                <a:solidFill>
                  <a:srgbClr val="D8F2CF"/>
                </a:solidFill>
              </a:rPr>
              <a:t>Программирование на языке C++</a:t>
            </a:r>
            <a:endParaRPr>
              <a:solidFill>
                <a:srgbClr val="D8F2CF"/>
              </a:solidFill>
            </a:endParaRPr>
          </a:p>
        </p:txBody>
      </p:sp>
      <p:sp>
        <p:nvSpPr>
          <p:cNvPr id="479" name="Google Shape;479;p16"/>
          <p:cNvSpPr txBox="1"/>
          <p:nvPr>
            <p:ph idx="1" type="subTitle"/>
          </p:nvPr>
        </p:nvSpPr>
        <p:spPr>
          <a:xfrm>
            <a:off x="3409950" y="4359276"/>
            <a:ext cx="53721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57300" lvl="0" marL="12573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Вычисления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80" name="Google Shape;48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7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Арифметическое выражения</a:t>
            </a:r>
            <a:endParaRPr/>
          </a:p>
        </p:txBody>
      </p:sp>
      <p:sp>
        <p:nvSpPr>
          <p:cNvPr id="486" name="Google Shape;486;p17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1970088" y="1216026"/>
            <a:ext cx="6413500" cy="5238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(c + b*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/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 d;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1903414" y="1743075"/>
            <a:ext cx="4979987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Приоритет</a:t>
            </a: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старшинство</a:t>
            </a: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indent="-436563" lvl="0" marL="6254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AutoNum type="arabicParenR"/>
            </a:pP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скобки</a:t>
            </a:r>
            <a:endParaRPr/>
          </a:p>
          <a:p>
            <a:pPr indent="-436563" lvl="0" marL="6254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AutoNum type="arabicParenR"/>
            </a:pP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умножение и деление</a:t>
            </a:r>
            <a:endParaRPr/>
          </a:p>
          <a:p>
            <a:pPr indent="-436563" lvl="0" marL="6254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AutoNum type="arabicParenR"/>
            </a:pP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сложение и вычитание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114800" y="852488"/>
            <a:ext cx="3698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4505325" y="852488"/>
            <a:ext cx="3683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3451225" y="852488"/>
            <a:ext cx="3698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5170489" y="852488"/>
            <a:ext cx="3698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6284913" y="852488"/>
            <a:ext cx="3683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7080250" y="852488"/>
            <a:ext cx="3698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95" name="Google Shape;495;p17"/>
          <p:cNvGrpSpPr/>
          <p:nvPr/>
        </p:nvGrpSpPr>
        <p:grpSpPr>
          <a:xfrm>
            <a:off x="7126288" y="1892300"/>
            <a:ext cx="3300412" cy="1176338"/>
            <a:chOff x="5433848" y="1891862"/>
            <a:chExt cx="3300249" cy="1177159"/>
          </a:xfrm>
        </p:grpSpPr>
        <p:sp>
          <p:nvSpPr>
            <p:cNvPr id="496" name="Google Shape;496;p17"/>
            <p:cNvSpPr/>
            <p:nvPr/>
          </p:nvSpPr>
          <p:spPr>
            <a:xfrm>
              <a:off x="5433848" y="1891862"/>
              <a:ext cx="3300249" cy="1177159"/>
            </a:xfrm>
            <a:prstGeom prst="flowChartProcess">
              <a:avLst/>
            </a:prstGeom>
            <a:solidFill>
              <a:srgbClr val="E6E6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7" name="Google Shape;49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07417" y="2023459"/>
              <a:ext cx="3172772" cy="1024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8" name="Google Shape;498;p17"/>
          <p:cNvSpPr/>
          <p:nvPr/>
        </p:nvSpPr>
        <p:spPr>
          <a:xfrm>
            <a:off x="9858376" y="2228850"/>
            <a:ext cx="568325" cy="566738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8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Деление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504" name="Google Shape;504;p18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1916114" y="809626"/>
            <a:ext cx="8396287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Результат деления целого на целое – </a:t>
            </a: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целое</a:t>
            </a: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число (остаток отбрасывается):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8"/>
          <p:cNvSpPr txBox="1"/>
          <p:nvPr/>
        </p:nvSpPr>
        <p:spPr>
          <a:xfrm>
            <a:off x="2103438" y="1727200"/>
            <a:ext cx="6900862" cy="440055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b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x; 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= 0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/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= 0.75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.; 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= 0.75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a /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= 0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a /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.; 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= 0.75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a / b;  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= 0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 /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= 0.75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a / </a:t>
            </a: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(b); 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= 0.75</a:t>
            </a:r>
            <a:endParaRPr b="1" sz="28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932364" y="259238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4932364" y="303053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4932364" y="346868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4932364" y="390683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4932364" y="434498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4932364" y="478313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5980114" y="520223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5980114" y="5621338"/>
            <a:ext cx="2001837" cy="417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18"/>
          <p:cNvGrpSpPr/>
          <p:nvPr/>
        </p:nvGrpSpPr>
        <p:grpSpPr>
          <a:xfrm>
            <a:off x="6329364" y="1571626"/>
            <a:ext cx="3703637" cy="663575"/>
            <a:chOff x="433" y="3902"/>
            <a:chExt cx="2333" cy="418"/>
          </a:xfrm>
        </p:grpSpPr>
        <p:sp>
          <p:nvSpPr>
            <p:cNvPr id="516" name="Google Shape;516;p18"/>
            <p:cNvSpPr txBox="1"/>
            <p:nvPr/>
          </p:nvSpPr>
          <p:spPr>
            <a:xfrm>
              <a:off x="727" y="3969"/>
              <a:ext cx="2039" cy="291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58775" lvl="0" marL="533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Что запишется в </a:t>
              </a:r>
              <a:r>
                <a:rPr b="1" lang="ru-RU" sz="2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lang="ru-RU" sz="4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?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9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Остаток от деления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523" name="Google Shape;523;p19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1927226" y="819151"/>
            <a:ext cx="83931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8288" lvl="1" marL="274638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urier New"/>
              <a:buNone/>
            </a:pPr>
            <a:r>
              <a:rPr b="1" i="0" lang="ru-RU" sz="2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остаток от деления</a:t>
            </a:r>
            <a:endParaRPr/>
          </a:p>
        </p:txBody>
      </p:sp>
      <p:sp>
        <p:nvSpPr>
          <p:cNvPr id="525" name="Google Shape;525;p19"/>
          <p:cNvSpPr txBox="1"/>
          <p:nvPr/>
        </p:nvSpPr>
        <p:spPr>
          <a:xfrm>
            <a:off x="2033589" y="1281114"/>
            <a:ext cx="5411787" cy="2897187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588" lvl="1" marL="1746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a, b, d;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</a:t>
            </a:r>
            <a:r>
              <a:rPr b="1" i="0" lang="ru-RU" sz="2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85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700" u="none" cap="none" strike="noStrike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= d / </a:t>
            </a:r>
            <a:r>
              <a:rPr b="1" i="0" lang="ru-RU" sz="2700" u="none" cap="none" strike="noStrike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8</a:t>
            </a:r>
            <a:r>
              <a:rPr b="1" i="0" lang="ru-RU" sz="2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d % </a:t>
            </a:r>
            <a:r>
              <a:rPr b="1" i="0" lang="ru-RU" sz="2700" u="none" cap="none" strike="noStrike">
                <a:solidFill>
                  <a:srgbClr val="0095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5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a % b;   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5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b % a;   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3</a:t>
            </a:r>
            <a:endParaRPr/>
          </a:p>
        </p:txBody>
      </p:sp>
      <p:sp>
        <p:nvSpPr>
          <p:cNvPr id="526" name="Google Shape;526;p19"/>
          <p:cNvSpPr/>
          <p:nvPr/>
        </p:nvSpPr>
        <p:spPr>
          <a:xfrm>
            <a:off x="5240339" y="1711325"/>
            <a:ext cx="1438275" cy="4905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5240339" y="2160589"/>
            <a:ext cx="1438275" cy="4905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5240339" y="2635250"/>
            <a:ext cx="1438275" cy="4905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5240339" y="3206750"/>
            <a:ext cx="1438275" cy="4905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5240339" y="3651250"/>
            <a:ext cx="1438275" cy="4905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1927226" y="4171951"/>
            <a:ext cx="83931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8288" lvl="1" marL="274638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Для отрицательных чисел</a:t>
            </a: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532" name="Google Shape;532;p19"/>
          <p:cNvSpPr txBox="1"/>
          <p:nvPr/>
        </p:nvSpPr>
        <p:spPr>
          <a:xfrm>
            <a:off x="2033588" y="4760914"/>
            <a:ext cx="4545012" cy="14636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588" lvl="1" marL="1746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= </a:t>
            </a:r>
            <a:r>
              <a:rPr b="1" i="0" lang="ru-RU" sz="2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-7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   </a:t>
            </a:r>
            <a:endParaRPr b="1" i="0" sz="2700" u="none" cap="none" strike="noStrike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= a / </a:t>
            </a:r>
            <a:r>
              <a:rPr b="1" i="0" lang="ru-RU" sz="2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-3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a % </a:t>
            </a:r>
            <a:r>
              <a:rPr b="1" i="0" lang="ru-RU" sz="2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-1</a:t>
            </a: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4427539" y="5238750"/>
            <a:ext cx="1438275" cy="4905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4427539" y="5670550"/>
            <a:ext cx="1438275" cy="4905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5" name="Google Shape;535;p19"/>
          <p:cNvGrpSpPr/>
          <p:nvPr/>
        </p:nvGrpSpPr>
        <p:grpSpPr>
          <a:xfrm>
            <a:off x="6303964" y="4616451"/>
            <a:ext cx="3971925" cy="663575"/>
            <a:chOff x="433" y="3902"/>
            <a:chExt cx="2502" cy="418"/>
          </a:xfrm>
        </p:grpSpPr>
        <p:sp>
          <p:nvSpPr>
            <p:cNvPr id="536" name="Google Shape;536;p19"/>
            <p:cNvSpPr txBox="1"/>
            <p:nvPr/>
          </p:nvSpPr>
          <p:spPr>
            <a:xfrm>
              <a:off x="548" y="3969"/>
              <a:ext cx="2387" cy="291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58775" lvl="0" marL="533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В математике не так!</a:t>
              </a: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lang="ru-RU" sz="4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!</a:t>
              </a:r>
              <a:endParaRPr/>
            </a:p>
          </p:txBody>
        </p:sp>
      </p:grpSp>
      <p:sp>
        <p:nvSpPr>
          <p:cNvPr id="538" name="Google Shape;538;p19"/>
          <p:cNvSpPr/>
          <p:nvPr/>
        </p:nvSpPr>
        <p:spPr>
          <a:xfrm>
            <a:off x="6821489" y="5910264"/>
            <a:ext cx="3406775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-7 = (</a:t>
            </a:r>
            <a:r>
              <a:rPr b="1" lang="ru-RU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-4</a:t>
            </a: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)*2 + </a:t>
            </a:r>
            <a:r>
              <a:rPr b="1" lang="ru-RU" sz="2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9704388" y="5899150"/>
            <a:ext cx="552450" cy="55245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7546976" y="5300664"/>
            <a:ext cx="1863725" cy="587375"/>
          </a:xfrm>
          <a:prstGeom prst="wedgeRoundRectCallout">
            <a:avLst>
              <a:gd fmla="val 70766" name="adj1"/>
              <a:gd fmla="val 68489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остаток ≥ 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0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Сокращенная запись операций</a:t>
            </a:r>
            <a:endParaRPr/>
          </a:p>
        </p:txBody>
      </p:sp>
      <p:sp>
        <p:nvSpPr>
          <p:cNvPr id="546" name="Google Shape;546;p20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0"/>
          <p:cNvSpPr txBox="1"/>
          <p:nvPr/>
        </p:nvSpPr>
        <p:spPr>
          <a:xfrm>
            <a:off x="1982789" y="950913"/>
            <a:ext cx="5411787" cy="43307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588" lvl="1" marL="174625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a, b;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++;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  // a = a + 1;</a:t>
            </a:r>
            <a:r>
              <a:rPr b="1" i="0" lang="ru-RU" sz="2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700" u="none" cap="none" strike="noStrike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--;  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 = a – 1;</a:t>
            </a:r>
            <a:r>
              <a:rPr b="1" i="0" lang="ru-RU" sz="2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+= b;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 = a + b;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-= b;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 = a - b;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*= b;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 = a * b; 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/= b;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 = a / b;</a:t>
            </a:r>
            <a:endParaRPr/>
          </a:p>
          <a:p>
            <a:pPr indent="1588" lvl="1" marL="17462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i="0" lang="ru-RU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%= b;  </a:t>
            </a:r>
            <a:r>
              <a:rPr b="1" i="0" lang="ru-RU" sz="27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 = a % b;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1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Вещественные числа</a:t>
            </a:r>
            <a:endParaRPr/>
          </a:p>
        </p:txBody>
      </p:sp>
      <p:sp>
        <p:nvSpPr>
          <p:cNvPr id="553" name="Google Shape;553;p21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4" name="Google Shape;554;p21"/>
          <p:cNvGrpSpPr/>
          <p:nvPr/>
        </p:nvGrpSpPr>
        <p:grpSpPr>
          <a:xfrm>
            <a:off x="2544764" y="882651"/>
            <a:ext cx="7102475" cy="936625"/>
            <a:chOff x="433" y="3902"/>
            <a:chExt cx="4473" cy="590"/>
          </a:xfrm>
        </p:grpSpPr>
        <p:sp>
          <p:nvSpPr>
            <p:cNvPr id="555" name="Google Shape;555;p21"/>
            <p:cNvSpPr txBox="1"/>
            <p:nvPr/>
          </p:nvSpPr>
          <p:spPr>
            <a:xfrm>
              <a:off x="548" y="3969"/>
              <a:ext cx="4358" cy="523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68288" lvl="0" marL="44291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Целая и дробная части числа разделяются </a:t>
              </a:r>
              <a:r>
                <a:rPr b="1"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точкой</a:t>
              </a: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!</a:t>
              </a:r>
              <a:endParaRPr/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lang="ru-RU" sz="4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!</a:t>
              </a:r>
              <a:endParaRPr/>
            </a:p>
          </p:txBody>
        </p:sp>
      </p:grpSp>
      <p:sp>
        <p:nvSpPr>
          <p:cNvPr id="557" name="Google Shape;557;p21"/>
          <p:cNvSpPr/>
          <p:nvPr/>
        </p:nvSpPr>
        <p:spPr>
          <a:xfrm>
            <a:off x="1903413" y="1789114"/>
            <a:ext cx="34734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Форматы вывода</a:t>
            </a: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2270125" y="2347914"/>
            <a:ext cx="5461000" cy="187642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123.456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cout.width(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cout.precision(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x &lt;&lt; endl;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59" name="Google Shape;559;p21"/>
          <p:cNvGrpSpPr/>
          <p:nvPr/>
        </p:nvGrpSpPr>
        <p:grpSpPr>
          <a:xfrm>
            <a:off x="7318375" y="3679826"/>
            <a:ext cx="3060700" cy="523875"/>
            <a:chOff x="4595384" y="4269591"/>
            <a:chExt cx="3060000" cy="523220"/>
          </a:xfrm>
        </p:grpSpPr>
        <p:sp>
          <p:nvSpPr>
            <p:cNvPr id="560" name="Google Shape;560;p21"/>
            <p:cNvSpPr/>
            <p:nvPr/>
          </p:nvSpPr>
          <p:spPr>
            <a:xfrm>
              <a:off x="4595384" y="4269591"/>
              <a:ext cx="3060000" cy="523220"/>
            </a:xfrm>
            <a:prstGeom prst="rect">
              <a:avLst/>
            </a:prstGeom>
            <a:solidFill>
              <a:srgbClr val="99FF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urier New"/>
                <a:buNone/>
              </a:pPr>
              <a:r>
                <a:rPr b="1" lang="ru-RU" sz="2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123.46 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21"/>
            <p:cNvSpPr/>
            <p:nvPr/>
          </p:nvSpPr>
          <p:spPr>
            <a:xfrm>
              <a:off x="4911696" y="4605264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5125509" y="4605264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1"/>
            <p:cNvSpPr/>
            <p:nvPr/>
          </p:nvSpPr>
          <p:spPr>
            <a:xfrm>
              <a:off x="4697883" y="4605264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1"/>
            <p:cNvSpPr/>
            <p:nvPr/>
          </p:nvSpPr>
          <p:spPr>
            <a:xfrm>
              <a:off x="5335059" y="4605264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5" name="Google Shape;565;p21"/>
          <p:cNvSpPr/>
          <p:nvPr/>
        </p:nvSpPr>
        <p:spPr>
          <a:xfrm>
            <a:off x="2270125" y="4413250"/>
            <a:ext cx="5461000" cy="13843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cout.width(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cout.precision(2);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9388" lvl="0" marL="1793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x &lt;&lt; endl;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7396163" y="2706688"/>
            <a:ext cx="2982912" cy="576262"/>
          </a:xfrm>
          <a:prstGeom prst="wedgeRoundRectCallout">
            <a:avLst>
              <a:gd fmla="val -124" name="adj1"/>
              <a:gd fmla="val 89792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значащих цифр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7" name="Google Shape;567;p21"/>
          <p:cNvGrpSpPr/>
          <p:nvPr/>
        </p:nvGrpSpPr>
        <p:grpSpPr>
          <a:xfrm>
            <a:off x="7318375" y="5265739"/>
            <a:ext cx="3060700" cy="522287"/>
            <a:chOff x="4595384" y="5298291"/>
            <a:chExt cx="3060000" cy="523220"/>
          </a:xfrm>
        </p:grpSpPr>
        <p:sp>
          <p:nvSpPr>
            <p:cNvPr id="568" name="Google Shape;568;p21"/>
            <p:cNvSpPr/>
            <p:nvPr/>
          </p:nvSpPr>
          <p:spPr>
            <a:xfrm>
              <a:off x="4595384" y="5298291"/>
              <a:ext cx="3060000" cy="523220"/>
            </a:xfrm>
            <a:prstGeom prst="rect">
              <a:avLst/>
            </a:prstGeom>
            <a:solidFill>
              <a:srgbClr val="99FF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urier New"/>
                <a:buNone/>
              </a:pPr>
              <a:r>
                <a:rPr b="1" lang="ru-RU" sz="2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1.2e+002 </a:t>
              </a: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>
              <a:off x="4899791" y="5624439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1"/>
            <p:cNvSpPr/>
            <p:nvPr/>
          </p:nvSpPr>
          <p:spPr>
            <a:xfrm>
              <a:off x="5113604" y="5623542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4685978" y="5624439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21"/>
          <p:cNvSpPr/>
          <p:nvPr/>
        </p:nvSpPr>
        <p:spPr>
          <a:xfrm>
            <a:off x="8623300" y="5930901"/>
            <a:ext cx="1498600" cy="561975"/>
          </a:xfrm>
          <a:prstGeom prst="wedgeRoundRectCallout">
            <a:avLst>
              <a:gd fmla="val -43536" name="adj1"/>
              <a:gd fmla="val -89587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1,2 ⋅ 10</a:t>
            </a:r>
            <a:r>
              <a:rPr baseline="30000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1"/>
          <p:cNvSpPr/>
          <p:nvPr/>
        </p:nvSpPr>
        <p:spPr>
          <a:xfrm rot="-5400000">
            <a:off x="8404226" y="3230564"/>
            <a:ext cx="138113" cy="2103437"/>
          </a:xfrm>
          <a:prstGeom prst="leftBrace">
            <a:avLst>
              <a:gd fmla="val 4618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1"/>
          <p:cNvSpPr/>
          <p:nvPr/>
        </p:nvSpPr>
        <p:spPr>
          <a:xfrm flipH="1" rot="-5400000">
            <a:off x="8816181" y="2994819"/>
            <a:ext cx="160338" cy="1257300"/>
          </a:xfrm>
          <a:prstGeom prst="leftBrace">
            <a:avLst>
              <a:gd fmla="val 46432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7693026" y="4494214"/>
            <a:ext cx="2786063" cy="560387"/>
          </a:xfrm>
          <a:prstGeom prst="wedgeRoundRectCallout">
            <a:avLst>
              <a:gd fmla="val -21794" name="adj1"/>
              <a:gd fmla="val -75306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всего 10 знаков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2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Вещественные числа</a:t>
            </a:r>
            <a:endParaRPr/>
          </a:p>
        </p:txBody>
      </p:sp>
      <p:sp>
        <p:nvSpPr>
          <p:cNvPr id="581" name="Google Shape;581;p22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1903413" y="809626"/>
            <a:ext cx="62658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Формат с фиксированной точкой</a:t>
            </a: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2211388" y="1409700"/>
            <a:ext cx="8108950" cy="2547938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ru-RU" sz="2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-RU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&lt;iomanip&gt;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123.4567890123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</a:t>
            </a:r>
            <a:r>
              <a:rPr b="1" lang="ru-RU" sz="2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setprecision(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/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&lt;&lt; x;</a:t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6919914" y="4240214"/>
            <a:ext cx="1711325" cy="522287"/>
          </a:xfrm>
          <a:prstGeom prst="rect">
            <a:avLst/>
          </a:prstGeom>
          <a:solidFill>
            <a:srgbClr val="99FF6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123.456</a:t>
            </a:r>
            <a:endParaRPr/>
          </a:p>
        </p:txBody>
      </p:sp>
      <p:sp>
        <p:nvSpPr>
          <p:cNvPr id="585" name="Google Shape;585;p22"/>
          <p:cNvSpPr/>
          <p:nvPr/>
        </p:nvSpPr>
        <p:spPr>
          <a:xfrm>
            <a:off x="7712076" y="1920875"/>
            <a:ext cx="2716213" cy="560388"/>
          </a:xfrm>
          <a:prstGeom prst="wedgeRoundRectCallout">
            <a:avLst>
              <a:gd fmla="val -12051" name="adj1"/>
              <a:gd fmla="val 147919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дробной части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4103689" y="4211639"/>
            <a:ext cx="2625725" cy="560387"/>
          </a:xfrm>
          <a:prstGeom prst="wedgeRoundRectCallout">
            <a:avLst>
              <a:gd fmla="val -33918" name="adj1"/>
              <a:gd fmla="val -211610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фиксированный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3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Вещественные числа</a:t>
            </a:r>
            <a:endParaRPr/>
          </a:p>
        </p:txBody>
      </p:sp>
      <p:sp>
        <p:nvSpPr>
          <p:cNvPr id="592" name="Google Shape;592;p23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1903414" y="809626"/>
            <a:ext cx="72278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Экспоненциальный (научный) формат</a:t>
            </a:r>
            <a:r>
              <a:rPr lang="ru-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2211388" y="1401763"/>
            <a:ext cx="6005512" cy="2246312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30000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12345678.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x;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6727825" y="2260601"/>
            <a:ext cx="3651250" cy="523875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3.33333e-005</a:t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6727825" y="3109914"/>
            <a:ext cx="3651250" cy="523875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urier New"/>
              <a:buNone/>
            </a:pPr>
            <a:r>
              <a:rPr b="1" lang="ru-RU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1.23457e+007</a:t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7489825" y="1511301"/>
            <a:ext cx="2427288" cy="561975"/>
          </a:xfrm>
          <a:prstGeom prst="wedgeRoundRectCallout">
            <a:avLst>
              <a:gd fmla="val -39299" name="adj1"/>
              <a:gd fmla="val 97984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3,33333 ⋅ 10</a:t>
            </a:r>
            <a:r>
              <a:rPr baseline="30000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2211388" y="3925888"/>
            <a:ext cx="8108950" cy="20574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 = </a:t>
            </a:r>
            <a:r>
              <a:rPr b="1" lang="ru-RU" sz="2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123.456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cout.width(10);</a:t>
            </a:r>
            <a:endParaRPr/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cout.precision(2);</a:t>
            </a:r>
            <a:endParaRPr/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</a:t>
            </a:r>
            <a:r>
              <a:rPr b="1" lang="ru-RU" sz="2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scientific</a:t>
            </a:r>
            <a:r>
              <a:rPr b="1"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x;</a:t>
            </a: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>
            <a:off x="7481889" y="5443539"/>
            <a:ext cx="2562225" cy="523875"/>
            <a:chOff x="4595384" y="4764891"/>
            <a:chExt cx="2561976" cy="523220"/>
          </a:xfrm>
        </p:grpSpPr>
        <p:sp>
          <p:nvSpPr>
            <p:cNvPr id="600" name="Google Shape;600;p23"/>
            <p:cNvSpPr/>
            <p:nvPr/>
          </p:nvSpPr>
          <p:spPr>
            <a:xfrm>
              <a:off x="4595384" y="4764891"/>
              <a:ext cx="2561976" cy="523220"/>
            </a:xfrm>
            <a:prstGeom prst="rect">
              <a:avLst/>
            </a:prstGeom>
            <a:solidFill>
              <a:srgbClr val="99FF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urier New"/>
                <a:buNone/>
              </a:pPr>
              <a:r>
                <a:rPr b="1" lang="ru-RU" sz="2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1.23e+002</a:t>
              </a: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4688359" y="5086276"/>
              <a:ext cx="180975" cy="57150"/>
            </a:xfrm>
            <a:custGeom>
              <a:rect b="b" l="l" r="r" t="t"/>
              <a:pathLst>
                <a:path extrusionOk="0" h="57150" w="233363">
                  <a:moveTo>
                    <a:pt x="0" y="0"/>
                  </a:moveTo>
                  <a:lnTo>
                    <a:pt x="0" y="57150"/>
                  </a:lnTo>
                  <a:lnTo>
                    <a:pt x="233363" y="57150"/>
                  </a:lnTo>
                  <a:lnTo>
                    <a:pt x="233363" y="4762"/>
                  </a:ln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p23"/>
          <p:cNvSpPr/>
          <p:nvPr/>
        </p:nvSpPr>
        <p:spPr>
          <a:xfrm>
            <a:off x="7620000" y="3736975"/>
            <a:ext cx="2427288" cy="560388"/>
          </a:xfrm>
          <a:prstGeom prst="wedgeRoundRectCallout">
            <a:avLst>
              <a:gd fmla="val -45294" name="adj1"/>
              <a:gd fmla="val -91268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1,23457 ⋅ 10</a:t>
            </a:r>
            <a:r>
              <a:rPr baseline="30000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6081713" y="4429125"/>
            <a:ext cx="2716212" cy="560388"/>
          </a:xfrm>
          <a:prstGeom prst="wedgeRoundRectCallout">
            <a:avLst>
              <a:gd fmla="val -65714" name="adj1"/>
              <a:gd fmla="val 49369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дробной части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3498850" y="5895975"/>
            <a:ext cx="1682750" cy="560388"/>
          </a:xfrm>
          <a:prstGeom prst="wedgeRoundRectCallout">
            <a:avLst>
              <a:gd fmla="val 74028" name="adj1"/>
              <a:gd fmla="val -64593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научный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4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Стандартные функции</a:t>
            </a:r>
            <a:endParaRPr/>
          </a:p>
        </p:txBody>
      </p:sp>
      <p:sp>
        <p:nvSpPr>
          <p:cNvPr id="610" name="Google Shape;610;p24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1927226" y="1441450"/>
            <a:ext cx="7292975" cy="3786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abs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модуль целого числа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fabs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модуль вещественного числа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sqrt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квадратный корень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sin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синус угла, заданного </a:t>
            </a:r>
            <a:r>
              <a:rPr b="1" lang="ru-RU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в радианах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cos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косинус угла, заданного </a:t>
            </a:r>
            <a:r>
              <a:rPr b="1" lang="ru-RU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в радианах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exp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экспонента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</a:t>
            </a:r>
            <a:r>
              <a:rPr b="1" baseline="30000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х</a:t>
            </a:r>
            <a:endParaRPr b="1" baseline="30000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ln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 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натуральный логарифм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pow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(x,y) — </a:t>
            </a:r>
            <a:r>
              <a:rPr i="1"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возведение числа </a:t>
            </a:r>
            <a:r>
              <a:rPr i="1"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степень </a:t>
            </a:r>
            <a:r>
              <a:rPr i="1"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floor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округление «вниз»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ceil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(x)  —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округление «вверх»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1854201" y="895351"/>
            <a:ext cx="3133725" cy="4603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-RU" sz="24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&lt;сmath&gt;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7051676" y="495300"/>
            <a:ext cx="2828925" cy="1092200"/>
          </a:xfrm>
          <a:prstGeom prst="wedgeRoundRectCallout">
            <a:avLst>
              <a:gd fmla="val -111527" name="adj1"/>
              <a:gd fmla="val 11038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подключить математическую библиотеку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2349500" y="5218113"/>
            <a:ext cx="3657600" cy="120015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x;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floor(</a:t>
            </a:r>
            <a:r>
              <a:rPr b="1" lang="ru-RU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1.6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1" lang="ru-RU" sz="24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1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ceil(</a:t>
            </a:r>
            <a:r>
              <a:rPr b="1" lang="ru-RU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1.6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ru-RU" sz="24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2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6273800" y="5586413"/>
            <a:ext cx="3860800" cy="83185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floor(-</a:t>
            </a:r>
            <a:r>
              <a:rPr b="1" lang="ru-RU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1.6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1" lang="ru-RU" sz="24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//-2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ceil(-</a:t>
            </a:r>
            <a:r>
              <a:rPr b="1" lang="ru-RU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1.6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ru-RU" sz="24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//-1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h51d8a7515aa1b6f1_0_0"/>
          <p:cNvSpPr txBox="1"/>
          <p:nvPr>
            <p:ph type="title"/>
          </p:nvPr>
        </p:nvSpPr>
        <p:spPr>
          <a:xfrm>
            <a:off x="414291" y="301272"/>
            <a:ext cx="11168100" cy="47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1" name="Google Shape;621;h51d8a7515aa1b6f1_0_0" title="ChatGPT Image 21 сент. 2026 г., 21_33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8553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5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Случайные числа</a:t>
            </a:r>
            <a:endParaRPr/>
          </a:p>
        </p:txBody>
      </p:sp>
      <p:sp>
        <p:nvSpPr>
          <p:cNvPr id="627" name="Google Shape;627;p25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1925639" y="814389"/>
            <a:ext cx="4168775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Случайно…</a:t>
            </a:r>
            <a:endParaRPr/>
          </a:p>
          <a:p>
            <a:pPr indent="-180975" lvl="0" marL="361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встретить друга на улице</a:t>
            </a:r>
            <a:endParaRPr/>
          </a:p>
          <a:p>
            <a:pPr indent="-180975" lvl="0" marL="361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разбить тарелку</a:t>
            </a:r>
            <a:endParaRPr/>
          </a:p>
          <a:p>
            <a:pPr indent="-180975" lvl="0" marL="361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найти 10 рублей</a:t>
            </a:r>
            <a:endParaRPr/>
          </a:p>
          <a:p>
            <a:pPr indent="-180975" lvl="0" marL="361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выиграть в лотерею</a:t>
            </a:r>
            <a:endParaRPr/>
          </a:p>
        </p:txBody>
      </p:sp>
      <p:sp>
        <p:nvSpPr>
          <p:cNvPr id="629" name="Google Shape;629;p25"/>
          <p:cNvSpPr/>
          <p:nvPr/>
        </p:nvSpPr>
        <p:spPr>
          <a:xfrm>
            <a:off x="6450013" y="814389"/>
            <a:ext cx="3548062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Случайный выбор</a:t>
            </a:r>
            <a:r>
              <a:rPr lang="ru-RU" sz="24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80975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жеребьевка на </a:t>
            </a:r>
            <a:b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соревнованиях</a:t>
            </a:r>
            <a:endParaRPr/>
          </a:p>
          <a:p>
            <a:pPr indent="-180975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выигравшие номера </a:t>
            </a:r>
            <a:b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лотерее</a:t>
            </a:r>
            <a:endParaRPr/>
          </a:p>
        </p:txBody>
      </p:sp>
      <p:pic>
        <p:nvPicPr>
          <p:cNvPr id="630" name="Google Shape;6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6713" y="3371851"/>
            <a:ext cx="2170112" cy="107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6875" y="3416300"/>
            <a:ext cx="8953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039" y="4614864"/>
            <a:ext cx="2765425" cy="18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5"/>
          <p:cNvSpPr/>
          <p:nvPr/>
        </p:nvSpPr>
        <p:spPr>
          <a:xfrm>
            <a:off x="1993901" y="2817813"/>
            <a:ext cx="4448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Как получить случайность?</a:t>
            </a:r>
            <a:endParaRPr/>
          </a:p>
        </p:txBody>
      </p:sp>
      <p:pic>
        <p:nvPicPr>
          <p:cNvPr id="634" name="Google Shape;6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9989" y="4649788"/>
            <a:ext cx="1927225" cy="18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1063" y="4622801"/>
            <a:ext cx="1822450" cy="18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Случайные числа на компьютере</a:t>
            </a:r>
            <a:endParaRPr/>
          </a:p>
        </p:txBody>
      </p:sp>
      <p:sp>
        <p:nvSpPr>
          <p:cNvPr id="641" name="Google Shape;641;p26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2439989" y="5589589"/>
            <a:ext cx="2281237" cy="839787"/>
          </a:xfrm>
          <a:custGeom>
            <a:rect b="b" l="l" r="r" t="t"/>
            <a:pathLst>
              <a:path extrusionOk="0" h="603316" w="2281287">
                <a:moveTo>
                  <a:pt x="0" y="603316"/>
                </a:moveTo>
                <a:lnTo>
                  <a:pt x="0" y="306371"/>
                </a:lnTo>
                <a:lnTo>
                  <a:pt x="523188" y="0"/>
                </a:lnTo>
                <a:lnTo>
                  <a:pt x="1814660" y="0"/>
                </a:lnTo>
                <a:lnTo>
                  <a:pt x="2281287" y="306371"/>
                </a:lnTo>
                <a:lnTo>
                  <a:pt x="2281287" y="603315"/>
                </a:lnTo>
                <a:lnTo>
                  <a:pt x="0" y="603316"/>
                </a:lnTo>
                <a:close/>
              </a:path>
            </a:pathLst>
          </a:custGeom>
          <a:solidFill>
            <a:srgbClr val="FFFF66">
              <a:alpha val="5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1906588" y="806451"/>
            <a:ext cx="38862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Электронный генератор</a:t>
            </a:r>
            <a:endParaRPr/>
          </a:p>
        </p:txBody>
      </p:sp>
      <p:pic>
        <p:nvPicPr>
          <p:cNvPr id="644" name="Google Shape;6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551" y="1266825"/>
            <a:ext cx="1597025" cy="8969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5" name="Google Shape;645;p26"/>
          <p:cNvGrpSpPr/>
          <p:nvPr/>
        </p:nvGrpSpPr>
        <p:grpSpPr>
          <a:xfrm>
            <a:off x="4803775" y="1325564"/>
            <a:ext cx="395288" cy="395287"/>
            <a:chOff x="552" y="2523"/>
            <a:chExt cx="1728" cy="1728"/>
          </a:xfrm>
        </p:grpSpPr>
        <p:sp>
          <p:nvSpPr>
            <p:cNvPr id="646" name="Google Shape;646;p26"/>
            <p:cNvSpPr/>
            <p:nvPr/>
          </p:nvSpPr>
          <p:spPr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774" y="3183"/>
              <a:ext cx="1299" cy="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8" name="Google Shape;648;p26"/>
          <p:cNvSpPr/>
          <p:nvPr/>
        </p:nvSpPr>
        <p:spPr>
          <a:xfrm>
            <a:off x="5329238" y="1335089"/>
            <a:ext cx="49784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нужно специальное устройство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нельзя воспроизвести результаты</a:t>
            </a: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2430464" y="4743450"/>
            <a:ext cx="2281237" cy="839788"/>
          </a:xfrm>
          <a:custGeom>
            <a:rect b="b" l="l" r="r" t="t"/>
            <a:pathLst>
              <a:path extrusionOk="0" h="603316" w="2281287">
                <a:moveTo>
                  <a:pt x="0" y="603316"/>
                </a:moveTo>
                <a:lnTo>
                  <a:pt x="0" y="306371"/>
                </a:lnTo>
                <a:lnTo>
                  <a:pt x="523188" y="0"/>
                </a:lnTo>
                <a:lnTo>
                  <a:pt x="1814660" y="0"/>
                </a:lnTo>
                <a:lnTo>
                  <a:pt x="2281287" y="306371"/>
                </a:lnTo>
                <a:lnTo>
                  <a:pt x="2281287" y="603315"/>
                </a:lnTo>
                <a:lnTo>
                  <a:pt x="0" y="603316"/>
                </a:lnTo>
                <a:close/>
              </a:path>
            </a:pathLst>
          </a:custGeom>
          <a:solidFill>
            <a:srgbClr val="FFFF66">
              <a:alpha val="5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2413001" y="5133976"/>
            <a:ext cx="23971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318458191041</a:t>
            </a:r>
            <a:endParaRPr/>
          </a:p>
        </p:txBody>
      </p:sp>
      <p:sp>
        <p:nvSpPr>
          <p:cNvPr id="651" name="Google Shape;651;p26"/>
          <p:cNvSpPr/>
          <p:nvPr/>
        </p:nvSpPr>
        <p:spPr>
          <a:xfrm>
            <a:off x="2979738" y="4327525"/>
            <a:ext cx="1287462" cy="406400"/>
          </a:xfrm>
          <a:prstGeom prst="rect">
            <a:avLst/>
          </a:prstGeom>
          <a:solidFill>
            <a:srgbClr val="D1D1FF"/>
          </a:solidFill>
          <a:ln>
            <a:noFill/>
          </a:ln>
        </p:spPr>
        <p:txBody>
          <a:bodyPr anchorCtr="0" anchor="t" bIns="36000" lIns="0" spcFirstLastPara="1" rIns="360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564321</a:t>
            </a:r>
            <a:endParaRPr/>
          </a:p>
        </p:txBody>
      </p:sp>
      <p:sp>
        <p:nvSpPr>
          <p:cNvPr id="652" name="Google Shape;652;p26"/>
          <p:cNvSpPr/>
          <p:nvPr/>
        </p:nvSpPr>
        <p:spPr>
          <a:xfrm>
            <a:off x="2413001" y="5984876"/>
            <a:ext cx="23971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209938992481</a:t>
            </a:r>
            <a:endParaRPr/>
          </a:p>
        </p:txBody>
      </p:sp>
      <p:sp>
        <p:nvSpPr>
          <p:cNvPr id="653" name="Google Shape;653;p26"/>
          <p:cNvSpPr/>
          <p:nvPr/>
        </p:nvSpPr>
        <p:spPr>
          <a:xfrm>
            <a:off x="3033713" y="5129214"/>
            <a:ext cx="1143000" cy="452437"/>
          </a:xfrm>
          <a:prstGeom prst="rect">
            <a:avLst/>
          </a:prstGeom>
          <a:solidFill>
            <a:srgbClr val="D1D1FF"/>
          </a:solidFill>
          <a:ln>
            <a:noFill/>
          </a:ln>
        </p:spPr>
        <p:txBody>
          <a:bodyPr anchorCtr="0" anchor="t" bIns="36000" lIns="0" spcFirstLastPara="1" rIns="0" wrap="square" tIns="468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458191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3051176" y="6022975"/>
            <a:ext cx="1141413" cy="414338"/>
          </a:xfrm>
          <a:prstGeom prst="rect">
            <a:avLst/>
          </a:prstGeom>
          <a:solidFill>
            <a:srgbClr val="D1D1FF"/>
          </a:solidFill>
          <a:ln>
            <a:noFill/>
          </a:ln>
        </p:spPr>
        <p:txBody>
          <a:bodyPr anchorCtr="0" anchor="t" bIns="36000" lIns="0" spcFirstLastPara="1" rIns="360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938992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26"/>
          <p:cNvGrpSpPr/>
          <p:nvPr/>
        </p:nvGrpSpPr>
        <p:grpSpPr>
          <a:xfrm>
            <a:off x="5581650" y="4338639"/>
            <a:ext cx="395288" cy="395287"/>
            <a:chOff x="552" y="2523"/>
            <a:chExt cx="1728" cy="1728"/>
          </a:xfrm>
        </p:grpSpPr>
        <p:sp>
          <p:nvSpPr>
            <p:cNvPr id="656" name="Google Shape;656;p26"/>
            <p:cNvSpPr/>
            <p:nvPr/>
          </p:nvSpPr>
          <p:spPr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774" y="3183"/>
              <a:ext cx="1299" cy="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8" name="Google Shape;658;p26"/>
          <p:cNvSpPr/>
          <p:nvPr/>
        </p:nvSpPr>
        <p:spPr>
          <a:xfrm>
            <a:off x="6107114" y="4348163"/>
            <a:ext cx="39973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малый период </a:t>
            </a:r>
            <a:b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(последовательность повторяется через 10</a:t>
            </a:r>
            <a:r>
              <a:rPr baseline="30000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чисел)</a:t>
            </a:r>
            <a:endParaRPr/>
          </a:p>
        </p:txBody>
      </p:sp>
      <p:sp>
        <p:nvSpPr>
          <p:cNvPr id="659" name="Google Shape;659;p26"/>
          <p:cNvSpPr/>
          <p:nvPr/>
        </p:nvSpPr>
        <p:spPr>
          <a:xfrm>
            <a:off x="1906589" y="3622676"/>
            <a:ext cx="70135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Метод середины квадрата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(Дж. фон Нейман)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4589464" y="4283075"/>
            <a:ext cx="1677987" cy="522288"/>
          </a:xfrm>
          <a:prstGeom prst="wedgeRoundRectCallout">
            <a:avLst>
              <a:gd fmla="val -51041" name="adj1"/>
              <a:gd fmla="val 110089" name="adj2"/>
              <a:gd fmla="val 16667" name="adj3"/>
            </a:avLst>
          </a:prstGeom>
          <a:solidFill>
            <a:srgbClr val="99FF6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квадрате</a:t>
            </a:r>
            <a:endParaRPr/>
          </a:p>
        </p:txBody>
      </p:sp>
      <p:sp>
        <p:nvSpPr>
          <p:cNvPr id="661" name="Google Shape;661;p26"/>
          <p:cNvSpPr/>
          <p:nvPr/>
        </p:nvSpPr>
        <p:spPr>
          <a:xfrm>
            <a:off x="1906589" y="2379663"/>
            <a:ext cx="83280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Псевдослучайные числа </a:t>
            </a: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обладают свойствами случайных чисел, но каждое следующее число вычисляется по заданной формуле.</a:t>
            </a:r>
            <a:endParaRPr/>
          </a:p>
        </p:txBody>
      </p:sp>
      <p:sp>
        <p:nvSpPr>
          <p:cNvPr id="662" name="Google Shape;662;p26"/>
          <p:cNvSpPr/>
          <p:nvPr/>
        </p:nvSpPr>
        <p:spPr>
          <a:xfrm>
            <a:off x="1731964" y="4137025"/>
            <a:ext cx="1114425" cy="522288"/>
          </a:xfrm>
          <a:prstGeom prst="wedgeRoundRectCallout">
            <a:avLst>
              <a:gd fmla="val 63593" name="adj1"/>
              <a:gd fmla="val 23418" name="adj2"/>
              <a:gd fmla="val 16667" name="adj3"/>
            </a:avLst>
          </a:prstGeom>
          <a:solidFill>
            <a:srgbClr val="99FF6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зерно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7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Линейный конгруэнтный генератор</a:t>
            </a:r>
            <a:endParaRPr/>
          </a:p>
        </p:txBody>
      </p:sp>
      <p:sp>
        <p:nvSpPr>
          <p:cNvPr id="668" name="Google Shape;668;p27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1966913" y="950914"/>
            <a:ext cx="7802562" cy="433387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(a*X+b) </a:t>
            </a:r>
            <a:r>
              <a:rPr b="1" lang="ru-RU" sz="22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% 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 </a:t>
            </a:r>
            <a:r>
              <a:rPr b="1" lang="ru-RU" sz="22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| интервал от 0 до c-1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1966913" y="1546225"/>
            <a:ext cx="7802562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(X+</a:t>
            </a:r>
            <a:r>
              <a:rPr b="1" lang="ru-RU" sz="2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ru-RU" sz="2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-RU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ru-RU" sz="2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-RU" sz="22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| интервал от 0 до 9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1966913" y="2019300"/>
            <a:ext cx="124301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0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1931989" y="2774950"/>
            <a:ext cx="1271587" cy="560388"/>
          </a:xfrm>
          <a:prstGeom prst="wedgeRoundRectCallout">
            <a:avLst>
              <a:gd fmla="val 17321" name="adj1"/>
              <a:gd fmla="val -123170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зерно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2970214" y="2008189"/>
            <a:ext cx="966787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3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3729039" y="2008189"/>
            <a:ext cx="968375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6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4567239" y="2008189"/>
            <a:ext cx="966787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9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5305425" y="2008189"/>
            <a:ext cx="966788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2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6054725" y="2008189"/>
            <a:ext cx="966788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5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6813551" y="2008189"/>
            <a:ext cx="968375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8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6935789" y="2614614"/>
            <a:ext cx="966787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b="1" lang="ru-RU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2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7947025" y="2389189"/>
            <a:ext cx="2522538" cy="560387"/>
          </a:xfrm>
          <a:prstGeom prst="wedgeRoundRectCallout">
            <a:avLst>
              <a:gd fmla="val -62438" name="adj1"/>
              <a:gd fmla="val 28208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зацикливание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4211638" y="2625725"/>
            <a:ext cx="584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4589464" y="2625725"/>
            <a:ext cx="966787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1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5392739" y="2625725"/>
            <a:ext cx="968375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4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6164264" y="2625725"/>
            <a:ext cx="966787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7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85" name="Google Shape;685;p27"/>
          <p:cNvGrpSpPr/>
          <p:nvPr/>
        </p:nvGrpSpPr>
        <p:grpSpPr>
          <a:xfrm>
            <a:off x="2852739" y="3603626"/>
            <a:ext cx="7102475" cy="936625"/>
            <a:chOff x="433" y="3902"/>
            <a:chExt cx="4473" cy="590"/>
          </a:xfrm>
        </p:grpSpPr>
        <p:sp>
          <p:nvSpPr>
            <p:cNvPr id="686" name="Google Shape;686;p27"/>
            <p:cNvSpPr txBox="1"/>
            <p:nvPr/>
          </p:nvSpPr>
          <p:spPr>
            <a:xfrm>
              <a:off x="548" y="3969"/>
              <a:ext cx="4358" cy="523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68288" lvl="0" marL="44291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Важен правильный выбор параметров</a:t>
              </a:r>
              <a:b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ru-RU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i="1" lang="ru-RU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и </a:t>
              </a:r>
              <a:r>
                <a:rPr i="1" lang="ru-RU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с</a:t>
              </a: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!</a:t>
              </a: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lang="ru-RU" sz="4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!</a:t>
              </a:r>
              <a:endParaRPr/>
            </a:p>
          </p:txBody>
        </p:sp>
      </p:grpSp>
      <p:sp>
        <p:nvSpPr>
          <p:cNvPr id="688" name="Google Shape;688;p27"/>
          <p:cNvSpPr/>
          <p:nvPr/>
        </p:nvSpPr>
        <p:spPr>
          <a:xfrm>
            <a:off x="3251200" y="4565650"/>
            <a:ext cx="2954338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Компилятор GCC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 = 1103515245 	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b = 12345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 = 2</a:t>
            </a:r>
            <a:r>
              <a:rPr baseline="30000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8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Генератор случайных чисел</a:t>
            </a:r>
            <a:endParaRPr/>
          </a:p>
        </p:txBody>
      </p:sp>
      <p:sp>
        <p:nvSpPr>
          <p:cNvPr id="694" name="Google Shape;694;p28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8"/>
          <p:cNvSpPr txBox="1"/>
          <p:nvPr/>
        </p:nvSpPr>
        <p:spPr>
          <a:xfrm>
            <a:off x="1912938" y="1433514"/>
            <a:ext cx="8420100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600"/>
              <a:buFont typeface="Arial"/>
              <a:buNone/>
            </a:pPr>
            <a:r>
              <a:rPr b="1" lang="ru-RU" sz="26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Генератор на отрезке [0,RAND_MAX]: </a:t>
            </a:r>
            <a:endParaRPr b="1" sz="2600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2330451" y="1941513"/>
            <a:ext cx="7802563" cy="1109662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X, 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2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b="1" lang="ru-RU" sz="22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псевдослучайное число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2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 </a:t>
            </a:r>
            <a:r>
              <a:rPr b="1" lang="ru-RU" sz="22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это уже другое число!</a:t>
            </a:r>
            <a:endParaRPr b="1" sz="22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7" name="Google Shape;697;p28"/>
          <p:cNvSpPr/>
          <p:nvPr/>
        </p:nvSpPr>
        <p:spPr>
          <a:xfrm>
            <a:off x="5708651" y="757239"/>
            <a:ext cx="4208463" cy="549275"/>
          </a:xfrm>
          <a:prstGeom prst="wedgeRoundRectCallout">
            <a:avLst>
              <a:gd fmla="val -64110" name="adj1"/>
              <a:gd fmla="val 13956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англ. </a:t>
            </a:r>
            <a:r>
              <a:rPr i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– случайный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8"/>
          <p:cNvSpPr txBox="1"/>
          <p:nvPr/>
        </p:nvSpPr>
        <p:spPr>
          <a:xfrm>
            <a:off x="1912938" y="3098801"/>
            <a:ext cx="8420100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600"/>
              <a:buFont typeface="Arial"/>
              <a:buNone/>
            </a:pPr>
            <a:r>
              <a:rPr b="1" lang="ru-RU" sz="26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Целые числа на отрезке [a,b]: </a:t>
            </a:r>
            <a:endParaRPr b="1" sz="2600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2330451" y="3686176"/>
            <a:ext cx="7802563" cy="135731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X, Y;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1917701" y="895351"/>
            <a:ext cx="3317875" cy="4619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-RU" sz="24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&lt;random&gt;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01" name="Google Shape;701;p28"/>
          <p:cNvGrpSpPr/>
          <p:nvPr/>
        </p:nvGrpSpPr>
        <p:grpSpPr>
          <a:xfrm>
            <a:off x="7485064" y="3454401"/>
            <a:ext cx="2725737" cy="663575"/>
            <a:chOff x="433" y="3902"/>
            <a:chExt cx="1717" cy="418"/>
          </a:xfrm>
        </p:grpSpPr>
        <p:sp>
          <p:nvSpPr>
            <p:cNvPr id="702" name="Google Shape;702;p28"/>
            <p:cNvSpPr txBox="1"/>
            <p:nvPr/>
          </p:nvSpPr>
          <p:spPr>
            <a:xfrm>
              <a:off x="727" y="3969"/>
              <a:ext cx="1423" cy="291"/>
            </a:xfrm>
            <a:prstGeom prst="rect">
              <a:avLst/>
            </a:prstGeom>
            <a:solidFill>
              <a:srgbClr val="D1D1F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58775" lvl="0" marL="533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Почему так?</a:t>
              </a: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 Black"/>
                <a:buNone/>
              </a:pPr>
              <a:r>
                <a:rPr lang="ru-RU" sz="4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?</a:t>
              </a:r>
              <a:endParaRPr/>
            </a:p>
          </p:txBody>
        </p:sp>
      </p:grpSp>
      <p:sp>
        <p:nvSpPr>
          <p:cNvPr id="704" name="Google Shape;704;p28"/>
          <p:cNvSpPr/>
          <p:nvPr/>
        </p:nvSpPr>
        <p:spPr>
          <a:xfrm>
            <a:off x="3390900" y="4554538"/>
            <a:ext cx="3441700" cy="4619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ourier New"/>
              <a:buNone/>
            </a:pPr>
            <a:r>
              <a:rPr b="1" lang="ru-RU" sz="2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b="1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(b</a:t>
            </a:r>
            <a:r>
              <a:rPr b="1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ru-RU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6977064" y="4918075"/>
            <a:ext cx="1874837" cy="520700"/>
          </a:xfrm>
          <a:prstGeom prst="wedgeRoundRectCallout">
            <a:avLst>
              <a:gd fmla="val -69819" name="adj1"/>
              <a:gd fmla="val -50382" name="adj2"/>
              <a:gd fmla="val 16667" name="adj3"/>
            </a:avLst>
          </a:prstGeom>
          <a:solidFill>
            <a:srgbClr val="E6E6F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[0,b-a]</a:t>
            </a:r>
            <a:endParaRPr b="1" sz="2400">
              <a:solidFill>
                <a:srgbClr val="3333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Задачи</a:t>
            </a:r>
            <a:endParaRPr/>
          </a:p>
        </p:txBody>
      </p:sp>
      <p:sp>
        <p:nvSpPr>
          <p:cNvPr id="711" name="Google Shape;711;p29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9"/>
          <p:cNvSpPr txBox="1"/>
          <p:nvPr/>
        </p:nvSpPr>
        <p:spPr>
          <a:xfrm>
            <a:off x="1893888" y="809625"/>
            <a:ext cx="8420100" cy="280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0238" lvl="0" marL="630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«A»: 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Ввести с клавиатуры три целых числа, найти их сумму, произведение и среднее арифметическое.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7188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Введите три целых числа: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5 7 8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5+7+8=20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5*7*8=280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(5+7+8)/3=6.667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3" name="Google Shape;713;p29"/>
          <p:cNvSpPr txBox="1"/>
          <p:nvPr/>
        </p:nvSpPr>
        <p:spPr>
          <a:xfrm>
            <a:off x="1893888" y="3489326"/>
            <a:ext cx="84201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0238" lvl="0" marL="630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«B»: 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Ввести с клавиатуры координаты двух точек (A и B) на плоскости (вещественные числа). Вычислить длину отрезка AB.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7188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Введите координаты точки A: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5.5 3.5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Введите координаты точки B: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1.5 2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Длина отрезка AB = 4.272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0"/>
          <p:cNvSpPr txBox="1"/>
          <p:nvPr>
            <p:ph type="title"/>
          </p:nvPr>
        </p:nvSpPr>
        <p:spPr>
          <a:xfrm>
            <a:off x="1835150" y="301625"/>
            <a:ext cx="83756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Задачи</a:t>
            </a:r>
            <a:endParaRPr/>
          </a:p>
        </p:txBody>
      </p:sp>
      <p:sp>
        <p:nvSpPr>
          <p:cNvPr id="719" name="Google Shape;719;p30"/>
          <p:cNvSpPr txBox="1"/>
          <p:nvPr>
            <p:ph idx="12" type="sldNum"/>
          </p:nvPr>
        </p:nvSpPr>
        <p:spPr>
          <a:xfrm>
            <a:off x="9338733" y="-20638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 txBox="1"/>
          <p:nvPr/>
        </p:nvSpPr>
        <p:spPr>
          <a:xfrm>
            <a:off x="1893888" y="809625"/>
            <a:ext cx="8420100" cy="193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0238" lvl="0" marL="630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«C»: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Получить случайное трехзначное число и вывести через запятую его отдельные цифры.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7188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Получено число 123.</a:t>
            </a:r>
            <a:endParaRPr/>
          </a:p>
          <a:p>
            <a:pPr indent="0" lvl="0" marL="7143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Его цифры 1, 2, 3.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2026-09-20T12:29:33Z</dcterms:created>
  <dc:creator>YueLiang</dc:creator>
</cp:coreProperties>
</file>